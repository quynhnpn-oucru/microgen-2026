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2" r:id="rId1"/>
  </p:sldMasterIdLst>
  <p:notesMasterIdLst>
    <p:notesMasterId r:id="rId19"/>
  </p:notesMasterIdLst>
  <p:sldIdLst>
    <p:sldId id="719" r:id="rId2"/>
    <p:sldId id="741" r:id="rId3"/>
    <p:sldId id="740" r:id="rId4"/>
    <p:sldId id="616" r:id="rId5"/>
    <p:sldId id="702" r:id="rId6"/>
    <p:sldId id="721" r:id="rId7"/>
    <p:sldId id="722" r:id="rId8"/>
    <p:sldId id="734" r:id="rId9"/>
    <p:sldId id="736" r:id="rId10"/>
    <p:sldId id="737" r:id="rId11"/>
    <p:sldId id="735" r:id="rId12"/>
    <p:sldId id="732" r:id="rId13"/>
    <p:sldId id="731" r:id="rId14"/>
    <p:sldId id="733" r:id="rId15"/>
    <p:sldId id="632" r:id="rId16"/>
    <p:sldId id="274" r:id="rId17"/>
    <p:sldId id="275" r:id="rId18"/>
  </p:sldIdLst>
  <p:sldSz cx="12192000" cy="6858000"/>
  <p:notesSz cx="9144000" cy="6858000"/>
  <p:embeddedFontLst>
    <p:embeddedFont>
      <p:font typeface="#9Slide02 Noi dung dai" panose="02000000000000000000" pitchFamily="2" charset="0"/>
      <p:regular r:id=""/>
    </p:embeddedFont>
    <p:embeddedFont>
      <p:font typeface="Roboto" panose="02000000000000000000" pitchFamily="2" charset="0"/>
      <p:regular r:id=""/>
      <p:bold r:id=""/>
      <p:italic r:id=""/>
      <p:boldItalic r:id="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0250122" id="{1917B63B-01C9-4CEE-9834-DC8DFA8AB62D}">
          <p14:sldIdLst>
            <p14:sldId id="719"/>
            <p14:sldId id="741"/>
            <p14:sldId id="740"/>
            <p14:sldId id="616"/>
            <p14:sldId id="702"/>
            <p14:sldId id="721"/>
            <p14:sldId id="722"/>
            <p14:sldId id="734"/>
            <p14:sldId id="736"/>
            <p14:sldId id="737"/>
            <p14:sldId id="735"/>
            <p14:sldId id="732"/>
            <p14:sldId id="731"/>
            <p14:sldId id="733"/>
            <p14:sldId id="632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5" pos="192" userDrawn="1">
          <p15:clr>
            <a:srgbClr val="A4A3A4"/>
          </p15:clr>
        </p15:guide>
        <p15:guide id="6" orient="horz" pos="4128" userDrawn="1">
          <p15:clr>
            <a:srgbClr val="A4A3A4"/>
          </p15:clr>
        </p15:guide>
        <p15:guide id="7" pos="7488" userDrawn="1">
          <p15:clr>
            <a:srgbClr val="A4A3A4"/>
          </p15:clr>
        </p15:guide>
        <p15:guide id="8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E1E7"/>
    <a:srgbClr val="000000"/>
    <a:srgbClr val="FEDA6C"/>
    <a:srgbClr val="6AD199"/>
    <a:srgbClr val="C4DAE2"/>
    <a:srgbClr val="B0CED8"/>
    <a:srgbClr val="081D3E"/>
    <a:srgbClr val="FFFFFF"/>
    <a:srgbClr val="9DC2CF"/>
    <a:srgbClr val="5B99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926"/>
    <p:restoredTop sz="94660"/>
  </p:normalViewPr>
  <p:slideViewPr>
    <p:cSldViewPr snapToGrid="0" showGuides="1">
      <p:cViewPr varScale="1">
        <p:scale>
          <a:sx n="66" d="100"/>
          <a:sy n="66" d="100"/>
        </p:scale>
        <p:origin x="136" y="944"/>
      </p:cViewPr>
      <p:guideLst>
        <p:guide pos="3840"/>
        <p:guide pos="192"/>
        <p:guide orient="horz" pos="4128"/>
        <p:guide pos="7488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ptos Display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ptos Display" panose="020B0004020202020204" pitchFamily="34" charset="0"/>
              </a:defRPr>
            </a:lvl1pPr>
          </a:lstStyle>
          <a:p>
            <a:fld id="{5C5E02B0-1D57-4E85-B38E-47C47FF47182}" type="datetimeFigureOut">
              <a:rPr lang="en-US" smtClean="0"/>
              <a:pPr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ptos Display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ptos Display" panose="020B0004020202020204" pitchFamily="34" charset="0"/>
              </a:defRPr>
            </a:lvl1pPr>
          </a:lstStyle>
          <a:p>
            <a:fld id="{CDFB85DF-475A-490F-85B4-9EB2BD6B92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85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ptos Display" panose="020B00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B85DF-475A-490F-85B4-9EB2BD6B922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09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0D3F4-DE9C-A841-D0BA-DE76823BF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8EB22-F85F-37FC-CEFE-891142AC5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D8744-AA58-7D77-6B97-921026BFA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BC4C6-5D36-ED51-76CB-E3FD30722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25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B517C-7F90-69D6-CACE-97203731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2197E-DB4D-E197-5CCA-B2EFFD9DE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8B5C0-C11D-9154-B718-62D770657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D9EF6-B093-162E-CF62-625449014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006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F114E-5273-BF6D-AADA-26CAADB9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F3CC8-5870-AB2D-713F-A35433B81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F5AEC-BECD-A4B8-0DAC-243692537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769B0-659A-8BDD-E09A-F8E725416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3892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3F31-EA09-393A-047E-48FF7F85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641D4-C4CF-B028-A030-574027DF9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09DC5-8C6E-F984-BC1F-8F3E8AAE3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36BFE-0ACA-904C-86FD-C018A28FC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2616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5FBF1-AC9A-B81E-0B1F-A206CB9E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75FE6-4597-338F-9B24-76088FF37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5A689-2222-BF93-C388-1E99E864C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9CF04-F232-9EAE-4DCE-69D9E3950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5536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7280A-E333-FAC7-1A73-F34DA57CA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52419-DDE2-943D-C632-A7FCB0237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CC274-DCB5-6448-CBF9-9EAC56C67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58224-3A90-680E-BD60-B15855DA8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270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4B644-F030-DCF5-89BF-591E421D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FCB45-A0D3-6155-8973-BE4AF06C2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D1437-03CD-B04B-358A-F8B7EC320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616CC-8ED1-516E-E667-C93C15B82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50FD33-D6B2-45E3-81FE-8815DDB56D8D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710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B85DF-475A-490F-85B4-9EB2BD6B922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214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1B90-27C9-CDA6-4BBE-486E26F9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C1900-C6DB-E7CB-BDA5-228408AC9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7DFCD-14EA-F60D-F40F-D4400FE74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 dirty="0"/>
              <a:t>Abricate (optional)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2F36C-E244-A975-2701-4F137A3FF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ED64C-E682-AE43-9B70-4894C4F2C70B}" type="slidenum">
              <a:rPr lang="en-VN" smtClean="0"/>
              <a:t>16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16090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7D07B-9C10-F422-6A7C-A55851553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3542C-D44B-1CBB-85CD-D32D3AF3F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61522-40B4-F174-582D-AB628AA56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 dirty="0"/>
              <a:t>Abricate (optional)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44FB0-1895-E8D9-488E-53AFB0268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ED64C-E682-AE43-9B70-4894C4F2C70B}" type="slidenum">
              <a:rPr lang="en-VN" smtClean="0"/>
              <a:t>17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67265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330950"/>
            <a:ext cx="4114800" cy="365125"/>
          </a:xfrm>
        </p:spPr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356350"/>
            <a:ext cx="2743200" cy="365125"/>
          </a:xfrm>
        </p:spPr>
        <p:txBody>
          <a:bodyPr/>
          <a:lstStyle>
            <a:lvl1pPr>
              <a:defRPr>
                <a:solidFill>
                  <a:srgbClr val="06193E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10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6193E"/>
                </a:solidFill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3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6193E"/>
                </a:solidFill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47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3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17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330950"/>
            <a:ext cx="4114800" cy="365125"/>
          </a:xfrm>
        </p:spPr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356350"/>
            <a:ext cx="2743200" cy="365125"/>
          </a:xfrm>
        </p:spPr>
        <p:txBody>
          <a:bodyPr/>
          <a:lstStyle>
            <a:lvl1pPr>
              <a:defRPr>
                <a:solidFill>
                  <a:srgbClr val="06193E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93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6193E"/>
                </a:solidFill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6193E"/>
                </a:solidFill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6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47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3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D2E1-F5A5-30A4-32DF-8C314DD9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AA9FDC0F-CF8D-50C9-6132-75AB22F41B40}"/>
              </a:ext>
            </a:extLst>
          </p:cNvPr>
          <p:cNvSpPr>
            <a:spLocks noGrp="1"/>
          </p:cNvSpPr>
          <p:nvPr>
            <p:ph type="clipArt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AE657-9AC8-E164-670D-1F5EDE4FE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AC02-DE05-236F-5072-C689C5B0FD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Module 0: Pre-workshop – Essential setup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AB34C-5951-C3FB-F1F3-788C4121D8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28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9Slide.vn - 2019">
            <a:extLst>
              <a:ext uri="{FF2B5EF4-FFF2-40B4-BE49-F238E27FC236}">
                <a16:creationId xmlns:a16="http://schemas.microsoft.com/office/drawing/2014/main" id="{B27863D1-40DC-9985-97B2-2FDDA8331867}"/>
              </a:ext>
            </a:extLst>
          </p:cNvPr>
          <p:cNvSpPr txBox="1"/>
          <p:nvPr userDrawn="1"/>
        </p:nvSpPr>
        <p:spPr>
          <a:xfrm>
            <a:off x="0" y="-1512332"/>
            <a:ext cx="12192000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B0E7E-7BDA-4369-B06E-95E5B313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DE87-7D95-4722-9EE5-248D158C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DB14-4F91-4B5C-8ACA-1B5E7E69B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4212" y="6356350"/>
            <a:ext cx="75170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06193E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Module 0: Pre-workshop – Essential setup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18F-80C4-4861-A4D3-A50D382E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7845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6193E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7F55963-6440-4C45-BA09-4E6A99D1BBE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CE00B-B040-4546-AF5D-EEF96AA126B0}"/>
              </a:ext>
            </a:extLst>
          </p:cNvPr>
          <p:cNvGrpSpPr>
            <a:grpSpLocks noGrp="1" noSelect="1" noRot="1" noMove="1" noResize="1"/>
          </p:cNvGrpSpPr>
          <p:nvPr userDrawn="1">
            <p:custDataLst>
              <p:tags r:id="rId13"/>
            </p:custDataLst>
          </p:nvPr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423BDB-6737-4700-9989-01683A4147DA}"/>
                </a:ext>
              </a:extLst>
            </p:cNvPr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9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E50D3-44ED-477F-84FB-1E24BC65ED8F}"/>
                </a:ext>
              </a:extLst>
            </p:cNvPr>
            <p:cNvSpPr txBox="1"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270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465F73-4B27-4C0F-9B02-510C8E083EB6}"/>
                </a:ext>
              </a:extLst>
            </p:cNvPr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Roboto" panose="02000000000000000000" pitchFamily="2" charset="0"/>
              </a:endParaRPr>
            </a:p>
          </p:txBody>
        </p:sp>
      </p:grpSp>
      <p:sp>
        <p:nvSpPr>
          <p:cNvPr id="50" name="9Slide.vn">
            <a:extLst>
              <a:ext uri="{FF2B5EF4-FFF2-40B4-BE49-F238E27FC236}">
                <a16:creationId xmlns:a16="http://schemas.microsoft.com/office/drawing/2014/main" id="{0F30810D-0BA7-48B5-9100-E09C5C296021}"/>
              </a:ext>
            </a:extLst>
          </p:cNvPr>
          <p:cNvSpPr>
            <a:spLocks noSelect="1"/>
          </p:cNvSpPr>
          <p:nvPr userDrawn="1">
            <p:custDataLst>
              <p:tags r:id="rId14"/>
            </p:custDataLst>
          </p:nvPr>
        </p:nvSpPr>
        <p:spPr>
          <a:xfrm>
            <a:off x="6091428" y="-8915400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</a:endParaRPr>
          </a:p>
        </p:txBody>
      </p:sp>
      <p:sp>
        <p:nvSpPr>
          <p:cNvPr id="51" name="9Slide.vn">
            <a:extLst>
              <a:ext uri="{FF2B5EF4-FFF2-40B4-BE49-F238E27FC236}">
                <a16:creationId xmlns:a16="http://schemas.microsoft.com/office/drawing/2014/main" id="{5703AF2A-1D5F-4BD2-8904-9B6C863CB9B3}"/>
              </a:ext>
            </a:extLst>
          </p:cNvPr>
          <p:cNvSpPr>
            <a:spLocks noSelect="1"/>
          </p:cNvSpPr>
          <p:nvPr userDrawn="1">
            <p:custDataLst>
              <p:tags r:id="rId15"/>
            </p:custDataLst>
          </p:nvPr>
        </p:nvSpPr>
        <p:spPr>
          <a:xfrm>
            <a:off x="6091428" y="15764256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83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nbt.342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micb.2022.852596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515/ntrev-2022-0036?urlappend=%3Futm_source%3Dresearchgate.net%26utm_medium%3Darticl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1F4DA8FB-71F7-74F6-127F-93D5930A8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53" y="2242133"/>
            <a:ext cx="2361544" cy="5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Roboto Black" panose="02000000000000000000" pitchFamily="2" charset="0"/>
                <a:cs typeface="+mn-cs"/>
              </a:rPr>
              <a:t>Module 2.2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AC1D29E-B102-37D9-36C6-228D0FC7C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28" y="1142854"/>
            <a:ext cx="11017119" cy="4247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Circular Spotify" panose="020B0604020101020102" pitchFamily="34" charset="-93"/>
              </a:rPr>
              <a:t>Beginner Course on Microbial Genomics: Applications &amp; Research (2026)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B157FF1-5F56-4176-3813-B65CBFE06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155" y="5195215"/>
            <a:ext cx="3320140" cy="3416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pc="80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  <a:cs typeface="Circular Spotify" panose="020B0604020101020102" pitchFamily="34" charset="-93"/>
              </a:rPr>
              <a:t>PhD Student: Quynh Nguyen</a:t>
            </a:r>
            <a:endParaRPr kumimoji="0" lang="en-US" altLang="en-US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Circular Spotify" panose="020B0604020101020102" pitchFamily="34" charset="-93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59D7EA7-5C8B-9C4E-14C7-98FAB03FE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28" y="5167515"/>
            <a:ext cx="1234953" cy="3693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Circular Spotify" panose="020B0604020101020102" pitchFamily="34" charset="-93"/>
              </a:rPr>
              <a:t>Lecturer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E8EEF1-0915-3A18-67CF-CA45C44AD39C}"/>
              </a:ext>
            </a:extLst>
          </p:cNvPr>
          <p:cNvSpPr txBox="1"/>
          <p:nvPr/>
        </p:nvSpPr>
        <p:spPr>
          <a:xfrm>
            <a:off x="411321" y="3004098"/>
            <a:ext cx="11284617" cy="1156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spc="80">
                <a:solidFill>
                  <a:srgbClr val="F6F6F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+mj-cs"/>
              </a:defRPr>
            </a:lvl1pPr>
          </a:lstStyle>
          <a:p>
            <a:pPr lvl="0" algn="ctr">
              <a:lnSpc>
                <a:spcPct val="91000"/>
              </a:lnSpc>
              <a:defRPr/>
            </a:pPr>
            <a:r>
              <a:rPr lang="en-VN" sz="3600" dirty="0">
                <a:solidFill>
                  <a:schemeClr val="tx1"/>
                </a:solidFill>
              </a:rPr>
              <a:t>Long-Read Sequencing</a:t>
            </a:r>
            <a:br>
              <a:rPr lang="en-VN" sz="3600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Oxford Nanopore Technology</a:t>
            </a:r>
            <a:endParaRPr kumimoji="0" lang="en-US" sz="3800" b="1" i="1" u="none" strike="noStrike" kern="1200" cap="none" spc="8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AB19FC-3E67-335F-B70E-0AD1FB62D3EC}"/>
              </a:ext>
            </a:extLst>
          </p:cNvPr>
          <p:cNvCxnSpPr>
            <a:cxnSpLocks/>
          </p:cNvCxnSpPr>
          <p:nvPr/>
        </p:nvCxnSpPr>
        <p:spPr>
          <a:xfrm>
            <a:off x="637132" y="2750994"/>
            <a:ext cx="2080189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552F745-23B2-D488-3024-BDA94F4FFE0E}"/>
              </a:ext>
            </a:extLst>
          </p:cNvPr>
          <p:cNvGrpSpPr/>
          <p:nvPr/>
        </p:nvGrpSpPr>
        <p:grpSpPr>
          <a:xfrm>
            <a:off x="413022" y="309062"/>
            <a:ext cx="11291298" cy="625379"/>
            <a:chOff x="412547" y="108876"/>
            <a:chExt cx="11291298" cy="62537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283F074-BEFC-11FB-BDD9-8E1FCAEE4744}"/>
                </a:ext>
              </a:extLst>
            </p:cNvPr>
            <p:cNvGrpSpPr/>
            <p:nvPr/>
          </p:nvGrpSpPr>
          <p:grpSpPr>
            <a:xfrm>
              <a:off x="10629037" y="166970"/>
              <a:ext cx="1074808" cy="447185"/>
              <a:chOff x="8697416" y="246372"/>
              <a:chExt cx="1008112" cy="419436"/>
            </a:xfrm>
          </p:grpSpPr>
          <p:pic>
            <p:nvPicPr>
              <p:cNvPr id="19" name="Picture 18" descr="A blue square with white text&#10;&#10;Description automatically generated">
                <a:extLst>
                  <a:ext uri="{FF2B5EF4-FFF2-40B4-BE49-F238E27FC236}">
                    <a16:creationId xmlns:a16="http://schemas.microsoft.com/office/drawing/2014/main" id="{1CEA2AFB-99F5-2008-71F1-27D2E52397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86092" y="246372"/>
                <a:ext cx="419436" cy="419436"/>
              </a:xfrm>
              <a:prstGeom prst="rect">
                <a:avLst/>
              </a:prstGeom>
            </p:spPr>
          </p:pic>
          <p:pic>
            <p:nvPicPr>
              <p:cNvPr id="20" name="Picture 19" descr="A white letter on a black background&#10;&#10;AI-generated content may be incorrect.">
                <a:extLst>
                  <a:ext uri="{FF2B5EF4-FFF2-40B4-BE49-F238E27FC236}">
                    <a16:creationId xmlns:a16="http://schemas.microsoft.com/office/drawing/2014/main" id="{7F5E5329-C116-7873-5C0F-7433111E3F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8697416" y="246372"/>
                <a:ext cx="419436" cy="419436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8A5A400-29BE-E14B-3C51-45EAD94C75B9}"/>
                </a:ext>
              </a:extLst>
            </p:cNvPr>
            <p:cNvGrpSpPr/>
            <p:nvPr/>
          </p:nvGrpSpPr>
          <p:grpSpPr>
            <a:xfrm>
              <a:off x="412547" y="108876"/>
              <a:ext cx="1667575" cy="625379"/>
              <a:chOff x="3224998" y="4021341"/>
              <a:chExt cx="2128140" cy="798101"/>
            </a:xfrm>
          </p:grpSpPr>
          <p:pic>
            <p:nvPicPr>
              <p:cNvPr id="24" name="Picture 23" descr="A logo with colorful lines&#10;&#10;AI-generated content may be incorrect.">
                <a:extLst>
                  <a:ext uri="{FF2B5EF4-FFF2-40B4-BE49-F238E27FC236}">
                    <a16:creationId xmlns:a16="http://schemas.microsoft.com/office/drawing/2014/main" id="{888F6F77-FDF9-4591-0D10-171579F2AA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3224998" y="4021341"/>
                <a:ext cx="798100" cy="798101"/>
              </a:xfrm>
              <a:prstGeom prst="rect">
                <a:avLst/>
              </a:prstGeom>
            </p:spPr>
          </p:pic>
          <p:pic>
            <p:nvPicPr>
              <p:cNvPr id="26" name="Picture 25" descr="A logo with blue and green text&#10;&#10;AI-generated content may be incorrect.">
                <a:extLst>
                  <a:ext uri="{FF2B5EF4-FFF2-40B4-BE49-F238E27FC236}">
                    <a16:creationId xmlns:a16="http://schemas.microsoft.com/office/drawing/2014/main" id="{FBD61B9A-9181-847B-FAD9-14D877ACCA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4170745" y="4095480"/>
                <a:ext cx="1182393" cy="632974"/>
              </a:xfrm>
              <a:prstGeom prst="rect">
                <a:avLst/>
              </a:prstGeom>
            </p:spPr>
          </p:pic>
        </p:grpSp>
        <p:pic>
          <p:nvPicPr>
            <p:cNvPr id="31" name="Picture 30" descr="UK Research and Innovation&#10;&#10;AI-generated content may be incorrect.">
              <a:extLst>
                <a:ext uri="{FF2B5EF4-FFF2-40B4-BE49-F238E27FC236}">
                  <a16:creationId xmlns:a16="http://schemas.microsoft.com/office/drawing/2014/main" id="{EEC2BC8E-417A-CA5A-B219-B72A298BF8A1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8909286" y="165700"/>
              <a:ext cx="1499990" cy="442265"/>
            </a:xfrm>
            <a:prstGeom prst="rect">
              <a:avLst/>
            </a:prstGeom>
          </p:spPr>
        </p:pic>
      </p:grpSp>
      <p:sp>
        <p:nvSpPr>
          <p:cNvPr id="32" name="Rectangle 3">
            <a:extLst>
              <a:ext uri="{FF2B5EF4-FFF2-40B4-BE49-F238E27FC236}">
                <a16:creationId xmlns:a16="http://schemas.microsoft.com/office/drawing/2014/main" id="{2DF12D7C-A802-3B55-B723-F9DD71A3A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57" y="5696075"/>
            <a:ext cx="2557431" cy="3693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000" b="1" spc="80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  <a:cs typeface="Circular Spotify" panose="020B0604020101020102" pitchFamily="34" charset="-93"/>
              </a:rPr>
              <a:t>Teaching assistant</a:t>
            </a:r>
            <a:endParaRPr kumimoji="0" lang="en-US" altLang="en-US" sz="2000" b="1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Circular Spotify" panose="020B0604020101020102" pitchFamily="34" charset="-93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1AFF3902-321A-AE4B-49BE-C36C30969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155" y="5696075"/>
            <a:ext cx="2973571" cy="3416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pc="80" dirty="0" err="1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  <a:cs typeface="Circular Spotify" panose="020B0604020101020102" pitchFamily="34" charset="-93"/>
              </a:rPr>
              <a:t>Mr</a:t>
            </a:r>
            <a:r>
              <a:rPr lang="en-US" altLang="en-US" spc="80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  <a:cs typeface="Circular Spotify" panose="020B0604020101020102" pitchFamily="34" charset="-93"/>
              </a:rPr>
              <a:t>: Ton Ngoc Minh Quan</a:t>
            </a:r>
            <a:endParaRPr kumimoji="0" lang="en-US" altLang="en-US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Circular Spotify" panose="020B0604020101020102" pitchFamily="34" charset="-93"/>
            </a:endParaRPr>
          </a:p>
        </p:txBody>
      </p:sp>
    </p:spTree>
    <p:extLst>
      <p:ext uri="{BB962C8B-B14F-4D97-AF65-F5344CB8AC3E}">
        <p14:creationId xmlns:p14="http://schemas.microsoft.com/office/powerpoint/2010/main" val="296078863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6156A-766C-68BD-1B7A-7507A1F5E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7034E89-E1DC-CEE8-13C3-477929C776CC}"/>
              </a:ext>
            </a:extLst>
          </p:cNvPr>
          <p:cNvSpPr txBox="1"/>
          <p:nvPr/>
        </p:nvSpPr>
        <p:spPr>
          <a:xfrm>
            <a:off x="396624" y="280662"/>
            <a:ext cx="3247684" cy="709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l">
              <a:lnSpc>
                <a:spcPct val="106000"/>
              </a:lnSpc>
              <a:defRPr/>
            </a:pPr>
            <a:r>
              <a:rPr lang="en-US" sz="4000">
                <a:solidFill>
                  <a:srgbClr val="06193E"/>
                </a:solidFill>
                <a:latin typeface="Roboto"/>
                <a:ea typeface="Roboto"/>
                <a:cs typeface="Roboto"/>
              </a:rPr>
              <a:t>Our journeys</a:t>
            </a:r>
            <a:endParaRPr lang="en-US" sz="4000" b="1" i="0" u="none" strike="noStrike" kern="1200" cap="none" spc="8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ea typeface="Roboto" panose="02000000000000000000" pitchFamily="2" charset="0"/>
              <a:cs typeface="Roboto"/>
            </a:endParaRPr>
          </a:p>
        </p:txBody>
      </p:sp>
      <p:pic>
        <p:nvPicPr>
          <p:cNvPr id="15" name="Graphic 14" descr="Flag with solid fill">
            <a:extLst>
              <a:ext uri="{FF2B5EF4-FFF2-40B4-BE49-F238E27FC236}">
                <a16:creationId xmlns:a16="http://schemas.microsoft.com/office/drawing/2014/main" id="{718ED834-F17C-1E70-F52D-066F0B6012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7163" y="2792845"/>
            <a:ext cx="446810" cy="452582"/>
          </a:xfrm>
          <a:prstGeom prst="rect">
            <a:avLst/>
          </a:prstGeom>
        </p:spPr>
      </p:pic>
      <p:pic>
        <p:nvPicPr>
          <p:cNvPr id="16" name="Graphic 15" descr="Marker outline">
            <a:extLst>
              <a:ext uri="{FF2B5EF4-FFF2-40B4-BE49-F238E27FC236}">
                <a16:creationId xmlns:a16="http://schemas.microsoft.com/office/drawing/2014/main" id="{CF56E6AB-29F9-1030-E217-E5F7D7960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401" y="3790084"/>
            <a:ext cx="459510" cy="458356"/>
          </a:xfrm>
          <a:prstGeom prst="rect">
            <a:avLst/>
          </a:prstGeom>
        </p:spPr>
      </p:pic>
      <p:pic>
        <p:nvPicPr>
          <p:cNvPr id="19" name="Graphic 18" descr="Marker outline">
            <a:extLst>
              <a:ext uri="{FF2B5EF4-FFF2-40B4-BE49-F238E27FC236}">
                <a16:creationId xmlns:a16="http://schemas.microsoft.com/office/drawing/2014/main" id="{E547D614-619B-86CB-E4D3-1AAAFC22B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7356" y="5250583"/>
            <a:ext cx="459510" cy="458356"/>
          </a:xfrm>
          <a:prstGeom prst="rect">
            <a:avLst/>
          </a:prstGeom>
        </p:spPr>
      </p:pic>
      <p:sp>
        <p:nvSpPr>
          <p:cNvPr id="21" name="Rectangle 3">
            <a:extLst>
              <a:ext uri="{FF2B5EF4-FFF2-40B4-BE49-F238E27FC236}">
                <a16:creationId xmlns:a16="http://schemas.microsoft.com/office/drawing/2014/main" id="{A0E08222-370C-141F-87CE-6CC22A09B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346" y="3421155"/>
            <a:ext cx="1571584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Raw sequences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24" name="Graphic 23" descr="Marker outline">
            <a:extLst>
              <a:ext uri="{FF2B5EF4-FFF2-40B4-BE49-F238E27FC236}">
                <a16:creationId xmlns:a16="http://schemas.microsoft.com/office/drawing/2014/main" id="{A84A36A5-06B5-7E64-2F5F-1EF690514A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8219" y="811356"/>
            <a:ext cx="459510" cy="458356"/>
          </a:xfrm>
          <a:prstGeom prst="rect">
            <a:avLst/>
          </a:prstGeom>
        </p:spPr>
      </p:pic>
      <p:sp>
        <p:nvSpPr>
          <p:cNvPr id="25" name="Rectangle 3">
            <a:extLst>
              <a:ext uri="{FF2B5EF4-FFF2-40B4-BE49-F238E27FC236}">
                <a16:creationId xmlns:a16="http://schemas.microsoft.com/office/drawing/2014/main" id="{D1210D3D-D6FA-79B2-129E-AE7AF705F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4634" y="522316"/>
            <a:ext cx="1976503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Annotated genomes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4A4FE5AA-42BC-7FA1-4BE0-EF5D8DF00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1245" y="4966360"/>
            <a:ext cx="1100942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Phylogeny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27" name="Graphic 26" descr="Good Inventory with solid fill">
            <a:extLst>
              <a:ext uri="{FF2B5EF4-FFF2-40B4-BE49-F238E27FC236}">
                <a16:creationId xmlns:a16="http://schemas.microsoft.com/office/drawing/2014/main" id="{19B7B60C-344C-00B4-BB4A-BC24AD8930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0367" y="3763779"/>
            <a:ext cx="550719" cy="498766"/>
          </a:xfrm>
          <a:prstGeom prst="rect">
            <a:avLst/>
          </a:prstGeom>
        </p:spPr>
      </p:pic>
      <p:sp>
        <p:nvSpPr>
          <p:cNvPr id="29" name="Rectangle 3">
            <a:extLst>
              <a:ext uri="{FF2B5EF4-FFF2-40B4-BE49-F238E27FC236}">
                <a16:creationId xmlns:a16="http://schemas.microsoft.com/office/drawing/2014/main" id="{E5B2C615-0CB2-3380-FA2F-CA8C0A0B4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112" y="4321886"/>
            <a:ext cx="445635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QC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CBF91911-16AB-714F-FFFB-D9BE4A12F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211" y="3288297"/>
            <a:ext cx="1226618" cy="5570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Assembled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genome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34" name="Graphic 33" descr="Flag with solid fill">
            <a:extLst>
              <a:ext uri="{FF2B5EF4-FFF2-40B4-BE49-F238E27FC236}">
                <a16:creationId xmlns:a16="http://schemas.microsoft.com/office/drawing/2014/main" id="{138CD906-2608-4E92-16CB-8B931CC600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99094" y="1661202"/>
            <a:ext cx="446810" cy="452582"/>
          </a:xfrm>
          <a:prstGeom prst="rect">
            <a:avLst/>
          </a:prstGeom>
        </p:spPr>
      </p:pic>
      <p:pic>
        <p:nvPicPr>
          <p:cNvPr id="35" name="Graphic 34" descr="Flag with solid fill">
            <a:extLst>
              <a:ext uri="{FF2B5EF4-FFF2-40B4-BE49-F238E27FC236}">
                <a16:creationId xmlns:a16="http://schemas.microsoft.com/office/drawing/2014/main" id="{8573F269-F4BE-FD64-7A92-0CBA667A82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5142" y="2033914"/>
            <a:ext cx="446810" cy="452582"/>
          </a:xfrm>
          <a:prstGeom prst="rect">
            <a:avLst/>
          </a:prstGeom>
        </p:spPr>
      </p:pic>
      <p:pic>
        <p:nvPicPr>
          <p:cNvPr id="2" name="Graphic 1" descr="Scuba diving outline">
            <a:extLst>
              <a:ext uri="{FF2B5EF4-FFF2-40B4-BE49-F238E27FC236}">
                <a16:creationId xmlns:a16="http://schemas.microsoft.com/office/drawing/2014/main" id="{617F5F48-D68B-ABC7-8635-5004031AD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8573" y="5430982"/>
            <a:ext cx="914400" cy="914400"/>
          </a:xfrm>
          <a:prstGeom prst="rect">
            <a:avLst/>
          </a:prstGeom>
        </p:spPr>
      </p:pic>
      <p:pic>
        <p:nvPicPr>
          <p:cNvPr id="3" name="Graphic 2" descr="Seaweed outline">
            <a:extLst>
              <a:ext uri="{FF2B5EF4-FFF2-40B4-BE49-F238E27FC236}">
                <a16:creationId xmlns:a16="http://schemas.microsoft.com/office/drawing/2014/main" id="{646ACAA2-7993-0A10-AB7D-E4A38A031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8266" y="5885583"/>
            <a:ext cx="360218" cy="412175"/>
          </a:xfrm>
          <a:prstGeom prst="rect">
            <a:avLst/>
          </a:prstGeom>
        </p:spPr>
      </p:pic>
      <p:pic>
        <p:nvPicPr>
          <p:cNvPr id="4" name="Graphic 3" descr="Coral outline">
            <a:extLst>
              <a:ext uri="{FF2B5EF4-FFF2-40B4-BE49-F238E27FC236}">
                <a16:creationId xmlns:a16="http://schemas.microsoft.com/office/drawing/2014/main" id="{8AD6648A-42BB-5A2C-70C2-819AF8F7B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8095" y="5716732"/>
            <a:ext cx="648855" cy="550719"/>
          </a:xfrm>
          <a:prstGeom prst="rect">
            <a:avLst/>
          </a:prstGeom>
        </p:spPr>
      </p:pic>
      <p:pic>
        <p:nvPicPr>
          <p:cNvPr id="5" name="Graphic 4" descr="Fish outline">
            <a:extLst>
              <a:ext uri="{FF2B5EF4-FFF2-40B4-BE49-F238E27FC236}">
                <a16:creationId xmlns:a16="http://schemas.microsoft.com/office/drawing/2014/main" id="{216D56F2-5085-784A-B854-12CF2F5A9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660000" flipH="1">
            <a:off x="11101243" y="5692198"/>
            <a:ext cx="412174" cy="360219"/>
          </a:xfrm>
          <a:prstGeom prst="rect">
            <a:avLst/>
          </a:prstGeom>
        </p:spPr>
      </p:pic>
      <p:pic>
        <p:nvPicPr>
          <p:cNvPr id="6" name="Graphic 5" descr="Mountains outline">
            <a:extLst>
              <a:ext uri="{FF2B5EF4-FFF2-40B4-BE49-F238E27FC236}">
                <a16:creationId xmlns:a16="http://schemas.microsoft.com/office/drawing/2014/main" id="{3544F4F5-5EBB-B7A6-68F4-BFE28E50B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18436" y="951346"/>
            <a:ext cx="579583" cy="637309"/>
          </a:xfrm>
          <a:prstGeom prst="rect">
            <a:avLst/>
          </a:prstGeom>
        </p:spPr>
      </p:pic>
      <p:pic>
        <p:nvPicPr>
          <p:cNvPr id="7" name="Graphic 6" descr="Flag with solid fill">
            <a:extLst>
              <a:ext uri="{FF2B5EF4-FFF2-40B4-BE49-F238E27FC236}">
                <a16:creationId xmlns:a16="http://schemas.microsoft.com/office/drawing/2014/main" id="{A7DC72DE-E086-F843-B938-F2ABBEE6D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892" y="5484983"/>
            <a:ext cx="446810" cy="452582"/>
          </a:xfrm>
          <a:prstGeom prst="rect">
            <a:avLst/>
          </a:prstGeom>
        </p:spPr>
      </p:pic>
      <p:pic>
        <p:nvPicPr>
          <p:cNvPr id="8" name="Graphic 7" descr="Flag with solid fill">
            <a:extLst>
              <a:ext uri="{FF2B5EF4-FFF2-40B4-BE49-F238E27FC236}">
                <a16:creationId xmlns:a16="http://schemas.microsoft.com/office/drawing/2014/main" id="{F03A432E-4FA8-E1C6-7425-CA37FFD10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6299" y="5026889"/>
            <a:ext cx="446810" cy="45258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F20089-7E92-DA19-2E93-F7ADB16FB1C0}"/>
              </a:ext>
            </a:extLst>
          </p:cNvPr>
          <p:cNvCxnSpPr/>
          <p:nvPr/>
        </p:nvCxnSpPr>
        <p:spPr>
          <a:xfrm flipV="1">
            <a:off x="1499756" y="3257718"/>
            <a:ext cx="1543626" cy="608482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BD1E87-C2E0-3D57-6760-90E891097C5F}"/>
              </a:ext>
            </a:extLst>
          </p:cNvPr>
          <p:cNvCxnSpPr>
            <a:cxnSpLocks/>
          </p:cNvCxnSpPr>
          <p:nvPr/>
        </p:nvCxnSpPr>
        <p:spPr>
          <a:xfrm>
            <a:off x="1141847" y="4259118"/>
            <a:ext cx="302489" cy="781628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B1D5C8-83F9-E81F-7AFA-686147FDDF59}"/>
              </a:ext>
            </a:extLst>
          </p:cNvPr>
          <p:cNvCxnSpPr>
            <a:cxnSpLocks/>
          </p:cNvCxnSpPr>
          <p:nvPr/>
        </p:nvCxnSpPr>
        <p:spPr>
          <a:xfrm>
            <a:off x="1464374" y="5042533"/>
            <a:ext cx="683489" cy="640290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A6B61F-BF47-12E7-17D1-8EEE165C6D8C}"/>
              </a:ext>
            </a:extLst>
          </p:cNvPr>
          <p:cNvCxnSpPr>
            <a:cxnSpLocks/>
          </p:cNvCxnSpPr>
          <p:nvPr/>
        </p:nvCxnSpPr>
        <p:spPr>
          <a:xfrm>
            <a:off x="2177212" y="5687774"/>
            <a:ext cx="966165" cy="21627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60C5A3-DAF8-ADC3-9421-95956DE992AD}"/>
              </a:ext>
            </a:extLst>
          </p:cNvPr>
          <p:cNvCxnSpPr>
            <a:cxnSpLocks/>
          </p:cNvCxnSpPr>
          <p:nvPr/>
        </p:nvCxnSpPr>
        <p:spPr>
          <a:xfrm>
            <a:off x="3172727" y="5865985"/>
            <a:ext cx="363941" cy="296162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D9015E-DB03-4E96-4733-D6130238D44C}"/>
              </a:ext>
            </a:extLst>
          </p:cNvPr>
          <p:cNvCxnSpPr>
            <a:cxnSpLocks/>
          </p:cNvCxnSpPr>
          <p:nvPr/>
        </p:nvCxnSpPr>
        <p:spPr>
          <a:xfrm flipV="1">
            <a:off x="3535291" y="6057679"/>
            <a:ext cx="425392" cy="84837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E2B942-7B4D-0C5B-5D06-739BE0E1A02F}"/>
              </a:ext>
            </a:extLst>
          </p:cNvPr>
          <p:cNvCxnSpPr>
            <a:cxnSpLocks/>
          </p:cNvCxnSpPr>
          <p:nvPr/>
        </p:nvCxnSpPr>
        <p:spPr>
          <a:xfrm flipV="1">
            <a:off x="3897856" y="5670534"/>
            <a:ext cx="996890" cy="404384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DA9CC4-EFB7-A0A4-C707-0CB439E6C4FB}"/>
              </a:ext>
            </a:extLst>
          </p:cNvPr>
          <p:cNvCxnSpPr>
            <a:cxnSpLocks/>
          </p:cNvCxnSpPr>
          <p:nvPr/>
        </p:nvCxnSpPr>
        <p:spPr>
          <a:xfrm>
            <a:off x="4899516" y="5675482"/>
            <a:ext cx="953875" cy="1196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031619-8BF5-28CB-7564-D3188ADB8D9D}"/>
              </a:ext>
            </a:extLst>
          </p:cNvPr>
          <p:cNvCxnSpPr>
            <a:cxnSpLocks/>
          </p:cNvCxnSpPr>
          <p:nvPr/>
        </p:nvCxnSpPr>
        <p:spPr>
          <a:xfrm flipV="1">
            <a:off x="5870451" y="5418581"/>
            <a:ext cx="665053" cy="244610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2DE2AC-7B91-E774-C279-9BA5A39258AE}"/>
              </a:ext>
            </a:extLst>
          </p:cNvPr>
          <p:cNvCxnSpPr>
            <a:cxnSpLocks/>
          </p:cNvCxnSpPr>
          <p:nvPr/>
        </p:nvCxnSpPr>
        <p:spPr>
          <a:xfrm flipV="1">
            <a:off x="6552563" y="5418580"/>
            <a:ext cx="775666" cy="17240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3B5335-D627-BC43-7DC1-C9F4E3221A65}"/>
              </a:ext>
            </a:extLst>
          </p:cNvPr>
          <p:cNvCxnSpPr>
            <a:cxnSpLocks/>
          </p:cNvCxnSpPr>
          <p:nvPr/>
        </p:nvCxnSpPr>
        <p:spPr>
          <a:xfrm>
            <a:off x="7345288" y="5454255"/>
            <a:ext cx="652763" cy="240857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925819C-225A-8BA2-042A-799E992206F3}"/>
              </a:ext>
            </a:extLst>
          </p:cNvPr>
          <p:cNvCxnSpPr>
            <a:cxnSpLocks/>
          </p:cNvCxnSpPr>
          <p:nvPr/>
        </p:nvCxnSpPr>
        <p:spPr>
          <a:xfrm>
            <a:off x="8039690" y="5693916"/>
            <a:ext cx="204166" cy="351469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687D7A6-CED1-557D-EDA5-23F92B70215A}"/>
              </a:ext>
            </a:extLst>
          </p:cNvPr>
          <p:cNvCxnSpPr>
            <a:cxnSpLocks/>
          </p:cNvCxnSpPr>
          <p:nvPr/>
        </p:nvCxnSpPr>
        <p:spPr>
          <a:xfrm flipV="1">
            <a:off x="8273207" y="6014660"/>
            <a:ext cx="1341020" cy="1109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2114BC-8783-2E7A-69A5-BA4314A9D8B1}"/>
              </a:ext>
            </a:extLst>
          </p:cNvPr>
          <p:cNvCxnSpPr>
            <a:cxnSpLocks/>
          </p:cNvCxnSpPr>
          <p:nvPr/>
        </p:nvCxnSpPr>
        <p:spPr>
          <a:xfrm flipV="1">
            <a:off x="1181694" y="3870002"/>
            <a:ext cx="320925" cy="35522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835658F-4E2A-23B6-9199-D13CD0656041}"/>
              </a:ext>
            </a:extLst>
          </p:cNvPr>
          <p:cNvCxnSpPr>
            <a:cxnSpLocks/>
          </p:cNvCxnSpPr>
          <p:nvPr/>
        </p:nvCxnSpPr>
        <p:spPr>
          <a:xfrm flipV="1">
            <a:off x="3066771" y="2519995"/>
            <a:ext cx="1001453" cy="751522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EAD97F-F7D3-49CD-26E7-1BE60FBC371F}"/>
              </a:ext>
            </a:extLst>
          </p:cNvPr>
          <p:cNvCxnSpPr>
            <a:cxnSpLocks/>
          </p:cNvCxnSpPr>
          <p:nvPr/>
        </p:nvCxnSpPr>
        <p:spPr>
          <a:xfrm flipV="1">
            <a:off x="4099158" y="2421975"/>
            <a:ext cx="2238028" cy="11072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14359A8-4D1C-7E76-88D0-2BCAC7F90536}"/>
              </a:ext>
            </a:extLst>
          </p:cNvPr>
          <p:cNvCxnSpPr>
            <a:cxnSpLocks/>
          </p:cNvCxnSpPr>
          <p:nvPr/>
        </p:nvCxnSpPr>
        <p:spPr>
          <a:xfrm flipV="1">
            <a:off x="6333100" y="2101733"/>
            <a:ext cx="2164286" cy="325807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0162B35-4BB3-B6FE-8F28-F0DAF8F73710}"/>
              </a:ext>
            </a:extLst>
          </p:cNvPr>
          <p:cNvCxnSpPr>
            <a:cxnSpLocks/>
          </p:cNvCxnSpPr>
          <p:nvPr/>
        </p:nvCxnSpPr>
        <p:spPr>
          <a:xfrm flipV="1">
            <a:off x="8563338" y="1451598"/>
            <a:ext cx="1589435" cy="63250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49C7EA49-C686-48BC-64CF-C53267061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486" y="5135691"/>
            <a:ext cx="999034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Mapping</a:t>
            </a:r>
            <a:endParaRPr lang="en-US" altLang="en-US" sz="1400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44904DAF-D139-D3E3-12D6-1548A2720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155" y="4705308"/>
            <a:ext cx="2034301" cy="4801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Variant </a:t>
            </a: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calling and filtering</a:t>
            </a:r>
            <a:endParaRPr lang="en-US" altLang="en-US" sz="1400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11" name="Graphic 10" descr="Good Inventory with solid fill">
            <a:extLst>
              <a:ext uri="{FF2B5EF4-FFF2-40B4-BE49-F238E27FC236}">
                <a16:creationId xmlns:a16="http://schemas.microsoft.com/office/drawing/2014/main" id="{A7A094B2-2B38-1391-693D-92BD74DF08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5250" y="2541129"/>
            <a:ext cx="550719" cy="498766"/>
          </a:xfrm>
          <a:prstGeom prst="rect">
            <a:avLst/>
          </a:prstGeom>
        </p:spPr>
      </p:pic>
      <p:sp>
        <p:nvSpPr>
          <p:cNvPr id="46" name="Rectangle 3">
            <a:extLst>
              <a:ext uri="{FF2B5EF4-FFF2-40B4-BE49-F238E27FC236}">
                <a16:creationId xmlns:a16="http://schemas.microsoft.com/office/drawing/2014/main" id="{AE9753CC-2883-83E6-1554-66A010453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691" y="3092235"/>
            <a:ext cx="3257856" cy="30777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Roboto"/>
              </a:rPr>
              <a:t>QC </a:t>
            </a:r>
            <a:r>
              <a:rPr lang="en-US" alt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&amp; Post-Assembly </a:t>
            </a: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Profiling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03626E63-66D3-17E4-E3AC-7E8C77623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074" y="2713920"/>
            <a:ext cx="1686680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Hybrid </a:t>
            </a: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Assembly</a:t>
            </a:r>
            <a:endParaRPr lang="en-US" altLang="en-US" sz="1400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49" name="Graphic 48" descr="Research with solid fill">
            <a:extLst>
              <a:ext uri="{FF2B5EF4-FFF2-40B4-BE49-F238E27FC236}">
                <a16:creationId xmlns:a16="http://schemas.microsoft.com/office/drawing/2014/main" id="{DD84302B-6FBB-EC36-142D-D0E1E9E12A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01077" y="2519127"/>
            <a:ext cx="672975" cy="574896"/>
          </a:xfrm>
          <a:prstGeom prst="rect">
            <a:avLst/>
          </a:prstGeom>
        </p:spPr>
      </p:pic>
      <p:pic>
        <p:nvPicPr>
          <p:cNvPr id="50" name="Graphic 49" descr="Shooting star with solid fill">
            <a:extLst>
              <a:ext uri="{FF2B5EF4-FFF2-40B4-BE49-F238E27FC236}">
                <a16:creationId xmlns:a16="http://schemas.microsoft.com/office/drawing/2014/main" id="{045E9FB9-B09E-8617-6BC5-AF176506C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34125" y="2156987"/>
            <a:ext cx="627709" cy="55980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B7680B0-145D-8F24-3DB0-CC47B8673B52}"/>
              </a:ext>
            </a:extLst>
          </p:cNvPr>
          <p:cNvSpPr/>
          <p:nvPr/>
        </p:nvSpPr>
        <p:spPr>
          <a:xfrm>
            <a:off x="222739" y="4768605"/>
            <a:ext cx="3842570" cy="1894411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58137E-875B-0817-9D0F-880C28440059}"/>
              </a:ext>
            </a:extLst>
          </p:cNvPr>
          <p:cNvSpPr/>
          <p:nvPr/>
        </p:nvSpPr>
        <p:spPr>
          <a:xfrm>
            <a:off x="6908822" y="253331"/>
            <a:ext cx="4564616" cy="3146681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385F66-DAA7-5D45-E4DF-44CAF3F5D039}"/>
              </a:ext>
            </a:extLst>
          </p:cNvPr>
          <p:cNvSpPr/>
          <p:nvPr/>
        </p:nvSpPr>
        <p:spPr>
          <a:xfrm rot="5400000">
            <a:off x="6306444" y="1501607"/>
            <a:ext cx="3015319" cy="7459788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26B64F1-4646-89B0-4770-1C8A042E74D2}"/>
              </a:ext>
            </a:extLst>
          </p:cNvPr>
          <p:cNvSpPr/>
          <p:nvPr/>
        </p:nvSpPr>
        <p:spPr>
          <a:xfrm>
            <a:off x="450062" y="4248440"/>
            <a:ext cx="1014312" cy="522404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7641851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6156A-766C-68BD-1B7A-7507A1F5E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7034E89-E1DC-CEE8-13C3-477929C776CC}"/>
              </a:ext>
            </a:extLst>
          </p:cNvPr>
          <p:cNvSpPr txBox="1"/>
          <p:nvPr/>
        </p:nvSpPr>
        <p:spPr>
          <a:xfrm>
            <a:off x="396624" y="280662"/>
            <a:ext cx="3247684" cy="709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l">
              <a:lnSpc>
                <a:spcPct val="106000"/>
              </a:lnSpc>
              <a:defRPr/>
            </a:pPr>
            <a:r>
              <a:rPr lang="en-US" sz="4000">
                <a:solidFill>
                  <a:srgbClr val="06193E"/>
                </a:solidFill>
                <a:latin typeface="Roboto"/>
                <a:ea typeface="Roboto"/>
                <a:cs typeface="Roboto"/>
              </a:rPr>
              <a:t>Our journeys</a:t>
            </a:r>
            <a:endParaRPr lang="en-US" sz="4000" b="1" i="0" u="none" strike="noStrike" kern="1200" cap="none" spc="8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ea typeface="Roboto" panose="02000000000000000000" pitchFamily="2" charset="0"/>
              <a:cs typeface="Roboto"/>
            </a:endParaRPr>
          </a:p>
        </p:txBody>
      </p:sp>
      <p:pic>
        <p:nvPicPr>
          <p:cNvPr id="15" name="Graphic 14" descr="Flag with solid fill">
            <a:extLst>
              <a:ext uri="{FF2B5EF4-FFF2-40B4-BE49-F238E27FC236}">
                <a16:creationId xmlns:a16="http://schemas.microsoft.com/office/drawing/2014/main" id="{718ED834-F17C-1E70-F52D-066F0B6012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7163" y="2792845"/>
            <a:ext cx="446810" cy="452582"/>
          </a:xfrm>
          <a:prstGeom prst="rect">
            <a:avLst/>
          </a:prstGeom>
        </p:spPr>
      </p:pic>
      <p:pic>
        <p:nvPicPr>
          <p:cNvPr id="16" name="Graphic 15" descr="Marker outline">
            <a:extLst>
              <a:ext uri="{FF2B5EF4-FFF2-40B4-BE49-F238E27FC236}">
                <a16:creationId xmlns:a16="http://schemas.microsoft.com/office/drawing/2014/main" id="{CF56E6AB-29F9-1030-E217-E5F7D7960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401" y="3790084"/>
            <a:ext cx="459510" cy="458356"/>
          </a:xfrm>
          <a:prstGeom prst="rect">
            <a:avLst/>
          </a:prstGeom>
        </p:spPr>
      </p:pic>
      <p:pic>
        <p:nvPicPr>
          <p:cNvPr id="19" name="Graphic 18" descr="Marker outline">
            <a:extLst>
              <a:ext uri="{FF2B5EF4-FFF2-40B4-BE49-F238E27FC236}">
                <a16:creationId xmlns:a16="http://schemas.microsoft.com/office/drawing/2014/main" id="{E547D614-619B-86CB-E4D3-1AAAFC22B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7356" y="5250583"/>
            <a:ext cx="459510" cy="458356"/>
          </a:xfrm>
          <a:prstGeom prst="rect">
            <a:avLst/>
          </a:prstGeom>
        </p:spPr>
      </p:pic>
      <p:sp>
        <p:nvSpPr>
          <p:cNvPr id="21" name="Rectangle 3">
            <a:extLst>
              <a:ext uri="{FF2B5EF4-FFF2-40B4-BE49-F238E27FC236}">
                <a16:creationId xmlns:a16="http://schemas.microsoft.com/office/drawing/2014/main" id="{A0E08222-370C-141F-87CE-6CC22A09B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346" y="3421155"/>
            <a:ext cx="1571584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Raw sequences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24" name="Graphic 23" descr="Marker outline">
            <a:extLst>
              <a:ext uri="{FF2B5EF4-FFF2-40B4-BE49-F238E27FC236}">
                <a16:creationId xmlns:a16="http://schemas.microsoft.com/office/drawing/2014/main" id="{A84A36A5-06B5-7E64-2F5F-1EF690514A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8219" y="811356"/>
            <a:ext cx="459510" cy="458356"/>
          </a:xfrm>
          <a:prstGeom prst="rect">
            <a:avLst/>
          </a:prstGeom>
        </p:spPr>
      </p:pic>
      <p:sp>
        <p:nvSpPr>
          <p:cNvPr id="25" name="Rectangle 3">
            <a:extLst>
              <a:ext uri="{FF2B5EF4-FFF2-40B4-BE49-F238E27FC236}">
                <a16:creationId xmlns:a16="http://schemas.microsoft.com/office/drawing/2014/main" id="{D1210D3D-D6FA-79B2-129E-AE7AF705F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4634" y="522316"/>
            <a:ext cx="1976503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Annotated genomes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4A4FE5AA-42BC-7FA1-4BE0-EF5D8DF00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1245" y="4966360"/>
            <a:ext cx="1100942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Phylogeny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27" name="Graphic 26" descr="Good Inventory with solid fill">
            <a:extLst>
              <a:ext uri="{FF2B5EF4-FFF2-40B4-BE49-F238E27FC236}">
                <a16:creationId xmlns:a16="http://schemas.microsoft.com/office/drawing/2014/main" id="{19B7B60C-344C-00B4-BB4A-BC24AD8930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0367" y="3763779"/>
            <a:ext cx="550719" cy="498766"/>
          </a:xfrm>
          <a:prstGeom prst="rect">
            <a:avLst/>
          </a:prstGeom>
        </p:spPr>
      </p:pic>
      <p:sp>
        <p:nvSpPr>
          <p:cNvPr id="29" name="Rectangle 3">
            <a:extLst>
              <a:ext uri="{FF2B5EF4-FFF2-40B4-BE49-F238E27FC236}">
                <a16:creationId xmlns:a16="http://schemas.microsoft.com/office/drawing/2014/main" id="{E5B2C615-0CB2-3380-FA2F-CA8C0A0B4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112" y="4321886"/>
            <a:ext cx="445635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QC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CBF91911-16AB-714F-FFFB-D9BE4A12F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211" y="3288297"/>
            <a:ext cx="1226618" cy="5570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Assembled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genome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34" name="Graphic 33" descr="Flag with solid fill">
            <a:extLst>
              <a:ext uri="{FF2B5EF4-FFF2-40B4-BE49-F238E27FC236}">
                <a16:creationId xmlns:a16="http://schemas.microsoft.com/office/drawing/2014/main" id="{138CD906-2608-4E92-16CB-8B931CC600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99094" y="1661202"/>
            <a:ext cx="446810" cy="452582"/>
          </a:xfrm>
          <a:prstGeom prst="rect">
            <a:avLst/>
          </a:prstGeom>
        </p:spPr>
      </p:pic>
      <p:pic>
        <p:nvPicPr>
          <p:cNvPr id="35" name="Graphic 34" descr="Flag with solid fill">
            <a:extLst>
              <a:ext uri="{FF2B5EF4-FFF2-40B4-BE49-F238E27FC236}">
                <a16:creationId xmlns:a16="http://schemas.microsoft.com/office/drawing/2014/main" id="{8573F269-F4BE-FD64-7A92-0CBA667A82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5142" y="2033914"/>
            <a:ext cx="446810" cy="452582"/>
          </a:xfrm>
          <a:prstGeom prst="rect">
            <a:avLst/>
          </a:prstGeom>
        </p:spPr>
      </p:pic>
      <p:pic>
        <p:nvPicPr>
          <p:cNvPr id="2" name="Graphic 1" descr="Scuba diving outline">
            <a:extLst>
              <a:ext uri="{FF2B5EF4-FFF2-40B4-BE49-F238E27FC236}">
                <a16:creationId xmlns:a16="http://schemas.microsoft.com/office/drawing/2014/main" id="{617F5F48-D68B-ABC7-8635-5004031AD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8573" y="5430982"/>
            <a:ext cx="914400" cy="914400"/>
          </a:xfrm>
          <a:prstGeom prst="rect">
            <a:avLst/>
          </a:prstGeom>
        </p:spPr>
      </p:pic>
      <p:pic>
        <p:nvPicPr>
          <p:cNvPr id="3" name="Graphic 2" descr="Seaweed outline">
            <a:extLst>
              <a:ext uri="{FF2B5EF4-FFF2-40B4-BE49-F238E27FC236}">
                <a16:creationId xmlns:a16="http://schemas.microsoft.com/office/drawing/2014/main" id="{646ACAA2-7993-0A10-AB7D-E4A38A031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48266" y="5885583"/>
            <a:ext cx="360218" cy="412175"/>
          </a:xfrm>
          <a:prstGeom prst="rect">
            <a:avLst/>
          </a:prstGeom>
        </p:spPr>
      </p:pic>
      <p:pic>
        <p:nvPicPr>
          <p:cNvPr id="4" name="Graphic 3" descr="Coral outline">
            <a:extLst>
              <a:ext uri="{FF2B5EF4-FFF2-40B4-BE49-F238E27FC236}">
                <a16:creationId xmlns:a16="http://schemas.microsoft.com/office/drawing/2014/main" id="{8AD6648A-42BB-5A2C-70C2-819AF8F7B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8095" y="5716732"/>
            <a:ext cx="648855" cy="550719"/>
          </a:xfrm>
          <a:prstGeom prst="rect">
            <a:avLst/>
          </a:prstGeom>
        </p:spPr>
      </p:pic>
      <p:pic>
        <p:nvPicPr>
          <p:cNvPr id="5" name="Graphic 4" descr="Fish outline">
            <a:extLst>
              <a:ext uri="{FF2B5EF4-FFF2-40B4-BE49-F238E27FC236}">
                <a16:creationId xmlns:a16="http://schemas.microsoft.com/office/drawing/2014/main" id="{216D56F2-5085-784A-B854-12CF2F5A9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660000" flipH="1">
            <a:off x="11101243" y="5692198"/>
            <a:ext cx="412174" cy="360219"/>
          </a:xfrm>
          <a:prstGeom prst="rect">
            <a:avLst/>
          </a:prstGeom>
        </p:spPr>
      </p:pic>
      <p:pic>
        <p:nvPicPr>
          <p:cNvPr id="6" name="Graphic 5" descr="Mountains outline">
            <a:extLst>
              <a:ext uri="{FF2B5EF4-FFF2-40B4-BE49-F238E27FC236}">
                <a16:creationId xmlns:a16="http://schemas.microsoft.com/office/drawing/2014/main" id="{3544F4F5-5EBB-B7A6-68F4-BFE28E50B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18436" y="951346"/>
            <a:ext cx="579583" cy="637309"/>
          </a:xfrm>
          <a:prstGeom prst="rect">
            <a:avLst/>
          </a:prstGeom>
        </p:spPr>
      </p:pic>
      <p:pic>
        <p:nvPicPr>
          <p:cNvPr id="7" name="Graphic 6" descr="Flag with solid fill">
            <a:extLst>
              <a:ext uri="{FF2B5EF4-FFF2-40B4-BE49-F238E27FC236}">
                <a16:creationId xmlns:a16="http://schemas.microsoft.com/office/drawing/2014/main" id="{A7DC72DE-E086-F843-B938-F2ABBEE6D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892" y="5484983"/>
            <a:ext cx="446810" cy="452582"/>
          </a:xfrm>
          <a:prstGeom prst="rect">
            <a:avLst/>
          </a:prstGeom>
        </p:spPr>
      </p:pic>
      <p:pic>
        <p:nvPicPr>
          <p:cNvPr id="8" name="Graphic 7" descr="Flag with solid fill">
            <a:extLst>
              <a:ext uri="{FF2B5EF4-FFF2-40B4-BE49-F238E27FC236}">
                <a16:creationId xmlns:a16="http://schemas.microsoft.com/office/drawing/2014/main" id="{F03A432E-4FA8-E1C6-7425-CA37FFD10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6299" y="5026889"/>
            <a:ext cx="446810" cy="45258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F20089-7E92-DA19-2E93-F7ADB16FB1C0}"/>
              </a:ext>
            </a:extLst>
          </p:cNvPr>
          <p:cNvCxnSpPr/>
          <p:nvPr/>
        </p:nvCxnSpPr>
        <p:spPr>
          <a:xfrm flipV="1">
            <a:off x="1499756" y="3257718"/>
            <a:ext cx="1543626" cy="608482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BD1E87-C2E0-3D57-6760-90E891097C5F}"/>
              </a:ext>
            </a:extLst>
          </p:cNvPr>
          <p:cNvCxnSpPr>
            <a:cxnSpLocks/>
          </p:cNvCxnSpPr>
          <p:nvPr/>
        </p:nvCxnSpPr>
        <p:spPr>
          <a:xfrm>
            <a:off x="1141847" y="4259118"/>
            <a:ext cx="302489" cy="781628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B1D5C8-83F9-E81F-7AFA-686147FDDF59}"/>
              </a:ext>
            </a:extLst>
          </p:cNvPr>
          <p:cNvCxnSpPr>
            <a:cxnSpLocks/>
          </p:cNvCxnSpPr>
          <p:nvPr/>
        </p:nvCxnSpPr>
        <p:spPr>
          <a:xfrm>
            <a:off x="1464374" y="5042533"/>
            <a:ext cx="683489" cy="640290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A6B61F-BF47-12E7-17D1-8EEE165C6D8C}"/>
              </a:ext>
            </a:extLst>
          </p:cNvPr>
          <p:cNvCxnSpPr>
            <a:cxnSpLocks/>
          </p:cNvCxnSpPr>
          <p:nvPr/>
        </p:nvCxnSpPr>
        <p:spPr>
          <a:xfrm>
            <a:off x="2177212" y="5687774"/>
            <a:ext cx="966165" cy="21627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60C5A3-DAF8-ADC3-9421-95956DE992AD}"/>
              </a:ext>
            </a:extLst>
          </p:cNvPr>
          <p:cNvCxnSpPr>
            <a:cxnSpLocks/>
          </p:cNvCxnSpPr>
          <p:nvPr/>
        </p:nvCxnSpPr>
        <p:spPr>
          <a:xfrm>
            <a:off x="3172727" y="5865985"/>
            <a:ext cx="363941" cy="296162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D9015E-DB03-4E96-4733-D6130238D44C}"/>
              </a:ext>
            </a:extLst>
          </p:cNvPr>
          <p:cNvCxnSpPr>
            <a:cxnSpLocks/>
          </p:cNvCxnSpPr>
          <p:nvPr/>
        </p:nvCxnSpPr>
        <p:spPr>
          <a:xfrm flipV="1">
            <a:off x="3535291" y="6057679"/>
            <a:ext cx="425392" cy="84837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E2B942-7B4D-0C5B-5D06-739BE0E1A02F}"/>
              </a:ext>
            </a:extLst>
          </p:cNvPr>
          <p:cNvCxnSpPr>
            <a:cxnSpLocks/>
          </p:cNvCxnSpPr>
          <p:nvPr/>
        </p:nvCxnSpPr>
        <p:spPr>
          <a:xfrm flipV="1">
            <a:off x="3897856" y="5670534"/>
            <a:ext cx="996890" cy="404384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DA9CC4-EFB7-A0A4-C707-0CB439E6C4FB}"/>
              </a:ext>
            </a:extLst>
          </p:cNvPr>
          <p:cNvCxnSpPr>
            <a:cxnSpLocks/>
          </p:cNvCxnSpPr>
          <p:nvPr/>
        </p:nvCxnSpPr>
        <p:spPr>
          <a:xfrm>
            <a:off x="4899516" y="5675482"/>
            <a:ext cx="953875" cy="1196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031619-8BF5-28CB-7564-D3188ADB8D9D}"/>
              </a:ext>
            </a:extLst>
          </p:cNvPr>
          <p:cNvCxnSpPr>
            <a:cxnSpLocks/>
          </p:cNvCxnSpPr>
          <p:nvPr/>
        </p:nvCxnSpPr>
        <p:spPr>
          <a:xfrm flipV="1">
            <a:off x="5870451" y="5418581"/>
            <a:ext cx="665053" cy="244610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2DE2AC-7B91-E774-C279-9BA5A39258AE}"/>
              </a:ext>
            </a:extLst>
          </p:cNvPr>
          <p:cNvCxnSpPr>
            <a:cxnSpLocks/>
          </p:cNvCxnSpPr>
          <p:nvPr/>
        </p:nvCxnSpPr>
        <p:spPr>
          <a:xfrm flipV="1">
            <a:off x="6552563" y="5418580"/>
            <a:ext cx="775666" cy="17240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3B5335-D627-BC43-7DC1-C9F4E3221A65}"/>
              </a:ext>
            </a:extLst>
          </p:cNvPr>
          <p:cNvCxnSpPr>
            <a:cxnSpLocks/>
          </p:cNvCxnSpPr>
          <p:nvPr/>
        </p:nvCxnSpPr>
        <p:spPr>
          <a:xfrm>
            <a:off x="7345288" y="5454255"/>
            <a:ext cx="652763" cy="240857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925819C-225A-8BA2-042A-799E992206F3}"/>
              </a:ext>
            </a:extLst>
          </p:cNvPr>
          <p:cNvCxnSpPr>
            <a:cxnSpLocks/>
          </p:cNvCxnSpPr>
          <p:nvPr/>
        </p:nvCxnSpPr>
        <p:spPr>
          <a:xfrm>
            <a:off x="8039690" y="5693916"/>
            <a:ext cx="204166" cy="351469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687D7A6-CED1-557D-EDA5-23F92B70215A}"/>
              </a:ext>
            </a:extLst>
          </p:cNvPr>
          <p:cNvCxnSpPr>
            <a:cxnSpLocks/>
          </p:cNvCxnSpPr>
          <p:nvPr/>
        </p:nvCxnSpPr>
        <p:spPr>
          <a:xfrm flipV="1">
            <a:off x="8273207" y="6014660"/>
            <a:ext cx="1341020" cy="1109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2114BC-8783-2E7A-69A5-BA4314A9D8B1}"/>
              </a:ext>
            </a:extLst>
          </p:cNvPr>
          <p:cNvCxnSpPr>
            <a:cxnSpLocks/>
          </p:cNvCxnSpPr>
          <p:nvPr/>
        </p:nvCxnSpPr>
        <p:spPr>
          <a:xfrm flipV="1">
            <a:off x="1181694" y="3870002"/>
            <a:ext cx="320925" cy="35522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835658F-4E2A-23B6-9199-D13CD0656041}"/>
              </a:ext>
            </a:extLst>
          </p:cNvPr>
          <p:cNvCxnSpPr>
            <a:cxnSpLocks/>
          </p:cNvCxnSpPr>
          <p:nvPr/>
        </p:nvCxnSpPr>
        <p:spPr>
          <a:xfrm flipV="1">
            <a:off x="3066771" y="2519995"/>
            <a:ext cx="1001453" cy="751522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EAD97F-F7D3-49CD-26E7-1BE60FBC371F}"/>
              </a:ext>
            </a:extLst>
          </p:cNvPr>
          <p:cNvCxnSpPr>
            <a:cxnSpLocks/>
          </p:cNvCxnSpPr>
          <p:nvPr/>
        </p:nvCxnSpPr>
        <p:spPr>
          <a:xfrm flipV="1">
            <a:off x="4099158" y="2421975"/>
            <a:ext cx="2238028" cy="11072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14359A8-4D1C-7E76-88D0-2BCAC7F90536}"/>
              </a:ext>
            </a:extLst>
          </p:cNvPr>
          <p:cNvCxnSpPr>
            <a:cxnSpLocks/>
          </p:cNvCxnSpPr>
          <p:nvPr/>
        </p:nvCxnSpPr>
        <p:spPr>
          <a:xfrm flipV="1">
            <a:off x="6333100" y="2101733"/>
            <a:ext cx="2164286" cy="325807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0162B35-4BB3-B6FE-8F28-F0DAF8F73710}"/>
              </a:ext>
            </a:extLst>
          </p:cNvPr>
          <p:cNvCxnSpPr>
            <a:cxnSpLocks/>
          </p:cNvCxnSpPr>
          <p:nvPr/>
        </p:nvCxnSpPr>
        <p:spPr>
          <a:xfrm flipV="1">
            <a:off x="8563338" y="1451598"/>
            <a:ext cx="1589435" cy="632505"/>
          </a:xfrm>
          <a:prstGeom prst="straightConnector1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49C7EA49-C686-48BC-64CF-C53267061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486" y="5135691"/>
            <a:ext cx="999034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Mapping</a:t>
            </a:r>
            <a:endParaRPr lang="en-US" altLang="en-US" sz="1400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44904DAF-D139-D3E3-12D6-1548A2720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155" y="4705308"/>
            <a:ext cx="2034301" cy="4801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Variant </a:t>
            </a: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calling and filtering</a:t>
            </a:r>
            <a:endParaRPr lang="en-US" altLang="en-US" sz="1400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11" name="Graphic 10" descr="Good Inventory with solid fill">
            <a:extLst>
              <a:ext uri="{FF2B5EF4-FFF2-40B4-BE49-F238E27FC236}">
                <a16:creationId xmlns:a16="http://schemas.microsoft.com/office/drawing/2014/main" id="{A7A094B2-2B38-1391-693D-92BD74DF08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5250" y="2541129"/>
            <a:ext cx="550719" cy="498766"/>
          </a:xfrm>
          <a:prstGeom prst="rect">
            <a:avLst/>
          </a:prstGeom>
        </p:spPr>
      </p:pic>
      <p:sp>
        <p:nvSpPr>
          <p:cNvPr id="46" name="Rectangle 3">
            <a:extLst>
              <a:ext uri="{FF2B5EF4-FFF2-40B4-BE49-F238E27FC236}">
                <a16:creationId xmlns:a16="http://schemas.microsoft.com/office/drawing/2014/main" id="{AE9753CC-2883-83E6-1554-66A010453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691" y="3092235"/>
            <a:ext cx="3257856" cy="30777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Roboto"/>
              </a:rPr>
              <a:t>QC </a:t>
            </a:r>
            <a:r>
              <a:rPr lang="en-US" alt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&amp; Post-Assembly </a:t>
            </a: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Profiling</a:t>
            </a:r>
            <a:endParaRPr lang="en-US" altLang="en-US" sz="1400" b="0" i="0" u="none" strike="noStrike" kern="1200" cap="none" spc="8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03626E63-66D3-17E4-E3AC-7E8C77623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074" y="2713920"/>
            <a:ext cx="1686680" cy="2862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sz="1400" spc="80" dirty="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Hybrid </a:t>
            </a:r>
            <a:r>
              <a:rPr lang="en-US" altLang="en-US" sz="1400" spc="80">
                <a:solidFill>
                  <a:sysClr val="windowText" lastClr="000000"/>
                </a:solidFill>
                <a:latin typeface="Roboto"/>
                <a:ea typeface="Roboto"/>
                <a:cs typeface="Circular Spotify" panose="020B0604020101020102" pitchFamily="34" charset="-93"/>
              </a:rPr>
              <a:t>Assembly</a:t>
            </a:r>
            <a:endParaRPr lang="en-US" altLang="en-US" sz="1400" b="0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/>
              <a:ea typeface="Roboto"/>
              <a:cs typeface="Circular Spotify" panose="020B0604020101020102" pitchFamily="34" charset="-93"/>
            </a:endParaRPr>
          </a:p>
        </p:txBody>
      </p:sp>
      <p:pic>
        <p:nvPicPr>
          <p:cNvPr id="49" name="Graphic 48" descr="Research with solid fill">
            <a:extLst>
              <a:ext uri="{FF2B5EF4-FFF2-40B4-BE49-F238E27FC236}">
                <a16:creationId xmlns:a16="http://schemas.microsoft.com/office/drawing/2014/main" id="{DD84302B-6FBB-EC36-142D-D0E1E9E12A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01077" y="2519127"/>
            <a:ext cx="672975" cy="574896"/>
          </a:xfrm>
          <a:prstGeom prst="rect">
            <a:avLst/>
          </a:prstGeom>
        </p:spPr>
      </p:pic>
      <p:pic>
        <p:nvPicPr>
          <p:cNvPr id="50" name="Graphic 49" descr="Shooting star with solid fill">
            <a:extLst>
              <a:ext uri="{FF2B5EF4-FFF2-40B4-BE49-F238E27FC236}">
                <a16:creationId xmlns:a16="http://schemas.microsoft.com/office/drawing/2014/main" id="{045E9FB9-B09E-8617-6BC5-AF176506C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34125" y="2156987"/>
            <a:ext cx="627709" cy="55980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B7680B0-145D-8F24-3DB0-CC47B8673B52}"/>
              </a:ext>
            </a:extLst>
          </p:cNvPr>
          <p:cNvSpPr/>
          <p:nvPr/>
        </p:nvSpPr>
        <p:spPr>
          <a:xfrm>
            <a:off x="222739" y="4768605"/>
            <a:ext cx="3842570" cy="1894411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58137E-875B-0817-9D0F-880C28440059}"/>
              </a:ext>
            </a:extLst>
          </p:cNvPr>
          <p:cNvSpPr/>
          <p:nvPr/>
        </p:nvSpPr>
        <p:spPr>
          <a:xfrm>
            <a:off x="9614227" y="253331"/>
            <a:ext cx="1859211" cy="3146681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385F66-DAA7-5D45-E4DF-44CAF3F5D039}"/>
              </a:ext>
            </a:extLst>
          </p:cNvPr>
          <p:cNvSpPr/>
          <p:nvPr/>
        </p:nvSpPr>
        <p:spPr>
          <a:xfrm rot="5400000">
            <a:off x="6306444" y="1501607"/>
            <a:ext cx="3015319" cy="7459788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26B64F1-4646-89B0-4770-1C8A042E74D2}"/>
              </a:ext>
            </a:extLst>
          </p:cNvPr>
          <p:cNvSpPr/>
          <p:nvPr/>
        </p:nvSpPr>
        <p:spPr>
          <a:xfrm>
            <a:off x="450062" y="4248440"/>
            <a:ext cx="1014312" cy="522404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1898388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914AA-F956-B3BF-F0F2-24ED2225D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6CBE9A86-A376-5960-F34C-FC77E0572E7D}"/>
              </a:ext>
            </a:extLst>
          </p:cNvPr>
          <p:cNvSpPr txBox="1"/>
          <p:nvPr/>
        </p:nvSpPr>
        <p:spPr>
          <a:xfrm>
            <a:off x="521346" y="247793"/>
            <a:ext cx="2006318" cy="7169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80" normalizeH="0" baseline="0" noProof="0" dirty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Agenda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937E50-141A-042A-95EF-6A0B79E2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EE45B9-D98E-1C95-C82A-BD90FEFF544C}"/>
              </a:ext>
            </a:extLst>
          </p:cNvPr>
          <p:cNvSpPr txBox="1"/>
          <p:nvPr/>
        </p:nvSpPr>
        <p:spPr>
          <a:xfrm>
            <a:off x="477991" y="1628245"/>
            <a:ext cx="5849678" cy="2882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en-US" sz="2200" b="1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Theory</a:t>
            </a:r>
          </a:p>
          <a:p>
            <a:pPr marL="971550" lvl="1" indent="-51435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2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Long-Read Introduction</a:t>
            </a:r>
          </a:p>
          <a:p>
            <a:pPr marL="971550" lvl="1" indent="-51435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2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Techniques and Platforms</a:t>
            </a:r>
          </a:p>
          <a:p>
            <a:pPr marL="971550" lvl="1" indent="-51435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2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Wet and Dry lab workflows</a:t>
            </a:r>
          </a:p>
          <a:p>
            <a:pPr marL="971550" lvl="1" indent="-51435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2200" dirty="0"/>
              <a:t>Long-Read vs Short-Read Sequencing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C14C4-524D-8755-450E-1AFB8E413F76}"/>
              </a:ext>
            </a:extLst>
          </p:cNvPr>
          <p:cNvSpPr txBox="1"/>
          <p:nvPr/>
        </p:nvSpPr>
        <p:spPr>
          <a:xfrm>
            <a:off x="6260122" y="1628245"/>
            <a:ext cx="5301306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romanUcPeriod" startAt="2"/>
              <a:tabLst/>
              <a:defRPr/>
            </a:pPr>
            <a:r>
              <a:rPr kumimoji="0" lang="en-US" sz="22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Practical Command-line (CLI)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200" dirty="0" err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Unicycler</a:t>
            </a:r>
            <a:r>
              <a:rPr lang="en-US" sz="22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kumimoji="0" lang="en-US" sz="22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  <a:p>
            <a:pPr marL="514350" indent="-514350" algn="just">
              <a:lnSpc>
                <a:spcPct val="150000"/>
              </a:lnSpc>
              <a:spcBef>
                <a:spcPts val="600"/>
              </a:spcBef>
              <a:buFont typeface="+mj-lt"/>
              <a:buAutoNum type="romanUcPeriod" startAt="2"/>
              <a:defRPr/>
            </a:pPr>
            <a:r>
              <a:rPr lang="en-US" sz="2200" b="1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Data Visualization and Manipulation with 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Bandage</a:t>
            </a:r>
            <a:endParaRPr kumimoji="0" lang="en-US" sz="22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Footer Placeholder 65">
            <a:extLst>
              <a:ext uri="{FF2B5EF4-FFF2-40B4-BE49-F238E27FC236}">
                <a16:creationId xmlns:a16="http://schemas.microsoft.com/office/drawing/2014/main" id="{1C9BDDA9-50E4-1261-EFA4-489E11D0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3967753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2.2: </a:t>
            </a:r>
            <a:r>
              <a:rPr lang="en-VN" dirty="0">
                <a:solidFill>
                  <a:schemeClr val="tx1"/>
                </a:solidFill>
              </a:rPr>
              <a:t>Long-Read Sequencing - Hybrid Assembly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1672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DFA71-1BFF-9E79-C954-EA74276B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41E826F-6E8C-0407-DF3F-748DB03D312E}"/>
              </a:ext>
            </a:extLst>
          </p:cNvPr>
          <p:cNvSpPr txBox="1"/>
          <p:nvPr/>
        </p:nvSpPr>
        <p:spPr>
          <a:xfrm>
            <a:off x="4731363" y="2951537"/>
            <a:ext cx="2729273" cy="709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857250" marR="0" lvl="0" indent="-85725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sz="4000" b="1" i="0" u="none" strike="noStrike" kern="1200" cap="none" spc="80" normalizeH="0" baseline="0" noProof="0" dirty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</a:rPr>
              <a:t>Theory</a:t>
            </a:r>
          </a:p>
        </p:txBody>
      </p:sp>
      <p:sp>
        <p:nvSpPr>
          <p:cNvPr id="3" name="Footer Placeholder 65">
            <a:extLst>
              <a:ext uri="{FF2B5EF4-FFF2-40B4-BE49-F238E27FC236}">
                <a16:creationId xmlns:a16="http://schemas.microsoft.com/office/drawing/2014/main" id="{5CB3DA80-09D7-1A42-3399-21B020DAF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3967753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2.2: </a:t>
            </a:r>
            <a:r>
              <a:rPr lang="en-VN" dirty="0">
                <a:solidFill>
                  <a:schemeClr val="tx1"/>
                </a:solidFill>
              </a:rPr>
              <a:t>Long-Read Sequencing - Hybrid Assembly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625ACF-4AF7-40D6-44C7-68C9FB18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27748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F6ECE-A8DC-883D-6DCD-4F719FE3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EEA97441-58AE-0C6D-959B-9231363CB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3967753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2.2: </a:t>
            </a:r>
            <a:r>
              <a:rPr lang="en-VN" dirty="0">
                <a:solidFill>
                  <a:schemeClr val="tx1"/>
                </a:solidFill>
              </a:rPr>
              <a:t>Long-Read Sequencing - Hybrid Assembly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DC36F6-DF92-CCE0-D4A2-6A133EABC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F6FC77-4A39-A6C3-337D-50D0AF1C94CA}"/>
              </a:ext>
            </a:extLst>
          </p:cNvPr>
          <p:cNvSpPr txBox="1"/>
          <p:nvPr/>
        </p:nvSpPr>
        <p:spPr>
          <a:xfrm>
            <a:off x="379276" y="22427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Theory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74B442-AA75-9EA9-1306-ACADB65D52A7}"/>
              </a:ext>
            </a:extLst>
          </p:cNvPr>
          <p:cNvSpPr txBox="1"/>
          <p:nvPr/>
        </p:nvSpPr>
        <p:spPr>
          <a:xfrm>
            <a:off x="375269" y="672842"/>
            <a:ext cx="9820384" cy="5945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8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ysClr val="windowText" lastClr="000000"/>
                </a:solidFill>
              </a:rPr>
              <a:t>Long-Read Introduction</a:t>
            </a:r>
            <a:endParaRPr kumimoji="0" lang="en-US" sz="4000" b="1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Roboto" panose="02000000000000000000" pitchFamily="2" charset="0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4AFC1-68E0-F32B-1AEA-D1E64AF07759}"/>
              </a:ext>
            </a:extLst>
          </p:cNvPr>
          <p:cNvPicPr>
            <a:picLocks noChangeAspect="1"/>
          </p:cNvPicPr>
          <p:nvPr/>
        </p:nvPicPr>
        <p:blipFill>
          <a:blip/>
          <a:srcRect t="14249" b="19920"/>
          <a:stretch>
            <a:fillRect/>
          </a:stretch>
        </p:blipFill>
        <p:spPr>
          <a:xfrm>
            <a:off x="6736163" y="4404851"/>
            <a:ext cx="4832428" cy="17894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D6CF17-8779-F280-65A1-6439B3BFE4B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736164" y="740434"/>
            <a:ext cx="4746720" cy="330084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8725EAD-BE4B-7425-11BF-63C179E7A7DE}"/>
              </a:ext>
            </a:extLst>
          </p:cNvPr>
          <p:cNvGrpSpPr/>
          <p:nvPr/>
        </p:nvGrpSpPr>
        <p:grpSpPr>
          <a:xfrm>
            <a:off x="1098853" y="1896409"/>
            <a:ext cx="4564834" cy="2335105"/>
            <a:chOff x="966172" y="1757393"/>
            <a:chExt cx="4564834" cy="233510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2447531-0709-9C47-6544-624E762EECB4}"/>
                </a:ext>
              </a:extLst>
            </p:cNvPr>
            <p:cNvGrpSpPr/>
            <p:nvPr/>
          </p:nvGrpSpPr>
          <p:grpSpPr>
            <a:xfrm>
              <a:off x="966172" y="1757393"/>
              <a:ext cx="4564834" cy="2335105"/>
              <a:chOff x="884863" y="2192798"/>
              <a:chExt cx="5447378" cy="3262836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2536808B-9BE5-13C1-249B-DFB4E0D371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rcRect t="12839"/>
              <a:stretch>
                <a:fillRect/>
              </a:stretch>
            </p:blipFill>
            <p:spPr>
              <a:xfrm>
                <a:off x="884863" y="2192798"/>
                <a:ext cx="5447378" cy="3262836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2491D8A0-21DA-455F-522C-321F90D03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rcRect l="15879" t="36070" r="78235" b="46275"/>
              <a:stretch>
                <a:fillRect/>
              </a:stretch>
            </p:blipFill>
            <p:spPr>
              <a:xfrm>
                <a:off x="5235673" y="3063387"/>
                <a:ext cx="320633" cy="660889"/>
              </a:xfrm>
              <a:prstGeom prst="rect">
                <a:avLst/>
              </a:prstGeom>
            </p:spPr>
          </p:pic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0A14B6D-422E-D296-3AAB-C0900A3AB053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 l="43127" t="86376" r="33138" b="3285"/>
            <a:stretch>
              <a:fillRect/>
            </a:stretch>
          </p:blipFill>
          <p:spPr>
            <a:xfrm>
              <a:off x="3392879" y="3303542"/>
              <a:ext cx="969694" cy="331941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5D0028B-80D2-D4D9-545A-40D738B3C2D7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 l="53237" t="70360" r="25027" b="16011"/>
            <a:stretch>
              <a:fillRect/>
            </a:stretch>
          </p:blipFill>
          <p:spPr>
            <a:xfrm>
              <a:off x="2862910" y="3635483"/>
              <a:ext cx="926099" cy="340786"/>
            </a:xfrm>
            <a:prstGeom prst="rect">
              <a:avLst/>
            </a:prstGeom>
          </p:spPr>
        </p:pic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A97969-1FFD-689B-3E54-00AE8D04D719}"/>
              </a:ext>
            </a:extLst>
          </p:cNvPr>
          <p:cNvCxnSpPr>
            <a:cxnSpLocks/>
          </p:cNvCxnSpPr>
          <p:nvPr/>
        </p:nvCxnSpPr>
        <p:spPr>
          <a:xfrm>
            <a:off x="9131257" y="4063002"/>
            <a:ext cx="0" cy="337024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577763E-CA3A-C6E1-5B34-25042122A4F5}"/>
              </a:ext>
            </a:extLst>
          </p:cNvPr>
          <p:cNvSpPr txBox="1"/>
          <p:nvPr/>
        </p:nvSpPr>
        <p:spPr>
          <a:xfrm>
            <a:off x="8455229" y="6215876"/>
            <a:ext cx="15880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prstClr val="black"/>
                </a:solidFill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10.1038/nbt.3423</a:t>
            </a:r>
            <a:endParaRPr lang="en-VN" sz="1200" i="1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F4A07E-F4F6-ABF8-DE3A-2DF40AD0FF08}"/>
              </a:ext>
            </a:extLst>
          </p:cNvPr>
          <p:cNvSpPr txBox="1"/>
          <p:nvPr/>
        </p:nvSpPr>
        <p:spPr>
          <a:xfrm>
            <a:off x="7117471" y="476893"/>
            <a:ext cx="8301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1F1F1F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David Deamer’s original notebook sketch, 1989 </a:t>
            </a:r>
            <a:endParaRPr lang="en-VN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07DE98-F807-4269-063F-A56FD58A319B}"/>
              </a:ext>
            </a:extLst>
          </p:cNvPr>
          <p:cNvSpPr txBox="1"/>
          <p:nvPr/>
        </p:nvSpPr>
        <p:spPr>
          <a:xfrm>
            <a:off x="1769461" y="4353921"/>
            <a:ext cx="3512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1F1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History of DNA sequencing</a:t>
            </a:r>
            <a:endParaRPr lang="en-VN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85524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3DE49-D00D-AA97-4EDC-27AB563A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5EDD06D5-36C4-5EBD-B87F-2D8891215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3967753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2.2: </a:t>
            </a:r>
            <a:r>
              <a:rPr lang="en-VN" dirty="0">
                <a:solidFill>
                  <a:schemeClr val="tx1"/>
                </a:solidFill>
              </a:rPr>
              <a:t>Long-Read Sequencing - Hybrid Assembly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1DDEB4-B3FB-3215-D5C8-7973460A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5A94E-C1C4-44F2-CBC1-F1E5EBFAAE5E}"/>
              </a:ext>
            </a:extLst>
          </p:cNvPr>
          <p:cNvSpPr txBox="1"/>
          <p:nvPr/>
        </p:nvSpPr>
        <p:spPr>
          <a:xfrm>
            <a:off x="379276" y="23062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Theory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D79C14-80F8-3B71-8996-87DF1BB5CF37}"/>
              </a:ext>
            </a:extLst>
          </p:cNvPr>
          <p:cNvSpPr txBox="1"/>
          <p:nvPr/>
        </p:nvSpPr>
        <p:spPr>
          <a:xfrm>
            <a:off x="375269" y="360644"/>
            <a:ext cx="9820384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dirty="0">
                <a:solidFill>
                  <a:prstClr val="black"/>
                </a:solidFill>
              </a:rPr>
              <a:t>Techniques and Platforms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D1DBFC-BE66-48ED-DAA0-CB044FC4E79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85900" y="1589976"/>
            <a:ext cx="6179696" cy="3878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D9D566-684C-1A2E-056D-A9D403CDF321}"/>
              </a:ext>
            </a:extLst>
          </p:cNvPr>
          <p:cNvPicPr>
            <a:picLocks noChangeAspect="1"/>
          </p:cNvPicPr>
          <p:nvPr/>
        </p:nvPicPr>
        <p:blipFill>
          <a:blip/>
          <a:srcRect l="14030" r="41387"/>
          <a:stretch>
            <a:fillRect/>
          </a:stretch>
        </p:blipFill>
        <p:spPr>
          <a:xfrm>
            <a:off x="7005689" y="662663"/>
            <a:ext cx="4144299" cy="2573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FC9993-6B4F-244F-73F9-76459997321E}"/>
              </a:ext>
            </a:extLst>
          </p:cNvPr>
          <p:cNvSpPr txBox="1"/>
          <p:nvPr/>
        </p:nvSpPr>
        <p:spPr>
          <a:xfrm>
            <a:off x="-440094" y="5638877"/>
            <a:ext cx="70056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b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Illustration of nanopore</a:t>
            </a:r>
          </a:p>
          <a:p>
            <a:pPr algn="ctr">
              <a:defRPr/>
            </a:pPr>
            <a:r>
              <a:rPr lang="en-US" sz="1400" i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(https://</a:t>
            </a:r>
            <a:r>
              <a:rPr lang="en-US" sz="1400" i="1" dirty="0" err="1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www.goldengooseaward.org</a:t>
            </a:r>
            <a:r>
              <a:rPr lang="en-US" sz="1400" i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/) 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en-US" sz="14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4D1555-7BCB-9E41-E7BB-3797193A3DE1}"/>
              </a:ext>
            </a:extLst>
          </p:cNvPr>
          <p:cNvPicPr>
            <a:picLocks noChangeAspect="1"/>
          </p:cNvPicPr>
          <p:nvPr/>
        </p:nvPicPr>
        <p:blipFill>
          <a:blip/>
          <a:srcRect l="57587" t="18551" r="30429"/>
          <a:stretch>
            <a:fillRect/>
          </a:stretch>
        </p:blipFill>
        <p:spPr>
          <a:xfrm>
            <a:off x="7005689" y="3784338"/>
            <a:ext cx="1042012" cy="19603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393B1B-3EB3-2A14-A177-8CA8A06110C6}"/>
              </a:ext>
            </a:extLst>
          </p:cNvPr>
          <p:cNvPicPr>
            <a:picLocks noChangeAspect="1"/>
          </p:cNvPicPr>
          <p:nvPr/>
        </p:nvPicPr>
        <p:blipFill>
          <a:blip/>
          <a:srcRect l="71070"/>
          <a:stretch>
            <a:fillRect/>
          </a:stretch>
        </p:blipFill>
        <p:spPr>
          <a:xfrm>
            <a:off x="8557066" y="3171618"/>
            <a:ext cx="2689211" cy="257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0744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A4F61-87EA-C102-A75E-D6D291AF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54D4206D-03A0-D2EB-D67D-96A69E47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3967753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2.2: </a:t>
            </a:r>
            <a:r>
              <a:rPr lang="en-VN" dirty="0">
                <a:solidFill>
                  <a:schemeClr val="tx1"/>
                </a:solidFill>
              </a:rPr>
              <a:t>Long-Read Sequencing - Hybrid Assembly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19D6FA-529D-90AE-A752-9979F40D4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D5517C-1AA5-4A64-B5C3-8BC595062FDF}"/>
              </a:ext>
            </a:extLst>
          </p:cNvPr>
          <p:cNvSpPr txBox="1"/>
          <p:nvPr/>
        </p:nvSpPr>
        <p:spPr>
          <a:xfrm>
            <a:off x="379276" y="22427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Theory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7297A8-D441-73DA-B062-39E8B1C2DC78}"/>
              </a:ext>
            </a:extLst>
          </p:cNvPr>
          <p:cNvSpPr txBox="1"/>
          <p:nvPr/>
        </p:nvSpPr>
        <p:spPr>
          <a:xfrm>
            <a:off x="379276" y="655379"/>
            <a:ext cx="9820384" cy="5945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8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ysClr val="windowText" lastClr="000000"/>
                </a:solidFill>
              </a:rPr>
              <a:t>Why do we need Long-Read?</a:t>
            </a:r>
            <a:endParaRPr kumimoji="0" lang="en-US" sz="4000" b="1" i="0" u="none" strike="noStrike" kern="1200" cap="none" spc="8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Roboto" panose="02000000000000000000" pitchFamily="2" charset="0"/>
              <a:cs typeface="+mj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9F46F1-EF84-2551-2F96-AE8978BFD69A}"/>
              </a:ext>
            </a:extLst>
          </p:cNvPr>
          <p:cNvSpPr txBox="1">
            <a:spLocks/>
          </p:cNvSpPr>
          <p:nvPr/>
        </p:nvSpPr>
        <p:spPr>
          <a:xfrm>
            <a:off x="570807" y="2304463"/>
            <a:ext cx="6795193" cy="286146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Faster and simpler workflows </a:t>
            </a:r>
            <a:r>
              <a:rPr lang="en-VN" dirty="0">
                <a:solidFill>
                  <a:schemeClr val="tx1"/>
                </a:solidFill>
              </a:rPr>
              <a:t>(Outbreak response – Ebola, COVID, Hantavirus,…)</a:t>
            </a:r>
          </a:p>
          <a:p>
            <a:endParaRPr lang="en-VN" dirty="0">
              <a:solidFill>
                <a:schemeClr val="tx1"/>
              </a:solidFill>
            </a:endParaRPr>
          </a:p>
          <a:p>
            <a:endParaRPr lang="en-VN" dirty="0">
              <a:solidFill>
                <a:schemeClr val="tx1"/>
              </a:solidFill>
            </a:endParaRPr>
          </a:p>
          <a:p>
            <a:endParaRPr lang="en-VN" dirty="0">
              <a:solidFill>
                <a:schemeClr val="tx1"/>
              </a:solidFill>
            </a:endParaRPr>
          </a:p>
          <a:p>
            <a:r>
              <a:rPr lang="en-VN" dirty="0">
                <a:solidFill>
                  <a:schemeClr val="tx1"/>
                </a:solidFill>
              </a:rPr>
              <a:t>Complete bacterial genome (AMR-carrying plasmid, VF-carrying plasmid,…), </a:t>
            </a:r>
            <a:r>
              <a:rPr lang="en-US" dirty="0">
                <a:solidFill>
                  <a:schemeClr val="tx1"/>
                </a:solidFill>
              </a:rPr>
              <a:t>plasmid population diversity</a:t>
            </a:r>
            <a:endParaRPr lang="en-VN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88A493-8820-1D56-5C1B-F62B79F9A44D}"/>
              </a:ext>
            </a:extLst>
          </p:cNvPr>
          <p:cNvPicPr>
            <a:picLocks noChangeAspect="1"/>
          </p:cNvPicPr>
          <p:nvPr/>
        </p:nvPicPr>
        <p:blipFill>
          <a:blip/>
          <a:srcRect l="54393" t="3650"/>
          <a:stretch>
            <a:fillRect/>
          </a:stretch>
        </p:blipFill>
        <p:spPr>
          <a:xfrm>
            <a:off x="7620000" y="1249901"/>
            <a:ext cx="3872856" cy="44648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8392F3-61DC-12C1-6586-F63AD192C2BA}"/>
              </a:ext>
            </a:extLst>
          </p:cNvPr>
          <p:cNvSpPr txBox="1"/>
          <p:nvPr/>
        </p:nvSpPr>
        <p:spPr>
          <a:xfrm>
            <a:off x="8579846" y="5826823"/>
            <a:ext cx="218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prstClr val="black"/>
                </a:solidFill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10.3389/fmicb.2022.852596</a:t>
            </a:r>
            <a:endParaRPr lang="en-US" sz="1200" i="1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4888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5BB2-94CC-6F1B-8586-56CA9BD61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51EF7950-8302-5A32-5745-BB446C5D4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3967753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2.2: </a:t>
            </a:r>
            <a:r>
              <a:rPr lang="en-VN" dirty="0">
                <a:solidFill>
                  <a:schemeClr val="tx1"/>
                </a:solidFill>
              </a:rPr>
              <a:t>Long-Read Sequencing - Hybrid Assembly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F59098-7179-4430-6EC5-A4D25334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1647DA-3F96-2BD1-EB6D-B2643BE7FC75}"/>
              </a:ext>
            </a:extLst>
          </p:cNvPr>
          <p:cNvSpPr txBox="1"/>
          <p:nvPr/>
        </p:nvSpPr>
        <p:spPr>
          <a:xfrm>
            <a:off x="379276" y="23062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Theory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B91BE1-5D7C-1DF0-3AEE-E52D3FDECCAC}"/>
              </a:ext>
            </a:extLst>
          </p:cNvPr>
          <p:cNvSpPr txBox="1"/>
          <p:nvPr/>
        </p:nvSpPr>
        <p:spPr>
          <a:xfrm>
            <a:off x="375269" y="360644"/>
            <a:ext cx="13256064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dirty="0">
                <a:solidFill>
                  <a:prstClr val="black"/>
                </a:solidFill>
              </a:rPr>
              <a:t>Long-Read vs Short-Read Sequencing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599F34-0C04-F9F9-6E1F-C0C962FA02F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2799" y="1606200"/>
            <a:ext cx="9719047" cy="413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9285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13F7F-14EE-F20C-1AD8-F9B64164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7B1FE69C-A6EC-8DBF-6171-BEF839FA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3967753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2.2: </a:t>
            </a:r>
            <a:r>
              <a:rPr lang="en-VN" dirty="0">
                <a:solidFill>
                  <a:schemeClr val="tx1"/>
                </a:solidFill>
              </a:rPr>
              <a:t>Long-Read Sequencing - Hybrid Assembly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56A753-7A1A-0F84-DDC8-33CA2C96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2C47B3-84AD-BAE8-8025-C7F24E8F70CC}"/>
              </a:ext>
            </a:extLst>
          </p:cNvPr>
          <p:cNvSpPr txBox="1"/>
          <p:nvPr/>
        </p:nvSpPr>
        <p:spPr>
          <a:xfrm>
            <a:off x="379276" y="23062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Theory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B12C3C-B741-C8C4-3A3E-9B55E9D7FDDA}"/>
              </a:ext>
            </a:extLst>
          </p:cNvPr>
          <p:cNvSpPr txBox="1"/>
          <p:nvPr/>
        </p:nvSpPr>
        <p:spPr>
          <a:xfrm>
            <a:off x="375269" y="360644"/>
            <a:ext cx="13256064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dirty="0">
                <a:solidFill>
                  <a:prstClr val="black"/>
                </a:solidFill>
              </a:rPr>
              <a:t>Long-Read vs Short-Read Sequencing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1D5A34-7EDD-6ADE-3FB8-FBB34F4B76D4}"/>
              </a:ext>
            </a:extLst>
          </p:cNvPr>
          <p:cNvSpPr txBox="1"/>
          <p:nvPr/>
        </p:nvSpPr>
        <p:spPr>
          <a:xfrm>
            <a:off x="1289953" y="5232315"/>
            <a:ext cx="5178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600" i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10.1038/s41598-022-07557-x</a:t>
            </a:r>
          </a:p>
          <a:p>
            <a:pPr algn="ctr">
              <a:defRPr/>
            </a:pPr>
            <a:r>
              <a:rPr kumimoji="0" lang="en-US" sz="16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en-US" sz="16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68559D-D360-6B64-2469-19AA1648DDF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61224" y="1508554"/>
            <a:ext cx="6436323" cy="357938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560E601-8C38-8D59-B70B-4BF377236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610733"/>
              </p:ext>
            </p:extLst>
          </p:nvPr>
        </p:nvGraphicFramePr>
        <p:xfrm>
          <a:off x="7200095" y="1522056"/>
          <a:ext cx="4521201" cy="3565881"/>
        </p:xfrm>
        <a:graphic>
          <a:graphicData uri="http://schemas.openxmlformats.org/drawingml/2006/table">
            <a:tbl>
              <a:tblPr/>
              <a:tblGrid>
                <a:gridCol w="1507067">
                  <a:extLst>
                    <a:ext uri="{9D8B030D-6E8A-4147-A177-3AD203B41FA5}">
                      <a16:colId xmlns:a16="http://schemas.microsoft.com/office/drawing/2014/main" val="2767523003"/>
                    </a:ext>
                  </a:extLst>
                </a:gridCol>
                <a:gridCol w="1507067">
                  <a:extLst>
                    <a:ext uri="{9D8B030D-6E8A-4147-A177-3AD203B41FA5}">
                      <a16:colId xmlns:a16="http://schemas.microsoft.com/office/drawing/2014/main" val="2326588407"/>
                    </a:ext>
                  </a:extLst>
                </a:gridCol>
                <a:gridCol w="1507067">
                  <a:extLst>
                    <a:ext uri="{9D8B030D-6E8A-4147-A177-3AD203B41FA5}">
                      <a16:colId xmlns:a16="http://schemas.microsoft.com/office/drawing/2014/main" val="360867179"/>
                    </a:ext>
                  </a:extLst>
                </a:gridCol>
              </a:tblGrid>
              <a:tr h="627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Short-Read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Long-Read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892142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Read 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100–300 bp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5 kb → 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672886"/>
                  </a:ext>
                </a:extLst>
              </a:tr>
              <a:tr h="627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Raw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VN" sz="1800" dirty="0">
                          <a:solidFill>
                            <a:srgbClr val="FF0000"/>
                          </a:solidFill>
                        </a:rPr>
                        <a:t>~99.9%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VN" sz="1800" dirty="0"/>
                        <a:t>~95–98%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449286"/>
                  </a:ext>
                </a:extLst>
              </a:tr>
              <a:tr h="627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Cost per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low–medium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163487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Throughput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scalable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033218"/>
                  </a:ext>
                </a:extLst>
              </a:tr>
              <a:tr h="513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Flexibility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598446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Real-time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905226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E92AE6-E00F-0D4C-9FD1-0F9A50BD28F4}"/>
              </a:ext>
            </a:extLst>
          </p:cNvPr>
          <p:cNvCxnSpPr>
            <a:cxnSpLocks/>
          </p:cNvCxnSpPr>
          <p:nvPr/>
        </p:nvCxnSpPr>
        <p:spPr>
          <a:xfrm>
            <a:off x="9460695" y="5344609"/>
            <a:ext cx="0" cy="34624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46666254-3FB2-6C90-71FB-593536F9E406}"/>
              </a:ext>
            </a:extLst>
          </p:cNvPr>
          <p:cNvSpPr txBox="1">
            <a:spLocks/>
          </p:cNvSpPr>
          <p:nvPr/>
        </p:nvSpPr>
        <p:spPr>
          <a:xfrm>
            <a:off x="8068434" y="5360759"/>
            <a:ext cx="34023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VN" sz="2800" dirty="0"/>
              <a:t>Hybrid assembly</a:t>
            </a:r>
          </a:p>
        </p:txBody>
      </p:sp>
    </p:spTree>
    <p:extLst>
      <p:ext uri="{BB962C8B-B14F-4D97-AF65-F5344CB8AC3E}">
        <p14:creationId xmlns:p14="http://schemas.microsoft.com/office/powerpoint/2010/main" val="219709965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18456-287C-F487-F89E-BEF9C37BE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93C8A789-BFBD-6413-97E7-A1D63B250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3967753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2.2: </a:t>
            </a:r>
            <a:r>
              <a:rPr lang="en-VN" dirty="0">
                <a:solidFill>
                  <a:schemeClr val="tx1"/>
                </a:solidFill>
              </a:rPr>
              <a:t>Long-Read Sequencing - Hybrid Assembly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B7E46D-DC10-2D87-9B30-BAF10DA6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45129C-57D6-2237-24D1-92C98A9422DB}"/>
              </a:ext>
            </a:extLst>
          </p:cNvPr>
          <p:cNvSpPr txBox="1"/>
          <p:nvPr/>
        </p:nvSpPr>
        <p:spPr>
          <a:xfrm>
            <a:off x="379276" y="23062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Theory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82F362-364E-EF67-CA4C-8DE1CB7EC21B}"/>
              </a:ext>
            </a:extLst>
          </p:cNvPr>
          <p:cNvSpPr txBox="1"/>
          <p:nvPr/>
        </p:nvSpPr>
        <p:spPr>
          <a:xfrm>
            <a:off x="375269" y="360644"/>
            <a:ext cx="9820384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dirty="0">
                <a:solidFill>
                  <a:prstClr val="black"/>
                </a:solidFill>
              </a:rPr>
              <a:t>Wet and Dry lab workflows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9D32C9-216D-81D5-E5DC-CE6FFE7CDD78}"/>
              </a:ext>
            </a:extLst>
          </p:cNvPr>
          <p:cNvSpPr txBox="1"/>
          <p:nvPr/>
        </p:nvSpPr>
        <p:spPr>
          <a:xfrm>
            <a:off x="3170654" y="5258568"/>
            <a:ext cx="587086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50" b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N50 value </a:t>
            </a:r>
            <a:r>
              <a:rPr lang="en-US" sz="1650" i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(10.1371/journal.pcbi.1010752) </a:t>
            </a:r>
            <a:r>
              <a:rPr kumimoji="0" lang="en-US" sz="165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</a:t>
            </a:r>
            <a:endParaRPr kumimoji="0" lang="en-US" sz="165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E911E8-9BA4-E473-3F8C-F3D6BD2078D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03363" y="1253183"/>
            <a:ext cx="6014378" cy="48291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D8A447-10FC-8582-9709-73A84E6B5227}"/>
              </a:ext>
            </a:extLst>
          </p:cNvPr>
          <p:cNvSpPr txBox="1"/>
          <p:nvPr/>
        </p:nvSpPr>
        <p:spPr>
          <a:xfrm>
            <a:off x="5082207" y="6082374"/>
            <a:ext cx="26566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prstClr val="black"/>
                </a:solidFill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10.1515/ntrev-2022-0036</a:t>
            </a:r>
            <a:endParaRPr lang="en-VN" sz="1600" i="1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45835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50024-1E4C-C64E-AE48-18DE7B83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BC9D24BA-AC59-45A6-D763-E336E41CCB88}"/>
              </a:ext>
            </a:extLst>
          </p:cNvPr>
          <p:cNvSpPr txBox="1"/>
          <p:nvPr/>
        </p:nvSpPr>
        <p:spPr>
          <a:xfrm>
            <a:off x="2013632" y="3074031"/>
            <a:ext cx="8164736" cy="709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857250" marR="0" lvl="0" indent="-85725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romanUcPeriod" startAt="2"/>
              <a:tabLst/>
              <a:defRPr/>
            </a:pPr>
            <a:r>
              <a:rPr kumimoji="0" lang="en-US" sz="4000" b="1" i="0" u="none" strike="noStrike" kern="1200" cap="none" spc="80" normalizeH="0" baseline="0" noProof="0" dirty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</a:rPr>
              <a:t>Practical Command-line (CLI)</a:t>
            </a:r>
          </a:p>
        </p:txBody>
      </p:sp>
      <p:sp>
        <p:nvSpPr>
          <p:cNvPr id="3" name="Footer Placeholder 65">
            <a:extLst>
              <a:ext uri="{FF2B5EF4-FFF2-40B4-BE49-F238E27FC236}">
                <a16:creationId xmlns:a16="http://schemas.microsoft.com/office/drawing/2014/main" id="{AFD58395-020D-2EC7-CBA0-A73ACD23A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3967753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2.2: </a:t>
            </a:r>
            <a:r>
              <a:rPr lang="en-VN" dirty="0">
                <a:solidFill>
                  <a:schemeClr val="tx1"/>
                </a:solidFill>
              </a:rPr>
              <a:t>Long-Read Sequencing - Hybrid Assembly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6CD813-3C0A-FD06-6273-3BC9811A9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19111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D818-7A1B-C0D5-BEFF-1AEFD936E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5">
            <a:extLst>
              <a:ext uri="{FF2B5EF4-FFF2-40B4-BE49-F238E27FC236}">
                <a16:creationId xmlns:a16="http://schemas.microsoft.com/office/drawing/2014/main" id="{2256BBDC-8DD4-008F-F3FE-51E544870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3967753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2.2: </a:t>
            </a:r>
            <a:r>
              <a:rPr lang="en-VN" dirty="0">
                <a:solidFill>
                  <a:schemeClr val="tx1"/>
                </a:solidFill>
              </a:rPr>
              <a:t>Long-Read Sequencing - Hybrid Assembly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FA1DE4-AAF3-74A1-9C13-3EAE00BB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D4FDBF-B3A0-0E8A-62F2-F6744123AF4C}"/>
              </a:ext>
            </a:extLst>
          </p:cNvPr>
          <p:cNvSpPr txBox="1"/>
          <p:nvPr/>
        </p:nvSpPr>
        <p:spPr>
          <a:xfrm>
            <a:off x="379276" y="230622"/>
            <a:ext cx="10568823" cy="4320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80" normalizeH="0" baseline="0" noProof="0" dirty="0">
                <a:ln>
                  <a:noFill/>
                </a:ln>
                <a:solidFill>
                  <a:srgbClr val="5F8FB3"/>
                </a:solidFill>
                <a:effectLst/>
                <a:uLnTx/>
                <a:uFillTx/>
                <a:ea typeface="Roboto" panose="02000000000000000000" pitchFamily="2" charset="0"/>
                <a:cs typeface="+mj-cs"/>
              </a:rPr>
              <a:t>Practical Command-line (CLI)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1BECEC-D311-868E-064F-915888FDAEF4}"/>
              </a:ext>
            </a:extLst>
          </p:cNvPr>
          <p:cNvSpPr txBox="1"/>
          <p:nvPr/>
        </p:nvSpPr>
        <p:spPr>
          <a:xfrm>
            <a:off x="375269" y="547645"/>
            <a:ext cx="12256998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dirty="0">
                <a:solidFill>
                  <a:prstClr val="black"/>
                </a:solidFill>
              </a:rPr>
              <a:t>Hybrid Assembly – </a:t>
            </a:r>
            <a:r>
              <a:rPr lang="en-US" sz="4000" dirty="0" err="1">
                <a:solidFill>
                  <a:schemeClr val="accent1">
                    <a:lumMod val="50000"/>
                  </a:schemeClr>
                </a:solidFill>
              </a:rPr>
              <a:t>unicycler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1E3A31-7927-6AC5-F871-451C79C1FEB1}"/>
              </a:ext>
            </a:extLst>
          </p:cNvPr>
          <p:cNvSpPr txBox="1"/>
          <p:nvPr/>
        </p:nvSpPr>
        <p:spPr>
          <a:xfrm>
            <a:off x="747750" y="3598132"/>
            <a:ext cx="8293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https://</a:t>
            </a:r>
            <a:r>
              <a:rPr lang="en-US" b="1" u="sng" dirty="0" err="1">
                <a:solidFill>
                  <a:srgbClr val="FF0000"/>
                </a:solidFill>
              </a:rPr>
              <a:t>github.com</a:t>
            </a:r>
            <a:r>
              <a:rPr lang="en-US" b="1" u="sng" dirty="0"/>
              <a:t>/</a:t>
            </a:r>
            <a:r>
              <a:rPr lang="en-US" b="1" u="sng" dirty="0" err="1"/>
              <a:t>rrwick</a:t>
            </a:r>
            <a:r>
              <a:rPr lang="en-US" b="1" u="sng" dirty="0"/>
              <a:t>/</a:t>
            </a:r>
            <a:r>
              <a:rPr lang="en-US" b="1" u="sng" dirty="0" err="1"/>
              <a:t>unicycler</a:t>
            </a:r>
            <a:endParaRPr lang="en-VN" b="1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9B0183-82CB-2D81-9348-B7CF08CDFA7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663687" y="2772089"/>
            <a:ext cx="5507629" cy="202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3987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7FF8-7558-1393-B7BF-103BAF60F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E2D1370-74B0-3E86-8DCB-86FBDD49F08B}"/>
              </a:ext>
            </a:extLst>
          </p:cNvPr>
          <p:cNvSpPr txBox="1"/>
          <p:nvPr/>
        </p:nvSpPr>
        <p:spPr>
          <a:xfrm>
            <a:off x="1261499" y="2368091"/>
            <a:ext cx="10930501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marL="571500" indent="-571500" algn="just">
              <a:lnSpc>
                <a:spcPct val="150000"/>
              </a:lnSpc>
              <a:spcBef>
                <a:spcPts val="600"/>
              </a:spcBef>
              <a:buFont typeface="+mj-lt"/>
              <a:buAutoNum type="romanUcPeriod" startAt="3"/>
              <a:defRPr/>
            </a:pPr>
            <a:r>
              <a:rPr lang="en-US" sz="4000" dirty="0">
                <a:solidFill>
                  <a:prstClr val="black"/>
                </a:solidFill>
              </a:rPr>
              <a:t>   Data Visualization and Manipulation</a:t>
            </a:r>
            <a:endParaRPr lang="en-US" sz="4000" spc="0" dirty="0"/>
          </a:p>
        </p:txBody>
      </p:sp>
      <p:sp>
        <p:nvSpPr>
          <p:cNvPr id="3" name="Footer Placeholder 65">
            <a:extLst>
              <a:ext uri="{FF2B5EF4-FFF2-40B4-BE49-F238E27FC236}">
                <a16:creationId xmlns:a16="http://schemas.microsoft.com/office/drawing/2014/main" id="{C95985FE-4B3C-D817-B734-8A1F210D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709" y="6511538"/>
            <a:ext cx="3967753" cy="276999"/>
          </a:xfr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dirty="0"/>
              <a:t>Module 2.2: </a:t>
            </a:r>
            <a:r>
              <a:rPr lang="en-VN" dirty="0">
                <a:solidFill>
                  <a:schemeClr val="tx1"/>
                </a:solidFill>
              </a:rPr>
              <a:t>Long-Read Sequencing - Hybrid Assembly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2A590E-8CB1-7BBE-7E68-1B36E50D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518" y="649287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F55963-6440-4C45-BA09-4E6A99D1BBE0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619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6193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A8E4A-9A4C-C4B6-E9A9-32D2287788B2}"/>
              </a:ext>
            </a:extLst>
          </p:cNvPr>
          <p:cNvSpPr txBox="1"/>
          <p:nvPr/>
        </p:nvSpPr>
        <p:spPr>
          <a:xfrm>
            <a:off x="3408587" y="3429000"/>
            <a:ext cx="6187146" cy="9130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700" b="1" spc="80">
                <a:solidFill>
                  <a:srgbClr val="020D26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4000" spc="0" dirty="0">
                <a:solidFill>
                  <a:schemeClr val="accent4">
                    <a:lumMod val="50000"/>
                  </a:schemeClr>
                </a:solidFill>
              </a:rPr>
              <a:t>Bandage / </a:t>
            </a:r>
            <a:r>
              <a:rPr lang="en-US" sz="4000" spc="0" dirty="0" err="1">
                <a:solidFill>
                  <a:schemeClr val="accent4">
                    <a:lumMod val="50000"/>
                  </a:schemeClr>
                </a:solidFill>
              </a:rPr>
              <a:t>BandageNG</a:t>
            </a:r>
            <a:endParaRPr lang="en-US" sz="4000" spc="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61194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1E7">
            <a:alpha val="85098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87126-850C-1B0D-C84F-E07084E7D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A2E605-28A3-E51D-BACE-3327E350254E}"/>
              </a:ext>
            </a:extLst>
          </p:cNvPr>
          <p:cNvCxnSpPr>
            <a:cxnSpLocks/>
          </p:cNvCxnSpPr>
          <p:nvPr/>
        </p:nvCxnSpPr>
        <p:spPr>
          <a:xfrm>
            <a:off x="4170983" y="5786306"/>
            <a:ext cx="4043916" cy="0"/>
          </a:xfrm>
          <a:prstGeom prst="line">
            <a:avLst/>
          </a:prstGeom>
          <a:ln w="22225">
            <a:solidFill>
              <a:srgbClr val="081D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>
            <a:extLst>
              <a:ext uri="{FF2B5EF4-FFF2-40B4-BE49-F238E27FC236}">
                <a16:creationId xmlns:a16="http://schemas.microsoft.com/office/drawing/2014/main" id="{BEE44996-8C64-8ABE-8B34-DC56E7654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101" y="754972"/>
            <a:ext cx="2496517" cy="6463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1200" cap="none" spc="80" normalizeH="0" baseline="0" noProof="0" dirty="0">
                <a:ln>
                  <a:noFill/>
                </a:ln>
                <a:solidFill>
                  <a:srgbClr val="081D3E"/>
                </a:solidFill>
                <a:effectLst/>
                <a:uLnTx/>
                <a:uFillTx/>
                <a:latin typeface="Roboto" panose="02000000000000000000" pitchFamily="2" charset="0"/>
                <a:ea typeface="Roboto Black" panose="02000000000000000000" pitchFamily="2" charset="0"/>
                <a:cs typeface="+mn-cs"/>
              </a:rPr>
              <a:t>THE END.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F3DA4F55-8FAC-FC82-DABD-3B3882E02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6190" y="5872195"/>
            <a:ext cx="7739619" cy="4616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06193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Module 2.2: </a:t>
            </a:r>
            <a:r>
              <a:rPr lang="en-VN" sz="2400" b="1" dirty="0">
                <a:latin typeface="Roboto" panose="02000000000000000000" pitchFamily="2" charset="0"/>
                <a:ea typeface="Roboto" panose="02000000000000000000" pitchFamily="2" charset="0"/>
              </a:rPr>
              <a:t>Long-Read Sequencing - Hybrid </a:t>
            </a:r>
            <a:r>
              <a:rPr lang="en-VN" sz="2400" b="1" dirty="0"/>
              <a:t>Assembly</a:t>
            </a:r>
            <a:endParaRPr lang="en-US" sz="2400" b="1" dirty="0">
              <a:solidFill>
                <a:srgbClr val="06193E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2CA470-061B-6D98-696F-DDDD7188BEC5}"/>
              </a:ext>
            </a:extLst>
          </p:cNvPr>
          <p:cNvSpPr txBox="1"/>
          <p:nvPr/>
        </p:nvSpPr>
        <p:spPr>
          <a:xfrm>
            <a:off x="3664690" y="1397054"/>
            <a:ext cx="4908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100" normalizeH="0" baseline="0" noProof="0" dirty="0">
                <a:ln>
                  <a:noFill/>
                </a:ln>
                <a:solidFill>
                  <a:srgbClr val="081D3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Thank you for your attention</a:t>
            </a:r>
          </a:p>
        </p:txBody>
      </p:sp>
      <p:pic>
        <p:nvPicPr>
          <p:cNvPr id="2" name="Picture 6" descr="Q&amp;A: Resolving family conflict – Focus on the Family Malaysia">
            <a:extLst>
              <a:ext uri="{FF2B5EF4-FFF2-40B4-BE49-F238E27FC236}">
                <a16:creationId xmlns:a16="http://schemas.microsoft.com/office/drawing/2014/main" id="{DC695D94-1C49-49C5-6646-45D034847D1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clrChange>
              <a:clrFrom>
                <a:srgbClr val="F5ECE5"/>
              </a:clrFrom>
              <a:clrTo>
                <a:srgbClr val="F5ECE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215" y="2028267"/>
            <a:ext cx="4435312" cy="249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oogle Shape;337;g252bd68d1d4_1_421">
            <a:extLst>
              <a:ext uri="{FF2B5EF4-FFF2-40B4-BE49-F238E27FC236}">
                <a16:creationId xmlns:a16="http://schemas.microsoft.com/office/drawing/2014/main" id="{DAE13CBF-AAA5-E002-D669-F6C648BEAA75}"/>
              </a:ext>
            </a:extLst>
          </p:cNvPr>
          <p:cNvPicPr preferRelativeResize="0"/>
          <p:nvPr/>
        </p:nvPicPr>
        <p:blipFill rotWithShape="1">
          <a:blip>
            <a:alphaModFix/>
          </a:blip>
          <a:srcRect t="74133"/>
          <a:stretch/>
        </p:blipFill>
        <p:spPr>
          <a:xfrm flipH="1">
            <a:off x="3388327" y="4037699"/>
            <a:ext cx="5028698" cy="1300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logo with blue and green text&#10;&#10;AI-generated content may be incorrect.">
            <a:extLst>
              <a:ext uri="{FF2B5EF4-FFF2-40B4-BE49-F238E27FC236}">
                <a16:creationId xmlns:a16="http://schemas.microsoft.com/office/drawing/2014/main" id="{FEB8FDB1-4420-4864-9A7A-7DDEB4279AC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23400" y="480963"/>
            <a:ext cx="1711254" cy="916091"/>
          </a:xfrm>
          <a:prstGeom prst="rect">
            <a:avLst/>
          </a:prstGeom>
        </p:spPr>
      </p:pic>
      <p:pic>
        <p:nvPicPr>
          <p:cNvPr id="4" name="Picture 3" descr="A logo with colorful lines&#10;&#10;AI-generated content may be incorrect.">
            <a:extLst>
              <a:ext uri="{FF2B5EF4-FFF2-40B4-BE49-F238E27FC236}">
                <a16:creationId xmlns:a16="http://schemas.microsoft.com/office/drawing/2014/main" id="{57E81A19-43CE-CE60-A06F-3F519A7C114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3421" y="286282"/>
            <a:ext cx="1305449" cy="13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36684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FED4C7-1769-E893-37B3-F64B7DB9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D5A2FA-F7D6-E8F7-3753-E3A0CB1F295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5993" y="582883"/>
            <a:ext cx="10886542" cy="583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1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60407E-A54B-02ED-5A03-7161016B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3D8D44-163C-C32C-C813-329FA28DA44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6526" y="651134"/>
            <a:ext cx="11294974" cy="602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9479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4_Office Theme">
  <a:themeElements>
    <a:clrScheme name="9Slide - 2021">
      <a:dk1>
        <a:sysClr val="windowText" lastClr="000000"/>
      </a:dk1>
      <a:lt1>
        <a:sysClr val="window" lastClr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9Slide Fonts">
      <a:majorFont>
        <a:latin typeface="#9Slide02 Tieu de dai"/>
        <a:ea typeface=""/>
        <a:cs typeface=""/>
      </a:majorFont>
      <a:minorFont>
        <a:latin typeface="#9Slide02 Noi dung d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C410E64-73D4-4894-A16A-B0A564A2C1B3}" vid="{BD11DD77-7AB8-40E7-98B4-F754939C4E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6592</TotalTime>
  <Words>419</Words>
  <Application>Microsoft Macintosh PowerPoint</Application>
  <PresentationFormat>Widescreen</PresentationFormat>
  <Paragraphs>132</Paragraphs>
  <Slides>17</Slides>
  <Notes>11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#9Slide02 Noi dung dai</vt:lpstr>
      <vt:lpstr>Arial</vt:lpstr>
      <vt:lpstr>Aptos Display</vt:lpstr>
      <vt:lpstr>Roboto</vt:lpstr>
      <vt:lpstr>Calibri</vt:lpstr>
      <vt:lpstr>4_Office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Quan Tonny</dc:creator>
  <dc:description>9Slide.vn</dc:description>
  <cp:lastModifiedBy>Quynh Nguyen</cp:lastModifiedBy>
  <cp:revision>18</cp:revision>
  <cp:lastPrinted>2024-07-17T06:18:20Z</cp:lastPrinted>
  <dcterms:created xsi:type="dcterms:W3CDTF">2024-07-01T08:20:17Z</dcterms:created>
  <dcterms:modified xsi:type="dcterms:W3CDTF">2026-05-10T19:08:37Z</dcterms:modified>
  <cp:category>9Slide.vn</cp:category>
</cp:coreProperties>
</file>