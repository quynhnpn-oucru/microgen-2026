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2" r:id="rId1"/>
  </p:sldMasterIdLst>
  <p:notesMasterIdLst>
    <p:notesMasterId r:id="rId19"/>
  </p:notesMasterIdLst>
  <p:sldIdLst>
    <p:sldId id="719" r:id="rId2"/>
    <p:sldId id="738" r:id="rId3"/>
    <p:sldId id="740" r:id="rId4"/>
    <p:sldId id="616" r:id="rId5"/>
    <p:sldId id="702" r:id="rId6"/>
    <p:sldId id="721" r:id="rId7"/>
    <p:sldId id="722" r:id="rId8"/>
    <p:sldId id="724" r:id="rId9"/>
    <p:sldId id="717" r:id="rId10"/>
    <p:sldId id="638" r:id="rId11"/>
    <p:sldId id="726" r:id="rId12"/>
    <p:sldId id="727" r:id="rId13"/>
    <p:sldId id="730" r:id="rId14"/>
    <p:sldId id="732" r:id="rId15"/>
    <p:sldId id="731" r:id="rId16"/>
    <p:sldId id="733" r:id="rId17"/>
    <p:sldId id="632" r:id="rId18"/>
  </p:sldIdLst>
  <p:sldSz cx="12192000" cy="6858000"/>
  <p:notesSz cx="9144000" cy="6858000"/>
  <p:embeddedFontLst>
    <p:embeddedFont>
      <p:font typeface="#9Slide02 Noi dung dai" panose="02000000000000000000" pitchFamily="2" charset="0"/>
      <p:regular r:id=""/>
    </p:embeddedFont>
    <p:embeddedFont>
      <p:font typeface="Cambria Math" panose="02040503050406030204" pitchFamily="18" charset="0"/>
      <p:regular r:id=""/>
    </p:embeddedFont>
    <p:embeddedFont>
      <p:font typeface="Roboto" panose="02000000000000000000" pitchFamily="2" charset="0"/>
      <p:regular r:id=""/>
      <p:bold r:id=""/>
      <p:italic r:id=""/>
      <p:boldItalic r:id="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20250122" id="{1917B63B-01C9-4CEE-9834-DC8DFA8AB62D}">
          <p14:sldIdLst>
            <p14:sldId id="719"/>
            <p14:sldId id="738"/>
            <p14:sldId id="740"/>
            <p14:sldId id="616"/>
            <p14:sldId id="702"/>
            <p14:sldId id="721"/>
            <p14:sldId id="722"/>
            <p14:sldId id="724"/>
            <p14:sldId id="717"/>
            <p14:sldId id="638"/>
            <p14:sldId id="726"/>
            <p14:sldId id="727"/>
            <p14:sldId id="730"/>
            <p14:sldId id="732"/>
            <p14:sldId id="731"/>
            <p14:sldId id="733"/>
            <p14:sldId id="632"/>
          </p14:sldIdLst>
        </p14:section>
      </p14:sectionLst>
    </p:ext>
    <p:ext uri="{EFAFB233-063F-42B5-8137-9DF3F51BA10A}">
      <p15:sldGuideLst xmlns:p15="http://schemas.microsoft.com/office/powerpoint/2012/main">
        <p15:guide id="3" pos="3840" userDrawn="1">
          <p15:clr>
            <a:srgbClr val="A4A3A4"/>
          </p15:clr>
        </p15:guide>
        <p15:guide id="5" pos="192" userDrawn="1">
          <p15:clr>
            <a:srgbClr val="A4A3A4"/>
          </p15:clr>
        </p15:guide>
        <p15:guide id="6" orient="horz" pos="4128" userDrawn="1">
          <p15:clr>
            <a:srgbClr val="A4A3A4"/>
          </p15:clr>
        </p15:guide>
        <p15:guide id="7" pos="7488" userDrawn="1">
          <p15:clr>
            <a:srgbClr val="A4A3A4"/>
          </p15:clr>
        </p15:guide>
        <p15:guide id="8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CFE1E7"/>
    <a:srgbClr val="000000"/>
    <a:srgbClr val="FEDA6C"/>
    <a:srgbClr val="6AD199"/>
    <a:srgbClr val="C4DAE2"/>
    <a:srgbClr val="B0CED8"/>
    <a:srgbClr val="081D3E"/>
    <a:srgbClr val="9DC2CF"/>
    <a:srgbClr val="5B99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8"/>
    <p:restoredTop sz="94660"/>
  </p:normalViewPr>
  <p:slideViewPr>
    <p:cSldViewPr snapToGrid="0" showGuides="1">
      <p:cViewPr>
        <p:scale>
          <a:sx n="110" d="100"/>
          <a:sy n="110" d="100"/>
        </p:scale>
        <p:origin x="744" y="328"/>
      </p:cViewPr>
      <p:guideLst>
        <p:guide pos="3840"/>
        <p:guide pos="192"/>
        <p:guide orient="horz" pos="4128"/>
        <p:guide pos="7488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ptos Display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ptos Display" panose="020B0004020202020204" pitchFamily="34" charset="0"/>
              </a:defRPr>
            </a:lvl1pPr>
          </a:lstStyle>
          <a:p>
            <a:fld id="{5C5E02B0-1D57-4E85-B38E-47C47FF47182}" type="datetimeFigureOut">
              <a:rPr lang="en-US" smtClean="0"/>
              <a:pPr/>
              <a:t>5/11/26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ptos Display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ptos Display" panose="020B0004020202020204" pitchFamily="34" charset="0"/>
              </a:defRPr>
            </a:lvl1pPr>
          </a:lstStyle>
          <a:p>
            <a:fld id="{CDFB85DF-475A-490F-85B4-9EB2BD6B92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859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ptos Display" panose="020B0004020202020204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B85DF-475A-490F-85B4-9EB2BD6B922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536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B85DF-475A-490F-85B4-9EB2BD6B922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09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0D3F4-DE9C-A841-D0BA-DE76823BF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38EB22-F85F-37FC-CEFE-891142AC5E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0D8744-AA58-7D77-6B97-921026BFA4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BC4C6-5D36-ED51-76CB-E3FD307220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50FD33-D6B2-45E3-81FE-8815DDB56D8D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425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B517C-7F90-69D6-CACE-972037319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22197E-DB4D-E197-5CCA-B2EFFD9DE0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78B5C0-C11D-9154-B718-62D7706574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D9EF6-B093-162E-CF62-625449014F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50FD33-D6B2-45E3-81FE-8815DDB56D8D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00621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9465C-67E8-EC0A-AA47-52FD44388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6B8595-0674-FDF4-CDDB-EAAFA7F27A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78E957-2F96-2720-7B1D-DA1D070A8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903E5-7B54-2F48-3A82-C63987812C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50FD33-D6B2-45E3-81FE-8815DDB56D8D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3139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CF6C2-C1FE-5B7E-0CA7-F9AD96529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739488-A323-3A14-826F-5CE3D2339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5257DE-6D71-0925-7475-97287AC045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55A276-B4F1-2040-E0E4-A801F7DA0A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50FD33-D6B2-45E3-81FE-8815DDB56D8D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66905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09679-ACE6-EFD8-C4CC-052C1CAA5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F8F3B8-D881-77D9-5FD8-52357A5A0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9EDDDA-E6CB-7042-08AA-FD7DFC64E9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E37476-D101-E16D-B25D-95AB75ACFB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50FD33-D6B2-45E3-81FE-8815DDB56D8D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2762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56E95-1427-6E3F-DD56-DCAEAD238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9EE1E2-E24E-2058-3CE7-CCD5AA696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41852C-FDB6-70D9-A010-D8BA0DCE3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EF5201-9465-805D-83C3-41EC473E57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50FD33-D6B2-45E3-81FE-8815DDB56D8D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67490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9BC1F-0FBA-360B-03B6-5C3CCA740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1DCCD3-ABE3-41B3-C312-63CE7FB54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D44A4D-E4E8-CCD9-5721-5D22DDE8F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74699-8C77-3666-36F4-F650C679EC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50FD33-D6B2-45E3-81FE-8815DDB56D8D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26804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A6D32-5D40-9A58-D411-117C17DD8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6A3D1E-4B07-9F10-8B92-07B44E135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76224A-D1D0-63E4-221E-7E400DA1E9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B1121-8542-ED50-58DB-5DAD004BD4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50FD33-D6B2-45E3-81FE-8815DDB56D8D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62455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4B644-F030-DCF5-89BF-591E421D7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9FCB45-A0D3-6155-8973-BE4AF06C2B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FD1437-03CD-B04B-358A-F8B7EC320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616CC-8ED1-516E-E667-C93C15B828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50FD33-D6B2-45E3-81FE-8815DDB56D8D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57105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B85DF-475A-490F-85B4-9EB2BD6B9228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214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8689CE-C57C-4CCE-B5D7-91A284CB1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709" y="6330950"/>
            <a:ext cx="4114800" cy="365125"/>
          </a:xfrm>
        </p:spPr>
        <p:txBody>
          <a:bodyPr/>
          <a:lstStyle/>
          <a:p>
            <a:r>
              <a:rPr lang="en-US"/>
              <a:t>Module 0: Pre-workshop – Essential setup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0DF66-3D9B-4E31-B419-8D199F946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518" y="6356350"/>
            <a:ext cx="2743200" cy="365125"/>
          </a:xfrm>
        </p:spPr>
        <p:txBody>
          <a:bodyPr/>
          <a:lstStyle>
            <a:lvl1pPr>
              <a:defRPr>
                <a:solidFill>
                  <a:srgbClr val="06193E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17F55963-6440-4C45-BA09-4E6A99D1BB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010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0A372-E784-4489-91B1-EB5F9893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9BAE6C-C81A-448F-810E-8201A0E7D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0: Pre-workshop – Essential setup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8452A-D52B-4D53-AA70-42F3E1B91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6193E"/>
                </a:solidFill>
              </a:defRPr>
            </a:lvl1pPr>
          </a:lstStyle>
          <a:p>
            <a:fld id="{17F55963-6440-4C45-BA09-4E6A99D1BB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338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6A006-59DD-41EF-BB59-5CF0A5B0F3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7CF5D0-5E86-4B07-82F0-4706674B42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38045-8612-4FFC-BF9F-64FB98C8E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0: Pre-workshop – Essential setup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15B52-8190-4B2D-852C-B23A268AE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6193E"/>
                </a:solidFill>
              </a:defRPr>
            </a:lvl1pPr>
          </a:lstStyle>
          <a:p>
            <a:fld id="{17F55963-6440-4C45-BA09-4E6A99D1BB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247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2C063-6317-449C-A341-883F2682D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53C2C5-1069-41AD-AB8E-A272B5F74D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35F9C6-7A1E-4BB1-8382-AF2048FA9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613E6-C32A-4783-9219-260167E5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0: Pre-workshop – Essential setup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57CA7-22C9-4637-98D5-45CB81C4C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937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5C8BC-CF44-4FCD-ACB9-6C06E1FD0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26985-A785-4717-80AD-9B8D8F5B8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C2166-B6AA-4084-B4D7-069DDC982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0: Pre-workshop – Essential setup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20EA2-78ED-4391-B2FB-25000FDBC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017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8689CE-C57C-4CCE-B5D7-91A284CB1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709" y="6330950"/>
            <a:ext cx="4114800" cy="365125"/>
          </a:xfrm>
        </p:spPr>
        <p:txBody>
          <a:bodyPr/>
          <a:lstStyle/>
          <a:p>
            <a:r>
              <a:rPr lang="en-US"/>
              <a:t>Module 0: Pre-workshop – Essential setup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0DF66-3D9B-4E31-B419-8D199F946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518" y="6356350"/>
            <a:ext cx="2743200" cy="365125"/>
          </a:xfrm>
        </p:spPr>
        <p:txBody>
          <a:bodyPr/>
          <a:lstStyle>
            <a:lvl1pPr>
              <a:defRPr>
                <a:solidFill>
                  <a:srgbClr val="06193E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17F55963-6440-4C45-BA09-4E6A99D1BB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893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0A372-E784-4489-91B1-EB5F9893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9BAE6C-C81A-448F-810E-8201A0E7D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0: Pre-workshop – Essential setup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8452A-D52B-4D53-AA70-42F3E1B91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6193E"/>
                </a:solidFill>
              </a:defRPr>
            </a:lvl1pPr>
          </a:lstStyle>
          <a:p>
            <a:fld id="{17F55963-6440-4C45-BA09-4E6A99D1BB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9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6A006-59DD-41EF-BB59-5CF0A5B0F3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7CF5D0-5E86-4B07-82F0-4706674B42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38045-8612-4FFC-BF9F-64FB98C8E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0: Pre-workshop – Essential setup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15B52-8190-4B2D-852C-B23A268AE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6193E"/>
                </a:solidFill>
              </a:defRPr>
            </a:lvl1pPr>
          </a:lstStyle>
          <a:p>
            <a:fld id="{17F55963-6440-4C45-BA09-4E6A99D1BB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26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2C063-6317-449C-A341-883F2682D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53C2C5-1069-41AD-AB8E-A272B5F74D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35F9C6-7A1E-4BB1-8382-AF2048FA9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613E6-C32A-4783-9219-260167E5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0: Pre-workshop – Essential setup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57CA7-22C9-4637-98D5-45CB81C4C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047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5C8BC-CF44-4FCD-ACB9-6C06E1FD0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26985-A785-4717-80AD-9B8D8F5B8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C2166-B6AA-4084-B4D7-069DDC982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0: Pre-workshop – Essential setup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20EA2-78ED-4391-B2FB-25000FDBC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838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9D2E1-F5A5-30A4-32DF-8C314DD93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Online Image Placeholder 2">
            <a:extLst>
              <a:ext uri="{FF2B5EF4-FFF2-40B4-BE49-F238E27FC236}">
                <a16:creationId xmlns:a16="http://schemas.microsoft.com/office/drawing/2014/main" id="{AA9FDC0F-CF8D-50C9-6132-75AB22F41B40}"/>
              </a:ext>
            </a:extLst>
          </p:cNvPr>
          <p:cNvSpPr>
            <a:spLocks noGrp="1"/>
          </p:cNvSpPr>
          <p:nvPr>
            <p:ph type="clipArt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AE657-9AC8-E164-670D-1F5EDE4FEB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EAC02-DE05-236F-5072-C689C5B0FD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Module 0: Pre-workshop – Essential setup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AB34C-5951-C3FB-F1F3-788C4121D8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2287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9Slide.vn - 2019">
            <a:extLst>
              <a:ext uri="{FF2B5EF4-FFF2-40B4-BE49-F238E27FC236}">
                <a16:creationId xmlns:a16="http://schemas.microsoft.com/office/drawing/2014/main" id="{B27863D1-40DC-9985-97B2-2FDDA8331867}"/>
              </a:ext>
            </a:extLst>
          </p:cNvPr>
          <p:cNvSpPr txBox="1"/>
          <p:nvPr userDrawn="1"/>
        </p:nvSpPr>
        <p:spPr>
          <a:xfrm>
            <a:off x="0" y="-1512332"/>
            <a:ext cx="12192000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2400">
                <a:solidFill>
                  <a:srgbClr val="CFCFCF"/>
                </a:solidFill>
              </a:rPr>
              <a:t>www.9slide.vn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CB0E7E-7BDA-4369-B06E-95E5B313A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2DE87-7D95-4722-9EE5-248D158C7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CDB14-4F91-4B5C-8ACA-1B5E7E69B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4212" y="6356350"/>
            <a:ext cx="75170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rgbClr val="06193E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Module 0: Pre-workshop – Essential setup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0118F-80C4-4861-A4D3-A50D382E7D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7845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6193E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17F55963-6440-4C45-BA09-4E6A99D1BBE0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D0CE00B-B040-4546-AF5D-EEF96AA126B0}"/>
              </a:ext>
            </a:extLst>
          </p:cNvPr>
          <p:cNvGrpSpPr>
            <a:grpSpLocks noGrp="1" noSelect="1" noRot="1" noMove="1" noResize="1"/>
          </p:cNvGrpSpPr>
          <p:nvPr userDrawn="1">
            <p:custDataLst>
              <p:tags r:id="rId13"/>
            </p:custDataLst>
          </p:nvPr>
        </p:nvGrpSpPr>
        <p:grpSpPr>
          <a:xfrm>
            <a:off x="-2202100" y="-2224223"/>
            <a:ext cx="16596200" cy="11284323"/>
            <a:chOff x="-2202100" y="-2224223"/>
            <a:chExt cx="16596200" cy="1128432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A423BDB-6737-4700-9989-01683A4147DA}"/>
                </a:ext>
              </a:extLst>
            </p:cNvPr>
            <p:cNvSpPr/>
            <p:nvPr/>
          </p:nvSpPr>
          <p:spPr>
            <a:xfrm>
              <a:off x="4851540" y="8494776"/>
              <a:ext cx="2488920" cy="565324"/>
            </a:xfrm>
            <a:prstGeom prst="rect">
              <a:avLst/>
            </a:prstGeom>
            <a:noFill/>
            <a:ln w="2159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91E50D3-44ED-477F-84FB-1E24BC65ED8F}"/>
                </a:ext>
              </a:extLst>
            </p:cNvPr>
            <p:cNvSpPr txBox="1"/>
            <p:nvPr/>
          </p:nvSpPr>
          <p:spPr>
            <a:xfrm>
              <a:off x="5006988" y="8647176"/>
              <a:ext cx="2178025" cy="260524"/>
            </a:xfrm>
            <a:custGeom>
              <a:avLst/>
              <a:gdLst/>
              <a:ahLst/>
              <a:cxnLst/>
              <a:rect l="l" t="t" r="r" b="b"/>
              <a:pathLst>
                <a:path w="2178025" h="260524">
                  <a:moveTo>
                    <a:pt x="1807648" y="222182"/>
                  </a:moveTo>
                  <a:cubicBezTo>
                    <a:pt x="1814010" y="222182"/>
                    <a:pt x="1818838" y="223968"/>
                    <a:pt x="1822130" y="227540"/>
                  </a:cubicBezTo>
                  <a:cubicBezTo>
                    <a:pt x="1825423" y="231111"/>
                    <a:pt x="1827070" y="235576"/>
                    <a:pt x="1827070" y="240934"/>
                  </a:cubicBezTo>
                  <a:cubicBezTo>
                    <a:pt x="1827070" y="246069"/>
                    <a:pt x="1825423" y="250366"/>
                    <a:pt x="1822130" y="253826"/>
                  </a:cubicBezTo>
                  <a:cubicBezTo>
                    <a:pt x="1818838" y="257287"/>
                    <a:pt x="1814010" y="259017"/>
                    <a:pt x="1807648" y="259017"/>
                  </a:cubicBezTo>
                  <a:cubicBezTo>
                    <a:pt x="1801285" y="259017"/>
                    <a:pt x="1796513" y="257287"/>
                    <a:pt x="1793332" y="253826"/>
                  </a:cubicBezTo>
                  <a:cubicBezTo>
                    <a:pt x="1790151" y="250366"/>
                    <a:pt x="1788560" y="246069"/>
                    <a:pt x="1788560" y="240934"/>
                  </a:cubicBezTo>
                  <a:cubicBezTo>
                    <a:pt x="1788560" y="235576"/>
                    <a:pt x="1790151" y="231111"/>
                    <a:pt x="1793332" y="227540"/>
                  </a:cubicBezTo>
                  <a:cubicBezTo>
                    <a:pt x="1796513" y="223968"/>
                    <a:pt x="1801285" y="222182"/>
                    <a:pt x="1807648" y="222182"/>
                  </a:cubicBezTo>
                  <a:close/>
                  <a:moveTo>
                    <a:pt x="807523" y="222182"/>
                  </a:moveTo>
                  <a:cubicBezTo>
                    <a:pt x="813885" y="222182"/>
                    <a:pt x="818713" y="223968"/>
                    <a:pt x="822005" y="227540"/>
                  </a:cubicBezTo>
                  <a:cubicBezTo>
                    <a:pt x="825298" y="231111"/>
                    <a:pt x="826945" y="235576"/>
                    <a:pt x="826945" y="240934"/>
                  </a:cubicBezTo>
                  <a:cubicBezTo>
                    <a:pt x="826945" y="246069"/>
                    <a:pt x="825298" y="250366"/>
                    <a:pt x="822005" y="253826"/>
                  </a:cubicBezTo>
                  <a:cubicBezTo>
                    <a:pt x="818713" y="257287"/>
                    <a:pt x="813885" y="259017"/>
                    <a:pt x="807523" y="259017"/>
                  </a:cubicBezTo>
                  <a:cubicBezTo>
                    <a:pt x="801160" y="259017"/>
                    <a:pt x="796388" y="257287"/>
                    <a:pt x="793207" y="253826"/>
                  </a:cubicBezTo>
                  <a:cubicBezTo>
                    <a:pt x="790026" y="250366"/>
                    <a:pt x="788435" y="246069"/>
                    <a:pt x="788435" y="240934"/>
                  </a:cubicBezTo>
                  <a:cubicBezTo>
                    <a:pt x="788435" y="235576"/>
                    <a:pt x="790026" y="231111"/>
                    <a:pt x="793207" y="227540"/>
                  </a:cubicBezTo>
                  <a:cubicBezTo>
                    <a:pt x="796388" y="223968"/>
                    <a:pt x="801160" y="222182"/>
                    <a:pt x="807523" y="222182"/>
                  </a:cubicBezTo>
                  <a:close/>
                  <a:moveTo>
                    <a:pt x="1488076" y="98952"/>
                  </a:moveTo>
                  <a:cubicBezTo>
                    <a:pt x="1472896" y="98952"/>
                    <a:pt x="1461064" y="104812"/>
                    <a:pt x="1452581" y="116532"/>
                  </a:cubicBezTo>
                  <a:cubicBezTo>
                    <a:pt x="1444098" y="128253"/>
                    <a:pt x="1439856" y="145610"/>
                    <a:pt x="1439856" y="168604"/>
                  </a:cubicBezTo>
                  <a:cubicBezTo>
                    <a:pt x="1439856" y="189142"/>
                    <a:pt x="1444098" y="205215"/>
                    <a:pt x="1452581" y="216824"/>
                  </a:cubicBezTo>
                  <a:cubicBezTo>
                    <a:pt x="1461064" y="228433"/>
                    <a:pt x="1472784" y="234237"/>
                    <a:pt x="1487741" y="234237"/>
                  </a:cubicBezTo>
                  <a:cubicBezTo>
                    <a:pt x="1507387" y="234237"/>
                    <a:pt x="1521730" y="225419"/>
                    <a:pt x="1530771" y="207783"/>
                  </a:cubicBezTo>
                  <a:lnTo>
                    <a:pt x="1530771" y="124569"/>
                  </a:lnTo>
                  <a:cubicBezTo>
                    <a:pt x="1521507" y="107491"/>
                    <a:pt x="1507275" y="98952"/>
                    <a:pt x="1488076" y="98952"/>
                  </a:cubicBezTo>
                  <a:close/>
                  <a:moveTo>
                    <a:pt x="1678241" y="98115"/>
                  </a:moveTo>
                  <a:cubicBezTo>
                    <a:pt x="1665740" y="98115"/>
                    <a:pt x="1655248" y="102663"/>
                    <a:pt x="1646764" y="111761"/>
                  </a:cubicBezTo>
                  <a:cubicBezTo>
                    <a:pt x="1638281" y="120858"/>
                    <a:pt x="1633035" y="133610"/>
                    <a:pt x="1631026" y="150019"/>
                  </a:cubicBezTo>
                  <a:lnTo>
                    <a:pt x="1721774" y="150019"/>
                  </a:lnTo>
                  <a:lnTo>
                    <a:pt x="1721774" y="147675"/>
                  </a:lnTo>
                  <a:cubicBezTo>
                    <a:pt x="1720881" y="131936"/>
                    <a:pt x="1716639" y="119742"/>
                    <a:pt x="1709049" y="111091"/>
                  </a:cubicBezTo>
                  <a:cubicBezTo>
                    <a:pt x="1701459" y="102440"/>
                    <a:pt x="1691190" y="98115"/>
                    <a:pt x="1678241" y="98115"/>
                  </a:cubicBezTo>
                  <a:close/>
                  <a:moveTo>
                    <a:pt x="1855700" y="76014"/>
                  </a:moveTo>
                  <a:lnTo>
                    <a:pt x="1887345" y="76014"/>
                  </a:lnTo>
                  <a:lnTo>
                    <a:pt x="1933389" y="215150"/>
                  </a:lnTo>
                  <a:lnTo>
                    <a:pt x="1978260" y="76014"/>
                  </a:lnTo>
                  <a:lnTo>
                    <a:pt x="2009905" y="76014"/>
                  </a:lnTo>
                  <a:lnTo>
                    <a:pt x="1944941" y="257175"/>
                  </a:lnTo>
                  <a:lnTo>
                    <a:pt x="1921334" y="257175"/>
                  </a:lnTo>
                  <a:close/>
                  <a:moveTo>
                    <a:pt x="1333370" y="76014"/>
                  </a:moveTo>
                  <a:lnTo>
                    <a:pt x="1364344" y="76014"/>
                  </a:lnTo>
                  <a:lnTo>
                    <a:pt x="1364344" y="257175"/>
                  </a:lnTo>
                  <a:lnTo>
                    <a:pt x="1333370" y="257175"/>
                  </a:lnTo>
                  <a:close/>
                  <a:moveTo>
                    <a:pt x="514350" y="76014"/>
                  </a:moveTo>
                  <a:lnTo>
                    <a:pt x="545157" y="76014"/>
                  </a:lnTo>
                  <a:lnTo>
                    <a:pt x="580820" y="211634"/>
                  </a:lnTo>
                  <a:lnTo>
                    <a:pt x="623013" y="76014"/>
                  </a:lnTo>
                  <a:lnTo>
                    <a:pt x="647960" y="76014"/>
                  </a:lnTo>
                  <a:lnTo>
                    <a:pt x="690990" y="214480"/>
                  </a:lnTo>
                  <a:lnTo>
                    <a:pt x="725816" y="76014"/>
                  </a:lnTo>
                  <a:lnTo>
                    <a:pt x="756791" y="76014"/>
                  </a:lnTo>
                  <a:lnTo>
                    <a:pt x="704050" y="257175"/>
                  </a:lnTo>
                  <a:lnTo>
                    <a:pt x="678935" y="257175"/>
                  </a:lnTo>
                  <a:lnTo>
                    <a:pt x="634901" y="119881"/>
                  </a:lnTo>
                  <a:lnTo>
                    <a:pt x="592038" y="257175"/>
                  </a:lnTo>
                  <a:lnTo>
                    <a:pt x="566923" y="257175"/>
                  </a:lnTo>
                  <a:close/>
                  <a:moveTo>
                    <a:pt x="257175" y="76014"/>
                  </a:moveTo>
                  <a:lnTo>
                    <a:pt x="287982" y="76014"/>
                  </a:lnTo>
                  <a:lnTo>
                    <a:pt x="323645" y="211634"/>
                  </a:lnTo>
                  <a:lnTo>
                    <a:pt x="365838" y="76014"/>
                  </a:lnTo>
                  <a:lnTo>
                    <a:pt x="390785" y="76014"/>
                  </a:lnTo>
                  <a:lnTo>
                    <a:pt x="433815" y="214480"/>
                  </a:lnTo>
                  <a:lnTo>
                    <a:pt x="468641" y="76014"/>
                  </a:lnTo>
                  <a:lnTo>
                    <a:pt x="499616" y="76014"/>
                  </a:lnTo>
                  <a:lnTo>
                    <a:pt x="446875" y="257175"/>
                  </a:lnTo>
                  <a:lnTo>
                    <a:pt x="421760" y="257175"/>
                  </a:lnTo>
                  <a:lnTo>
                    <a:pt x="377726" y="119881"/>
                  </a:lnTo>
                  <a:lnTo>
                    <a:pt x="334863" y="257175"/>
                  </a:lnTo>
                  <a:lnTo>
                    <a:pt x="309748" y="257175"/>
                  </a:lnTo>
                  <a:close/>
                  <a:moveTo>
                    <a:pt x="0" y="76014"/>
                  </a:moveTo>
                  <a:lnTo>
                    <a:pt x="30807" y="76014"/>
                  </a:lnTo>
                  <a:lnTo>
                    <a:pt x="66470" y="211634"/>
                  </a:lnTo>
                  <a:lnTo>
                    <a:pt x="108663" y="76014"/>
                  </a:lnTo>
                  <a:lnTo>
                    <a:pt x="133610" y="76014"/>
                  </a:lnTo>
                  <a:lnTo>
                    <a:pt x="176640" y="214480"/>
                  </a:lnTo>
                  <a:lnTo>
                    <a:pt x="211466" y="76014"/>
                  </a:lnTo>
                  <a:lnTo>
                    <a:pt x="242441" y="76014"/>
                  </a:lnTo>
                  <a:lnTo>
                    <a:pt x="189700" y="257175"/>
                  </a:lnTo>
                  <a:lnTo>
                    <a:pt x="164585" y="257175"/>
                  </a:lnTo>
                  <a:lnTo>
                    <a:pt x="120551" y="119881"/>
                  </a:lnTo>
                  <a:lnTo>
                    <a:pt x="77688" y="257175"/>
                  </a:lnTo>
                  <a:lnTo>
                    <a:pt x="52573" y="257175"/>
                  </a:lnTo>
                  <a:close/>
                  <a:moveTo>
                    <a:pt x="2120094" y="72666"/>
                  </a:moveTo>
                  <a:cubicBezTo>
                    <a:pt x="2158380" y="72666"/>
                    <a:pt x="2177690" y="94264"/>
                    <a:pt x="2178025" y="137461"/>
                  </a:cubicBezTo>
                  <a:lnTo>
                    <a:pt x="2178025" y="257175"/>
                  </a:lnTo>
                  <a:lnTo>
                    <a:pt x="2147050" y="257175"/>
                  </a:lnTo>
                  <a:lnTo>
                    <a:pt x="2147050" y="137294"/>
                  </a:lnTo>
                  <a:cubicBezTo>
                    <a:pt x="2146938" y="124234"/>
                    <a:pt x="2143953" y="114579"/>
                    <a:pt x="2138092" y="108328"/>
                  </a:cubicBezTo>
                  <a:cubicBezTo>
                    <a:pt x="2132232" y="102077"/>
                    <a:pt x="2123107" y="98952"/>
                    <a:pt x="2110717" y="98952"/>
                  </a:cubicBezTo>
                  <a:cubicBezTo>
                    <a:pt x="2100671" y="98952"/>
                    <a:pt x="2091853" y="101631"/>
                    <a:pt x="2084263" y="106989"/>
                  </a:cubicBezTo>
                  <a:cubicBezTo>
                    <a:pt x="2076673" y="112347"/>
                    <a:pt x="2070757" y="119379"/>
                    <a:pt x="2066515" y="128085"/>
                  </a:cubicBezTo>
                  <a:lnTo>
                    <a:pt x="2066515" y="257175"/>
                  </a:lnTo>
                  <a:lnTo>
                    <a:pt x="2035541" y="257175"/>
                  </a:lnTo>
                  <a:lnTo>
                    <a:pt x="2035541" y="76014"/>
                  </a:lnTo>
                  <a:lnTo>
                    <a:pt x="2064841" y="76014"/>
                  </a:lnTo>
                  <a:lnTo>
                    <a:pt x="2065846" y="98785"/>
                  </a:lnTo>
                  <a:cubicBezTo>
                    <a:pt x="2079687" y="81372"/>
                    <a:pt x="2097769" y="72666"/>
                    <a:pt x="2120094" y="72666"/>
                  </a:cubicBezTo>
                  <a:close/>
                  <a:moveTo>
                    <a:pt x="1678241" y="72666"/>
                  </a:moveTo>
                  <a:cubicBezTo>
                    <a:pt x="1701794" y="72666"/>
                    <a:pt x="1720099" y="80423"/>
                    <a:pt x="1733159" y="95938"/>
                  </a:cubicBezTo>
                  <a:cubicBezTo>
                    <a:pt x="1746219" y="111454"/>
                    <a:pt x="1752749" y="133666"/>
                    <a:pt x="1752749" y="162576"/>
                  </a:cubicBezTo>
                  <a:lnTo>
                    <a:pt x="1752749" y="175468"/>
                  </a:lnTo>
                  <a:lnTo>
                    <a:pt x="1630021" y="175468"/>
                  </a:lnTo>
                  <a:cubicBezTo>
                    <a:pt x="1630468" y="193328"/>
                    <a:pt x="1635686" y="207755"/>
                    <a:pt x="1645676" y="218749"/>
                  </a:cubicBezTo>
                  <a:cubicBezTo>
                    <a:pt x="1655666" y="229744"/>
                    <a:pt x="1668363" y="235241"/>
                    <a:pt x="1683767" y="235241"/>
                  </a:cubicBezTo>
                  <a:cubicBezTo>
                    <a:pt x="1694706" y="235241"/>
                    <a:pt x="1703970" y="233009"/>
                    <a:pt x="1711560" y="228544"/>
                  </a:cubicBezTo>
                  <a:cubicBezTo>
                    <a:pt x="1719151" y="224079"/>
                    <a:pt x="1725792" y="218163"/>
                    <a:pt x="1731485" y="210796"/>
                  </a:cubicBezTo>
                  <a:lnTo>
                    <a:pt x="1750405" y="225530"/>
                  </a:lnTo>
                  <a:cubicBezTo>
                    <a:pt x="1735224" y="248859"/>
                    <a:pt x="1712453" y="260524"/>
                    <a:pt x="1682092" y="260524"/>
                  </a:cubicBezTo>
                  <a:cubicBezTo>
                    <a:pt x="1657536" y="260524"/>
                    <a:pt x="1637556" y="252459"/>
                    <a:pt x="1622152" y="236330"/>
                  </a:cubicBezTo>
                  <a:cubicBezTo>
                    <a:pt x="1606748" y="220201"/>
                    <a:pt x="1599046" y="198630"/>
                    <a:pt x="1599046" y="171617"/>
                  </a:cubicBezTo>
                  <a:lnTo>
                    <a:pt x="1599046" y="165925"/>
                  </a:lnTo>
                  <a:cubicBezTo>
                    <a:pt x="1599046" y="147954"/>
                    <a:pt x="1602479" y="131908"/>
                    <a:pt x="1609343" y="117788"/>
                  </a:cubicBezTo>
                  <a:cubicBezTo>
                    <a:pt x="1616208" y="103668"/>
                    <a:pt x="1625807" y="92618"/>
                    <a:pt x="1638142" y="84637"/>
                  </a:cubicBezTo>
                  <a:cubicBezTo>
                    <a:pt x="1650476" y="76656"/>
                    <a:pt x="1663842" y="72666"/>
                    <a:pt x="1678241" y="72666"/>
                  </a:cubicBezTo>
                  <a:close/>
                  <a:moveTo>
                    <a:pt x="1129624" y="72666"/>
                  </a:moveTo>
                  <a:cubicBezTo>
                    <a:pt x="1150162" y="72666"/>
                    <a:pt x="1166822" y="77968"/>
                    <a:pt x="1179602" y="88572"/>
                  </a:cubicBezTo>
                  <a:cubicBezTo>
                    <a:pt x="1192383" y="99175"/>
                    <a:pt x="1198773" y="112737"/>
                    <a:pt x="1198773" y="129257"/>
                  </a:cubicBezTo>
                  <a:lnTo>
                    <a:pt x="1167631" y="129257"/>
                  </a:lnTo>
                  <a:cubicBezTo>
                    <a:pt x="1167631" y="120774"/>
                    <a:pt x="1164031" y="113463"/>
                    <a:pt x="1156831" y="107324"/>
                  </a:cubicBezTo>
                  <a:cubicBezTo>
                    <a:pt x="1149632" y="101185"/>
                    <a:pt x="1140563" y="98115"/>
                    <a:pt x="1129624" y="98115"/>
                  </a:cubicBezTo>
                  <a:cubicBezTo>
                    <a:pt x="1118350" y="98115"/>
                    <a:pt x="1109532" y="100571"/>
                    <a:pt x="1103170" y="105482"/>
                  </a:cubicBezTo>
                  <a:cubicBezTo>
                    <a:pt x="1096807" y="110393"/>
                    <a:pt x="1093626" y="116811"/>
                    <a:pt x="1093626" y="124737"/>
                  </a:cubicBezTo>
                  <a:cubicBezTo>
                    <a:pt x="1093626" y="132215"/>
                    <a:pt x="1096584" y="137852"/>
                    <a:pt x="1102500" y="141647"/>
                  </a:cubicBezTo>
                  <a:cubicBezTo>
                    <a:pt x="1108416" y="145442"/>
                    <a:pt x="1119104" y="149070"/>
                    <a:pt x="1134563" y="152530"/>
                  </a:cubicBezTo>
                  <a:cubicBezTo>
                    <a:pt x="1150023" y="155990"/>
                    <a:pt x="1162552" y="160120"/>
                    <a:pt x="1172151" y="164920"/>
                  </a:cubicBezTo>
                  <a:cubicBezTo>
                    <a:pt x="1181751" y="169720"/>
                    <a:pt x="1188867" y="175496"/>
                    <a:pt x="1193499" y="182249"/>
                  </a:cubicBezTo>
                  <a:cubicBezTo>
                    <a:pt x="1198131" y="189002"/>
                    <a:pt x="1200447" y="197234"/>
                    <a:pt x="1200447" y="206945"/>
                  </a:cubicBezTo>
                  <a:cubicBezTo>
                    <a:pt x="1200447" y="223131"/>
                    <a:pt x="1193973" y="236107"/>
                    <a:pt x="1181025" y="245873"/>
                  </a:cubicBezTo>
                  <a:cubicBezTo>
                    <a:pt x="1168077" y="255640"/>
                    <a:pt x="1151278" y="260524"/>
                    <a:pt x="1130628" y="260524"/>
                  </a:cubicBezTo>
                  <a:cubicBezTo>
                    <a:pt x="1116118" y="260524"/>
                    <a:pt x="1103281" y="257956"/>
                    <a:pt x="1092119" y="252822"/>
                  </a:cubicBezTo>
                  <a:cubicBezTo>
                    <a:pt x="1080957" y="247687"/>
                    <a:pt x="1072223" y="240516"/>
                    <a:pt x="1065916" y="231307"/>
                  </a:cubicBezTo>
                  <a:cubicBezTo>
                    <a:pt x="1059610" y="222098"/>
                    <a:pt x="1056456" y="212136"/>
                    <a:pt x="1056456" y="201420"/>
                  </a:cubicBezTo>
                  <a:lnTo>
                    <a:pt x="1087431" y="201420"/>
                  </a:lnTo>
                  <a:cubicBezTo>
                    <a:pt x="1087989" y="211801"/>
                    <a:pt x="1092147" y="220033"/>
                    <a:pt x="1099905" y="226116"/>
                  </a:cubicBezTo>
                  <a:cubicBezTo>
                    <a:pt x="1107662" y="232200"/>
                    <a:pt x="1117904" y="235241"/>
                    <a:pt x="1130628" y="235241"/>
                  </a:cubicBezTo>
                  <a:cubicBezTo>
                    <a:pt x="1142349" y="235241"/>
                    <a:pt x="1151753" y="232869"/>
                    <a:pt x="1158841" y="228126"/>
                  </a:cubicBezTo>
                  <a:cubicBezTo>
                    <a:pt x="1165929" y="223382"/>
                    <a:pt x="1169473" y="217047"/>
                    <a:pt x="1169473" y="209122"/>
                  </a:cubicBezTo>
                  <a:cubicBezTo>
                    <a:pt x="1169473" y="200751"/>
                    <a:pt x="1166319" y="194249"/>
                    <a:pt x="1160013" y="189616"/>
                  </a:cubicBezTo>
                  <a:cubicBezTo>
                    <a:pt x="1153706" y="184984"/>
                    <a:pt x="1142711" y="180994"/>
                    <a:pt x="1127029" y="177645"/>
                  </a:cubicBezTo>
                  <a:cubicBezTo>
                    <a:pt x="1111346" y="174296"/>
                    <a:pt x="1098900" y="170278"/>
                    <a:pt x="1089691" y="165590"/>
                  </a:cubicBezTo>
                  <a:cubicBezTo>
                    <a:pt x="1080483" y="160902"/>
                    <a:pt x="1073674" y="155321"/>
                    <a:pt x="1069265" y="148847"/>
                  </a:cubicBezTo>
                  <a:cubicBezTo>
                    <a:pt x="1064856" y="142373"/>
                    <a:pt x="1062651" y="134671"/>
                    <a:pt x="1062651" y="125741"/>
                  </a:cubicBezTo>
                  <a:cubicBezTo>
                    <a:pt x="1062651" y="110896"/>
                    <a:pt x="1068930" y="98338"/>
                    <a:pt x="1081487" y="88069"/>
                  </a:cubicBezTo>
                  <a:cubicBezTo>
                    <a:pt x="1094045" y="77800"/>
                    <a:pt x="1110090" y="72666"/>
                    <a:pt x="1129624" y="72666"/>
                  </a:cubicBezTo>
                  <a:close/>
                  <a:moveTo>
                    <a:pt x="942472" y="35831"/>
                  </a:moveTo>
                  <a:cubicBezTo>
                    <a:pt x="928855" y="35831"/>
                    <a:pt x="917916" y="41049"/>
                    <a:pt x="909656" y="51485"/>
                  </a:cubicBezTo>
                  <a:cubicBezTo>
                    <a:pt x="901396" y="61922"/>
                    <a:pt x="897266" y="75679"/>
                    <a:pt x="897266" y="92757"/>
                  </a:cubicBezTo>
                  <a:cubicBezTo>
                    <a:pt x="897266" y="109389"/>
                    <a:pt x="901256" y="123090"/>
                    <a:pt x="909237" y="133862"/>
                  </a:cubicBezTo>
                  <a:cubicBezTo>
                    <a:pt x="917218" y="144633"/>
                    <a:pt x="927906" y="150019"/>
                    <a:pt x="941300" y="150019"/>
                  </a:cubicBezTo>
                  <a:cubicBezTo>
                    <a:pt x="951681" y="150019"/>
                    <a:pt x="961253" y="146838"/>
                    <a:pt x="970015" y="140475"/>
                  </a:cubicBezTo>
                  <a:cubicBezTo>
                    <a:pt x="978777" y="134113"/>
                    <a:pt x="985168" y="126243"/>
                    <a:pt x="989186" y="116867"/>
                  </a:cubicBezTo>
                  <a:lnTo>
                    <a:pt x="989186" y="104477"/>
                  </a:lnTo>
                  <a:cubicBezTo>
                    <a:pt x="989186" y="84163"/>
                    <a:pt x="984777" y="67643"/>
                    <a:pt x="975959" y="54918"/>
                  </a:cubicBezTo>
                  <a:cubicBezTo>
                    <a:pt x="967141" y="42193"/>
                    <a:pt x="955979" y="35831"/>
                    <a:pt x="942472" y="35831"/>
                  </a:cubicBezTo>
                  <a:close/>
                  <a:moveTo>
                    <a:pt x="1349108" y="10046"/>
                  </a:moveTo>
                  <a:cubicBezTo>
                    <a:pt x="1355136" y="10046"/>
                    <a:pt x="1359712" y="11776"/>
                    <a:pt x="1362837" y="15237"/>
                  </a:cubicBezTo>
                  <a:cubicBezTo>
                    <a:pt x="1365963" y="18697"/>
                    <a:pt x="1367526" y="22938"/>
                    <a:pt x="1367526" y="27961"/>
                  </a:cubicBezTo>
                  <a:cubicBezTo>
                    <a:pt x="1367526" y="32984"/>
                    <a:pt x="1365963" y="37170"/>
                    <a:pt x="1362837" y="40519"/>
                  </a:cubicBezTo>
                  <a:cubicBezTo>
                    <a:pt x="1359712" y="43867"/>
                    <a:pt x="1355136" y="45542"/>
                    <a:pt x="1349108" y="45542"/>
                  </a:cubicBezTo>
                  <a:cubicBezTo>
                    <a:pt x="1343081" y="45542"/>
                    <a:pt x="1338532" y="43867"/>
                    <a:pt x="1335462" y="40519"/>
                  </a:cubicBezTo>
                  <a:cubicBezTo>
                    <a:pt x="1332393" y="37170"/>
                    <a:pt x="1330858" y="32984"/>
                    <a:pt x="1330858" y="27961"/>
                  </a:cubicBezTo>
                  <a:cubicBezTo>
                    <a:pt x="1330858" y="22938"/>
                    <a:pt x="1332393" y="18697"/>
                    <a:pt x="1335462" y="15237"/>
                  </a:cubicBezTo>
                  <a:cubicBezTo>
                    <a:pt x="1338532" y="11776"/>
                    <a:pt x="1343081" y="10046"/>
                    <a:pt x="1349108" y="10046"/>
                  </a:cubicBezTo>
                  <a:close/>
                  <a:moveTo>
                    <a:pt x="942305" y="10046"/>
                  </a:moveTo>
                  <a:cubicBezTo>
                    <a:pt x="966415" y="10046"/>
                    <a:pt x="985419" y="19060"/>
                    <a:pt x="999316" y="37086"/>
                  </a:cubicBezTo>
                  <a:cubicBezTo>
                    <a:pt x="1013212" y="55113"/>
                    <a:pt x="1020161" y="79698"/>
                    <a:pt x="1020161" y="110840"/>
                  </a:cubicBezTo>
                  <a:lnTo>
                    <a:pt x="1020161" y="119881"/>
                  </a:lnTo>
                  <a:cubicBezTo>
                    <a:pt x="1020161" y="167320"/>
                    <a:pt x="1010785" y="201950"/>
                    <a:pt x="992032" y="223772"/>
                  </a:cubicBezTo>
                  <a:cubicBezTo>
                    <a:pt x="973280" y="245594"/>
                    <a:pt x="944984" y="256784"/>
                    <a:pt x="907144" y="257342"/>
                  </a:cubicBezTo>
                  <a:lnTo>
                    <a:pt x="901117" y="257342"/>
                  </a:lnTo>
                  <a:lnTo>
                    <a:pt x="901117" y="231056"/>
                  </a:lnTo>
                  <a:lnTo>
                    <a:pt x="907647" y="231056"/>
                  </a:lnTo>
                  <a:cubicBezTo>
                    <a:pt x="933208" y="230611"/>
                    <a:pt x="952853" y="223956"/>
                    <a:pt x="966583" y="211089"/>
                  </a:cubicBezTo>
                  <a:cubicBezTo>
                    <a:pt x="980312" y="198223"/>
                    <a:pt x="987791" y="177866"/>
                    <a:pt x="989018" y="150019"/>
                  </a:cubicBezTo>
                  <a:cubicBezTo>
                    <a:pt x="982545" y="157721"/>
                    <a:pt x="974815" y="163916"/>
                    <a:pt x="965829" y="168604"/>
                  </a:cubicBezTo>
                  <a:cubicBezTo>
                    <a:pt x="956844" y="173292"/>
                    <a:pt x="946993" y="175636"/>
                    <a:pt x="936278" y="175636"/>
                  </a:cubicBezTo>
                  <a:cubicBezTo>
                    <a:pt x="922213" y="175636"/>
                    <a:pt x="909963" y="172176"/>
                    <a:pt x="899526" y="165255"/>
                  </a:cubicBezTo>
                  <a:cubicBezTo>
                    <a:pt x="889090" y="158335"/>
                    <a:pt x="881025" y="148596"/>
                    <a:pt x="875332" y="136038"/>
                  </a:cubicBezTo>
                  <a:cubicBezTo>
                    <a:pt x="869640" y="123481"/>
                    <a:pt x="866793" y="109612"/>
                    <a:pt x="866793" y="94431"/>
                  </a:cubicBezTo>
                  <a:cubicBezTo>
                    <a:pt x="866793" y="78135"/>
                    <a:pt x="869891" y="63457"/>
                    <a:pt x="876086" y="50397"/>
                  </a:cubicBezTo>
                  <a:cubicBezTo>
                    <a:pt x="882281" y="37338"/>
                    <a:pt x="891071" y="27347"/>
                    <a:pt x="902456" y="20427"/>
                  </a:cubicBezTo>
                  <a:cubicBezTo>
                    <a:pt x="913842" y="13506"/>
                    <a:pt x="927125" y="10046"/>
                    <a:pt x="942305" y="10046"/>
                  </a:cubicBezTo>
                  <a:close/>
                  <a:moveTo>
                    <a:pt x="1530771" y="0"/>
                  </a:moveTo>
                  <a:lnTo>
                    <a:pt x="1561746" y="0"/>
                  </a:lnTo>
                  <a:lnTo>
                    <a:pt x="1561746" y="257175"/>
                  </a:lnTo>
                  <a:lnTo>
                    <a:pt x="1533283" y="257175"/>
                  </a:lnTo>
                  <a:lnTo>
                    <a:pt x="1531776" y="237753"/>
                  </a:lnTo>
                  <a:cubicBezTo>
                    <a:pt x="1519386" y="252933"/>
                    <a:pt x="1502141" y="260524"/>
                    <a:pt x="1480040" y="260524"/>
                  </a:cubicBezTo>
                  <a:cubicBezTo>
                    <a:pt x="1459055" y="260524"/>
                    <a:pt x="1441949" y="251929"/>
                    <a:pt x="1428722" y="234739"/>
                  </a:cubicBezTo>
                  <a:cubicBezTo>
                    <a:pt x="1415495" y="217549"/>
                    <a:pt x="1408881" y="195114"/>
                    <a:pt x="1408881" y="167432"/>
                  </a:cubicBezTo>
                  <a:lnTo>
                    <a:pt x="1408881" y="165088"/>
                  </a:lnTo>
                  <a:cubicBezTo>
                    <a:pt x="1408881" y="137294"/>
                    <a:pt x="1415467" y="114942"/>
                    <a:pt x="1428638" y="98031"/>
                  </a:cubicBezTo>
                  <a:cubicBezTo>
                    <a:pt x="1441809" y="81121"/>
                    <a:pt x="1459055" y="72666"/>
                    <a:pt x="1480375" y="72666"/>
                  </a:cubicBezTo>
                  <a:cubicBezTo>
                    <a:pt x="1501583" y="72666"/>
                    <a:pt x="1518381" y="79921"/>
                    <a:pt x="1530771" y="94431"/>
                  </a:cubicBezTo>
                  <a:close/>
                  <a:moveTo>
                    <a:pt x="1247645" y="0"/>
                  </a:moveTo>
                  <a:lnTo>
                    <a:pt x="1278619" y="0"/>
                  </a:lnTo>
                  <a:lnTo>
                    <a:pt x="1278619" y="257175"/>
                  </a:lnTo>
                  <a:lnTo>
                    <a:pt x="1247645" y="25717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270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465F73-4B27-4C0F-9B02-510C8E083EB6}"/>
                </a:ext>
              </a:extLst>
            </p:cNvPr>
            <p:cNvSpPr/>
            <p:nvPr/>
          </p:nvSpPr>
          <p:spPr>
            <a:xfrm>
              <a:off x="-2202100" y="-2224223"/>
              <a:ext cx="16596200" cy="112843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Roboto" panose="02000000000000000000" pitchFamily="2" charset="0"/>
              </a:endParaRPr>
            </a:p>
          </p:txBody>
        </p:sp>
      </p:grpSp>
      <p:sp>
        <p:nvSpPr>
          <p:cNvPr id="50" name="9Slide.vn">
            <a:extLst>
              <a:ext uri="{FF2B5EF4-FFF2-40B4-BE49-F238E27FC236}">
                <a16:creationId xmlns:a16="http://schemas.microsoft.com/office/drawing/2014/main" id="{0F30810D-0BA7-48B5-9100-E09C5C296021}"/>
              </a:ext>
            </a:extLst>
          </p:cNvPr>
          <p:cNvSpPr>
            <a:spLocks noSelect="1"/>
          </p:cNvSpPr>
          <p:nvPr userDrawn="1">
            <p:custDataLst>
              <p:tags r:id="rId14"/>
            </p:custDataLst>
          </p:nvPr>
        </p:nvSpPr>
        <p:spPr>
          <a:xfrm>
            <a:off x="6091428" y="-8915400"/>
            <a:ext cx="9144" cy="914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oboto" panose="02000000000000000000" pitchFamily="2" charset="0"/>
            </a:endParaRPr>
          </a:p>
        </p:txBody>
      </p:sp>
      <p:sp>
        <p:nvSpPr>
          <p:cNvPr id="51" name="9Slide.vn">
            <a:extLst>
              <a:ext uri="{FF2B5EF4-FFF2-40B4-BE49-F238E27FC236}">
                <a16:creationId xmlns:a16="http://schemas.microsoft.com/office/drawing/2014/main" id="{5703AF2A-1D5F-4BD2-8904-9B6C863CB9B3}"/>
              </a:ext>
            </a:extLst>
          </p:cNvPr>
          <p:cNvSpPr>
            <a:spLocks noSelect="1"/>
          </p:cNvSpPr>
          <p:nvPr userDrawn="1">
            <p:custDataLst>
              <p:tags r:id="rId15"/>
            </p:custDataLst>
          </p:nvPr>
        </p:nvSpPr>
        <p:spPr>
          <a:xfrm>
            <a:off x="6091428" y="15764256"/>
            <a:ext cx="9144" cy="914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2838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Roboto" panose="020000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50000"/>
              <a:lumOff val="50000"/>
            </a:schemeClr>
          </a:solidFill>
          <a:latin typeface="Roboto" panose="020000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Roboto" panose="020000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50000"/>
              <a:lumOff val="50000"/>
            </a:schemeClr>
          </a:solidFill>
          <a:latin typeface="Roboto" panose="020000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Roboto" panose="020000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Roboto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hyperlink" Target="https://doi.org/10.1128/mmbr.00078-15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1F4DA8FB-71F7-74F6-127F-93D5930A8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53" y="2242133"/>
            <a:ext cx="2361544" cy="535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Roboto Black" panose="02000000000000000000" pitchFamily="2" charset="0"/>
                <a:cs typeface="+mn-cs"/>
              </a:rPr>
              <a:t>Module 2.1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AC1D29E-B102-37D9-36C6-228D0FC7C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28" y="1142854"/>
            <a:ext cx="11017119" cy="4247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Circular Spotify" panose="020B0604020101020102" pitchFamily="34" charset="-93"/>
              </a:rPr>
              <a:t>Beginner Course on Microbial Genomics: Applications &amp; Research (2026)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EB157FF1-5F56-4176-3813-B65CBFE06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0155" y="5195215"/>
            <a:ext cx="3320140" cy="3416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pc="80" dirty="0">
                <a:solidFill>
                  <a:sysClr val="windowText" lastClr="000000"/>
                </a:solidFill>
                <a:latin typeface="Roboto" panose="02000000000000000000" pitchFamily="2" charset="0"/>
                <a:ea typeface="Roboto" panose="02000000000000000000" pitchFamily="2" charset="0"/>
                <a:cs typeface="Circular Spotify" panose="020B0604020101020102" pitchFamily="34" charset="-93"/>
              </a:rPr>
              <a:t>PhD Student: Quynh Nguyen</a:t>
            </a:r>
            <a:endParaRPr kumimoji="0" lang="en-US" altLang="en-US" b="0" i="0" u="none" strike="noStrike" kern="1200" cap="none" spc="8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Circular Spotify" panose="020B0604020101020102" pitchFamily="34" charset="-93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859D7EA7-5C8B-9C4E-14C7-98FAB03FE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28" y="5167515"/>
            <a:ext cx="1234953" cy="3693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Circular Spotify" panose="020B0604020101020102" pitchFamily="34" charset="-93"/>
              </a:rPr>
              <a:t>Lecturer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E8EEF1-0915-3A18-67CF-CA45C44AD39C}"/>
              </a:ext>
            </a:extLst>
          </p:cNvPr>
          <p:cNvSpPr txBox="1"/>
          <p:nvPr/>
        </p:nvSpPr>
        <p:spPr>
          <a:xfrm>
            <a:off x="411321" y="3004098"/>
            <a:ext cx="11284617" cy="115659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spc="80">
                <a:solidFill>
                  <a:srgbClr val="F6F6F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+mj-cs"/>
              </a:defRPr>
            </a:lvl1pPr>
          </a:lstStyle>
          <a:p>
            <a:pPr lvl="0" algn="ctr">
              <a:lnSpc>
                <a:spcPct val="91000"/>
              </a:lnSpc>
              <a:defRPr/>
            </a:pPr>
            <a:r>
              <a:rPr lang="en-VN" sz="3600" dirty="0">
                <a:solidFill>
                  <a:schemeClr val="tx1"/>
                </a:solidFill>
              </a:rPr>
              <a:t>Post Assembly Profiling</a:t>
            </a:r>
            <a:br>
              <a:rPr lang="en-VN" sz="3600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Quality Assessment &amp; Gene Content Analysis</a:t>
            </a:r>
            <a:endParaRPr kumimoji="0" lang="en-US" sz="3800" b="1" i="1" u="none" strike="noStrike" kern="1200" cap="none" spc="8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7AB19FC-3E67-335F-B70E-0AD1FB62D3EC}"/>
              </a:ext>
            </a:extLst>
          </p:cNvPr>
          <p:cNvCxnSpPr>
            <a:cxnSpLocks/>
          </p:cNvCxnSpPr>
          <p:nvPr/>
        </p:nvCxnSpPr>
        <p:spPr>
          <a:xfrm>
            <a:off x="637132" y="2750994"/>
            <a:ext cx="2080189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552F745-23B2-D488-3024-BDA94F4FFE0E}"/>
              </a:ext>
            </a:extLst>
          </p:cNvPr>
          <p:cNvGrpSpPr/>
          <p:nvPr/>
        </p:nvGrpSpPr>
        <p:grpSpPr>
          <a:xfrm>
            <a:off x="413022" y="309062"/>
            <a:ext cx="11291298" cy="625379"/>
            <a:chOff x="412547" y="108876"/>
            <a:chExt cx="11291298" cy="62537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283F074-BEFC-11FB-BDD9-8E1FCAEE4744}"/>
                </a:ext>
              </a:extLst>
            </p:cNvPr>
            <p:cNvGrpSpPr/>
            <p:nvPr/>
          </p:nvGrpSpPr>
          <p:grpSpPr>
            <a:xfrm>
              <a:off x="10629037" y="166970"/>
              <a:ext cx="1074808" cy="447185"/>
              <a:chOff x="8697416" y="246372"/>
              <a:chExt cx="1008112" cy="419436"/>
            </a:xfrm>
          </p:grpSpPr>
          <p:pic>
            <p:nvPicPr>
              <p:cNvPr id="19" name="Picture 18" descr="A blue square with white text&#10;&#10;Description automatically generated">
                <a:extLst>
                  <a:ext uri="{FF2B5EF4-FFF2-40B4-BE49-F238E27FC236}">
                    <a16:creationId xmlns:a16="http://schemas.microsoft.com/office/drawing/2014/main" id="{1CEA2AFB-99F5-2008-71F1-27D2E52397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86092" y="246372"/>
                <a:ext cx="419436" cy="419436"/>
              </a:xfrm>
              <a:prstGeom prst="rect">
                <a:avLst/>
              </a:prstGeom>
            </p:spPr>
          </p:pic>
          <p:pic>
            <p:nvPicPr>
              <p:cNvPr id="20" name="Picture 19" descr="A white letter on a black background&#10;&#10;AI-generated content may be incorrect.">
                <a:extLst>
                  <a:ext uri="{FF2B5EF4-FFF2-40B4-BE49-F238E27FC236}">
                    <a16:creationId xmlns:a16="http://schemas.microsoft.com/office/drawing/2014/main" id="{7F5E5329-C116-7873-5C0F-7433111E3F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97416" y="246372"/>
                <a:ext cx="419436" cy="419436"/>
              </a:xfrm>
              <a:prstGeom prst="rect">
                <a:avLst/>
              </a:prstGeom>
            </p:spPr>
          </p:pic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8A5A400-29BE-E14B-3C51-45EAD94C75B9}"/>
                </a:ext>
              </a:extLst>
            </p:cNvPr>
            <p:cNvGrpSpPr/>
            <p:nvPr/>
          </p:nvGrpSpPr>
          <p:grpSpPr>
            <a:xfrm>
              <a:off x="412547" y="108876"/>
              <a:ext cx="1667575" cy="625379"/>
              <a:chOff x="3224998" y="4021341"/>
              <a:chExt cx="2128140" cy="798101"/>
            </a:xfrm>
          </p:grpSpPr>
          <p:pic>
            <p:nvPicPr>
              <p:cNvPr id="24" name="Picture 23" descr="A logo with colorful lines&#10;&#10;AI-generated content may be incorrect.">
                <a:extLst>
                  <a:ext uri="{FF2B5EF4-FFF2-40B4-BE49-F238E27FC236}">
                    <a16:creationId xmlns:a16="http://schemas.microsoft.com/office/drawing/2014/main" id="{888F6F77-FDF9-4591-0D10-171579F2AA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24998" y="4021341"/>
                <a:ext cx="798100" cy="798101"/>
              </a:xfrm>
              <a:prstGeom prst="rect">
                <a:avLst/>
              </a:prstGeom>
            </p:spPr>
          </p:pic>
          <p:pic>
            <p:nvPicPr>
              <p:cNvPr id="26" name="Picture 25" descr="A logo with blue and green text&#10;&#10;AI-generated content may be incorrect.">
                <a:extLst>
                  <a:ext uri="{FF2B5EF4-FFF2-40B4-BE49-F238E27FC236}">
                    <a16:creationId xmlns:a16="http://schemas.microsoft.com/office/drawing/2014/main" id="{FBD61B9A-9181-847B-FAD9-14D877ACCA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70745" y="4095480"/>
                <a:ext cx="1182393" cy="632974"/>
              </a:xfrm>
              <a:prstGeom prst="rect">
                <a:avLst/>
              </a:prstGeom>
            </p:spPr>
          </p:pic>
        </p:grpSp>
        <p:pic>
          <p:nvPicPr>
            <p:cNvPr id="31" name="Picture 30" descr="UK Research and Innovation&#10;&#10;AI-generated content may be incorrect.">
              <a:extLst>
                <a:ext uri="{FF2B5EF4-FFF2-40B4-BE49-F238E27FC236}">
                  <a16:creationId xmlns:a16="http://schemas.microsoft.com/office/drawing/2014/main" id="{EEC2BC8E-417A-CA5A-B219-B72A298BF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909286" y="165700"/>
              <a:ext cx="1499990" cy="442265"/>
            </a:xfrm>
            <a:prstGeom prst="rect">
              <a:avLst/>
            </a:prstGeom>
          </p:spPr>
        </p:pic>
      </p:grpSp>
      <p:sp>
        <p:nvSpPr>
          <p:cNvPr id="32" name="Rectangle 3">
            <a:extLst>
              <a:ext uri="{FF2B5EF4-FFF2-40B4-BE49-F238E27FC236}">
                <a16:creationId xmlns:a16="http://schemas.microsoft.com/office/drawing/2014/main" id="{2DF12D7C-A802-3B55-B723-F9DD71A3A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57" y="5696075"/>
            <a:ext cx="2557431" cy="3693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000" b="1" spc="80" dirty="0">
                <a:solidFill>
                  <a:sysClr val="windowText" lastClr="000000"/>
                </a:solidFill>
                <a:latin typeface="Roboto" panose="02000000000000000000" pitchFamily="2" charset="0"/>
                <a:ea typeface="Roboto" panose="02000000000000000000" pitchFamily="2" charset="0"/>
                <a:cs typeface="Circular Spotify" panose="020B0604020101020102" pitchFamily="34" charset="-93"/>
              </a:rPr>
              <a:t>Teaching assistant</a:t>
            </a:r>
            <a:endParaRPr kumimoji="0" lang="en-US" altLang="en-US" sz="2000" b="1" i="0" u="none" strike="noStrike" kern="1200" cap="none" spc="8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Circular Spotify" panose="020B0604020101020102" pitchFamily="34" charset="-93"/>
            </a:endParaRP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1AFF3902-321A-AE4B-49BE-C36C30969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0155" y="5718943"/>
            <a:ext cx="2973571" cy="3416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pc="80" dirty="0" err="1">
                <a:solidFill>
                  <a:sysClr val="windowText" lastClr="000000"/>
                </a:solidFill>
                <a:latin typeface="Roboto" panose="02000000000000000000" pitchFamily="2" charset="0"/>
                <a:ea typeface="Roboto" panose="02000000000000000000" pitchFamily="2" charset="0"/>
                <a:cs typeface="Circular Spotify" panose="020B0604020101020102" pitchFamily="34" charset="-93"/>
              </a:rPr>
              <a:t>Mr</a:t>
            </a:r>
            <a:r>
              <a:rPr lang="en-US" altLang="en-US" spc="80" dirty="0">
                <a:solidFill>
                  <a:sysClr val="windowText" lastClr="000000"/>
                </a:solidFill>
                <a:latin typeface="Roboto" panose="02000000000000000000" pitchFamily="2" charset="0"/>
                <a:ea typeface="Roboto" panose="02000000000000000000" pitchFamily="2" charset="0"/>
                <a:cs typeface="Circular Spotify" panose="020B0604020101020102" pitchFamily="34" charset="-93"/>
              </a:rPr>
              <a:t>: Ton Ngoc Minh Quan</a:t>
            </a:r>
            <a:endParaRPr kumimoji="0" lang="en-US" altLang="en-US" b="0" i="0" u="none" strike="noStrike" kern="1200" cap="none" spc="8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Circular Spotify" panose="020B0604020101020102" pitchFamily="34" charset="-93"/>
            </a:endParaRPr>
          </a:p>
        </p:txBody>
      </p:sp>
    </p:spTree>
    <p:extLst>
      <p:ext uri="{BB962C8B-B14F-4D97-AF65-F5344CB8AC3E}">
        <p14:creationId xmlns:p14="http://schemas.microsoft.com/office/powerpoint/2010/main" val="2960788633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FE27C-FEEC-DE98-0FE3-739123FF7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386289A3-58DE-8A2B-A9B4-0AD150C3265B}"/>
              </a:ext>
            </a:extLst>
          </p:cNvPr>
          <p:cNvSpPr txBox="1"/>
          <p:nvPr/>
        </p:nvSpPr>
        <p:spPr>
          <a:xfrm>
            <a:off x="396624" y="280662"/>
            <a:ext cx="3247684" cy="7099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l">
              <a:lnSpc>
                <a:spcPct val="106000"/>
              </a:lnSpc>
              <a:defRPr/>
            </a:pPr>
            <a:r>
              <a:rPr lang="en-US" sz="4000">
                <a:solidFill>
                  <a:srgbClr val="06193E"/>
                </a:solidFill>
                <a:latin typeface="Roboto"/>
                <a:ea typeface="Roboto"/>
                <a:cs typeface="Roboto"/>
              </a:rPr>
              <a:t>Our journeys</a:t>
            </a:r>
            <a:endParaRPr lang="en-US" sz="4000" b="1" i="0" u="none" strike="noStrike" kern="1200" cap="none" spc="80" normalizeH="0" baseline="0" noProof="0">
              <a:ln>
                <a:noFill/>
              </a:ln>
              <a:solidFill>
                <a:srgbClr val="06193E"/>
              </a:solidFill>
              <a:effectLst/>
              <a:uLnTx/>
              <a:uFillTx/>
              <a:ea typeface="Roboto" panose="02000000000000000000" pitchFamily="2" charset="0"/>
              <a:cs typeface="Roboto"/>
            </a:endParaRPr>
          </a:p>
        </p:txBody>
      </p:sp>
      <p:pic>
        <p:nvPicPr>
          <p:cNvPr id="15" name="Graphic 14" descr="Flag with solid fill">
            <a:extLst>
              <a:ext uri="{FF2B5EF4-FFF2-40B4-BE49-F238E27FC236}">
                <a16:creationId xmlns:a16="http://schemas.microsoft.com/office/drawing/2014/main" id="{DEA409D6-BC5D-968F-730D-D168138D91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37163" y="2792845"/>
            <a:ext cx="446810" cy="452582"/>
          </a:xfrm>
          <a:prstGeom prst="rect">
            <a:avLst/>
          </a:prstGeom>
        </p:spPr>
      </p:pic>
      <p:pic>
        <p:nvPicPr>
          <p:cNvPr id="16" name="Graphic 15" descr="Marker outline">
            <a:extLst>
              <a:ext uri="{FF2B5EF4-FFF2-40B4-BE49-F238E27FC236}">
                <a16:creationId xmlns:a16="http://schemas.microsoft.com/office/drawing/2014/main" id="{CD9D7B26-A39F-EC00-F68A-6664968F87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6401" y="3790084"/>
            <a:ext cx="459510" cy="458356"/>
          </a:xfrm>
          <a:prstGeom prst="rect">
            <a:avLst/>
          </a:prstGeom>
        </p:spPr>
      </p:pic>
      <p:pic>
        <p:nvPicPr>
          <p:cNvPr id="19" name="Graphic 18" descr="Marker outline">
            <a:extLst>
              <a:ext uri="{FF2B5EF4-FFF2-40B4-BE49-F238E27FC236}">
                <a16:creationId xmlns:a16="http://schemas.microsoft.com/office/drawing/2014/main" id="{C9693DEC-3AE8-8D12-B65F-0E3456264E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7356" y="5250583"/>
            <a:ext cx="459510" cy="458356"/>
          </a:xfrm>
          <a:prstGeom prst="rect">
            <a:avLst/>
          </a:prstGeom>
        </p:spPr>
      </p:pic>
      <p:sp>
        <p:nvSpPr>
          <p:cNvPr id="21" name="Rectangle 3">
            <a:extLst>
              <a:ext uri="{FF2B5EF4-FFF2-40B4-BE49-F238E27FC236}">
                <a16:creationId xmlns:a16="http://schemas.microsoft.com/office/drawing/2014/main" id="{39B7A374-63BA-7601-D47F-31E7AED5D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346" y="3421155"/>
            <a:ext cx="1571584" cy="2862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Raw sequences</a:t>
            </a:r>
            <a:endParaRPr lang="en-US" altLang="en-US" sz="1400" b="0" i="0" u="none" strike="noStrike" kern="1200" cap="none" spc="8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/>
              <a:ea typeface="Roboto"/>
              <a:cs typeface="Circular Spotify" panose="020B0604020101020102" pitchFamily="34" charset="-93"/>
            </a:endParaRPr>
          </a:p>
        </p:txBody>
      </p:sp>
      <p:pic>
        <p:nvPicPr>
          <p:cNvPr id="24" name="Graphic 23" descr="Marker outline">
            <a:extLst>
              <a:ext uri="{FF2B5EF4-FFF2-40B4-BE49-F238E27FC236}">
                <a16:creationId xmlns:a16="http://schemas.microsoft.com/office/drawing/2014/main" id="{B9C655D5-9157-12A9-99AA-A6E2EE3CA1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38219" y="811356"/>
            <a:ext cx="459510" cy="458356"/>
          </a:xfrm>
          <a:prstGeom prst="rect">
            <a:avLst/>
          </a:prstGeom>
        </p:spPr>
      </p:pic>
      <p:sp>
        <p:nvSpPr>
          <p:cNvPr id="25" name="Rectangle 3">
            <a:extLst>
              <a:ext uri="{FF2B5EF4-FFF2-40B4-BE49-F238E27FC236}">
                <a16:creationId xmlns:a16="http://schemas.microsoft.com/office/drawing/2014/main" id="{C8194582-1396-35AE-3FD9-40579B8E0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4634" y="522316"/>
            <a:ext cx="1976503" cy="2862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Annotated genomes</a:t>
            </a:r>
            <a:endParaRPr lang="en-US" altLang="en-US" sz="1400" b="0" i="0" u="none" strike="noStrike" kern="1200" cap="none" spc="8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/>
              <a:ea typeface="Roboto"/>
              <a:cs typeface="Circular Spotify" panose="020B0604020101020102" pitchFamily="34" charset="-93"/>
            </a:endParaRP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11A30A29-CA63-D2F7-63E2-2872020BC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1245" y="4966360"/>
            <a:ext cx="1100942" cy="2862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Phylogeny</a:t>
            </a:r>
            <a:endParaRPr lang="en-US" altLang="en-US" sz="1400" b="0" i="0" u="none" strike="noStrike" kern="1200" cap="none" spc="8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/>
              <a:ea typeface="Roboto"/>
              <a:cs typeface="Circular Spotify" panose="020B0604020101020102" pitchFamily="34" charset="-93"/>
            </a:endParaRPr>
          </a:p>
        </p:txBody>
      </p:sp>
      <p:pic>
        <p:nvPicPr>
          <p:cNvPr id="27" name="Graphic 26" descr="Good Inventory with solid fill">
            <a:extLst>
              <a:ext uri="{FF2B5EF4-FFF2-40B4-BE49-F238E27FC236}">
                <a16:creationId xmlns:a16="http://schemas.microsoft.com/office/drawing/2014/main" id="{405DEC5D-74F5-F389-66FD-0AF0BE3EB2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10367" y="3763779"/>
            <a:ext cx="550719" cy="498766"/>
          </a:xfrm>
          <a:prstGeom prst="rect">
            <a:avLst/>
          </a:prstGeom>
        </p:spPr>
      </p:pic>
      <p:sp>
        <p:nvSpPr>
          <p:cNvPr id="29" name="Rectangle 3">
            <a:extLst>
              <a:ext uri="{FF2B5EF4-FFF2-40B4-BE49-F238E27FC236}">
                <a16:creationId xmlns:a16="http://schemas.microsoft.com/office/drawing/2014/main" id="{3DB212C0-CD19-2287-6EA0-E8310EA04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112" y="4321886"/>
            <a:ext cx="445635" cy="2862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QC</a:t>
            </a:r>
            <a:endParaRPr lang="en-US" altLang="en-US" sz="1400" b="0" i="0" u="none" strike="noStrike" kern="1200" cap="none" spc="8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/>
              <a:ea typeface="Roboto"/>
              <a:cs typeface="Circular Spotify" panose="020B0604020101020102" pitchFamily="34" charset="-93"/>
            </a:endParaRP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E8B0456F-D7AB-55B5-6DD7-E8C5B3E88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4211" y="3288297"/>
            <a:ext cx="1226618" cy="55707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Assembled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genome</a:t>
            </a:r>
            <a:endParaRPr lang="en-US" altLang="en-US" sz="1400" b="0" i="0" u="none" strike="noStrike" kern="1200" cap="none" spc="8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/>
              <a:ea typeface="Roboto"/>
              <a:cs typeface="Circular Spotify" panose="020B0604020101020102" pitchFamily="34" charset="-93"/>
            </a:endParaRPr>
          </a:p>
        </p:txBody>
      </p:sp>
      <p:pic>
        <p:nvPicPr>
          <p:cNvPr id="34" name="Graphic 33" descr="Flag with solid fill">
            <a:extLst>
              <a:ext uri="{FF2B5EF4-FFF2-40B4-BE49-F238E27FC236}">
                <a16:creationId xmlns:a16="http://schemas.microsoft.com/office/drawing/2014/main" id="{F1F97250-51FE-4216-F798-E929AABB1F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99094" y="1661202"/>
            <a:ext cx="446810" cy="452582"/>
          </a:xfrm>
          <a:prstGeom prst="rect">
            <a:avLst/>
          </a:prstGeom>
        </p:spPr>
      </p:pic>
      <p:pic>
        <p:nvPicPr>
          <p:cNvPr id="35" name="Graphic 34" descr="Flag with solid fill">
            <a:extLst>
              <a:ext uri="{FF2B5EF4-FFF2-40B4-BE49-F238E27FC236}">
                <a16:creationId xmlns:a16="http://schemas.microsoft.com/office/drawing/2014/main" id="{FC6E859F-458F-3E44-B47A-377EE4E17F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5142" y="2033914"/>
            <a:ext cx="446810" cy="452582"/>
          </a:xfrm>
          <a:prstGeom prst="rect">
            <a:avLst/>
          </a:prstGeom>
        </p:spPr>
      </p:pic>
      <p:pic>
        <p:nvPicPr>
          <p:cNvPr id="2" name="Graphic 1" descr="Scuba diving outline">
            <a:extLst>
              <a:ext uri="{FF2B5EF4-FFF2-40B4-BE49-F238E27FC236}">
                <a16:creationId xmlns:a16="http://schemas.microsoft.com/office/drawing/2014/main" id="{AD96A91E-484C-3B82-8009-F36FA03A75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8573" y="5430982"/>
            <a:ext cx="914400" cy="914400"/>
          </a:xfrm>
          <a:prstGeom prst="rect">
            <a:avLst/>
          </a:prstGeom>
        </p:spPr>
      </p:pic>
      <p:pic>
        <p:nvPicPr>
          <p:cNvPr id="3" name="Graphic 2" descr="Seaweed outline">
            <a:extLst>
              <a:ext uri="{FF2B5EF4-FFF2-40B4-BE49-F238E27FC236}">
                <a16:creationId xmlns:a16="http://schemas.microsoft.com/office/drawing/2014/main" id="{0FB28D5A-63D0-8B02-3EBC-EA381134F7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48266" y="5885583"/>
            <a:ext cx="360218" cy="412175"/>
          </a:xfrm>
          <a:prstGeom prst="rect">
            <a:avLst/>
          </a:prstGeom>
        </p:spPr>
      </p:pic>
      <p:pic>
        <p:nvPicPr>
          <p:cNvPr id="4" name="Graphic 3" descr="Coral outline">
            <a:extLst>
              <a:ext uri="{FF2B5EF4-FFF2-40B4-BE49-F238E27FC236}">
                <a16:creationId xmlns:a16="http://schemas.microsoft.com/office/drawing/2014/main" id="{7BC1F71E-371A-5184-A62E-7529BA4700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08095" y="5716732"/>
            <a:ext cx="648855" cy="550719"/>
          </a:xfrm>
          <a:prstGeom prst="rect">
            <a:avLst/>
          </a:prstGeom>
        </p:spPr>
      </p:pic>
      <p:pic>
        <p:nvPicPr>
          <p:cNvPr id="5" name="Graphic 4" descr="Fish outline">
            <a:extLst>
              <a:ext uri="{FF2B5EF4-FFF2-40B4-BE49-F238E27FC236}">
                <a16:creationId xmlns:a16="http://schemas.microsoft.com/office/drawing/2014/main" id="{FD654A7C-ABD9-E832-44C4-BFD205F8D0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660000" flipH="1">
            <a:off x="11101243" y="5692198"/>
            <a:ext cx="412174" cy="360219"/>
          </a:xfrm>
          <a:prstGeom prst="rect">
            <a:avLst/>
          </a:prstGeom>
        </p:spPr>
      </p:pic>
      <p:pic>
        <p:nvPicPr>
          <p:cNvPr id="6" name="Graphic 5" descr="Mountains outline">
            <a:extLst>
              <a:ext uri="{FF2B5EF4-FFF2-40B4-BE49-F238E27FC236}">
                <a16:creationId xmlns:a16="http://schemas.microsoft.com/office/drawing/2014/main" id="{851F8061-F3C8-7038-D5B4-E6B8FA1C51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18436" y="951346"/>
            <a:ext cx="579583" cy="637309"/>
          </a:xfrm>
          <a:prstGeom prst="rect">
            <a:avLst/>
          </a:prstGeom>
        </p:spPr>
      </p:pic>
      <p:pic>
        <p:nvPicPr>
          <p:cNvPr id="7" name="Graphic 6" descr="Flag with solid fill">
            <a:extLst>
              <a:ext uri="{FF2B5EF4-FFF2-40B4-BE49-F238E27FC236}">
                <a16:creationId xmlns:a16="http://schemas.microsoft.com/office/drawing/2014/main" id="{F059A152-F828-7A32-1B8A-7E391B396D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892" y="5484983"/>
            <a:ext cx="446810" cy="452582"/>
          </a:xfrm>
          <a:prstGeom prst="rect">
            <a:avLst/>
          </a:prstGeom>
        </p:spPr>
      </p:pic>
      <p:pic>
        <p:nvPicPr>
          <p:cNvPr id="8" name="Graphic 7" descr="Flag with solid fill">
            <a:extLst>
              <a:ext uri="{FF2B5EF4-FFF2-40B4-BE49-F238E27FC236}">
                <a16:creationId xmlns:a16="http://schemas.microsoft.com/office/drawing/2014/main" id="{BEAABA3D-2968-829E-E6B8-A9D7FAC60D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26299" y="5026889"/>
            <a:ext cx="446810" cy="452582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078A0D6-9DBB-DFB4-8663-D55D903D8CB7}"/>
              </a:ext>
            </a:extLst>
          </p:cNvPr>
          <p:cNvCxnSpPr/>
          <p:nvPr/>
        </p:nvCxnSpPr>
        <p:spPr>
          <a:xfrm flipV="1">
            <a:off x="1499756" y="3257718"/>
            <a:ext cx="1543626" cy="608482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722404B-60A3-DD0F-6E50-146D3D90F8EC}"/>
              </a:ext>
            </a:extLst>
          </p:cNvPr>
          <p:cNvCxnSpPr>
            <a:cxnSpLocks/>
          </p:cNvCxnSpPr>
          <p:nvPr/>
        </p:nvCxnSpPr>
        <p:spPr>
          <a:xfrm>
            <a:off x="1141847" y="4259118"/>
            <a:ext cx="302489" cy="781628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41259E1-E7D9-D3D6-C010-249A9839A467}"/>
              </a:ext>
            </a:extLst>
          </p:cNvPr>
          <p:cNvCxnSpPr>
            <a:cxnSpLocks/>
          </p:cNvCxnSpPr>
          <p:nvPr/>
        </p:nvCxnSpPr>
        <p:spPr>
          <a:xfrm>
            <a:off x="1464374" y="5042533"/>
            <a:ext cx="683489" cy="640290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0FEA432-B19B-B848-6AF5-378EBFE35DF6}"/>
              </a:ext>
            </a:extLst>
          </p:cNvPr>
          <p:cNvCxnSpPr>
            <a:cxnSpLocks/>
          </p:cNvCxnSpPr>
          <p:nvPr/>
        </p:nvCxnSpPr>
        <p:spPr>
          <a:xfrm>
            <a:off x="2177212" y="5687774"/>
            <a:ext cx="966165" cy="216275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0C45A3-B47B-164B-FCF2-83B9B608FB9A}"/>
              </a:ext>
            </a:extLst>
          </p:cNvPr>
          <p:cNvCxnSpPr>
            <a:cxnSpLocks/>
          </p:cNvCxnSpPr>
          <p:nvPr/>
        </p:nvCxnSpPr>
        <p:spPr>
          <a:xfrm>
            <a:off x="3172727" y="5865985"/>
            <a:ext cx="363941" cy="296162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28EA110-4A76-C400-94B7-9DED7381E251}"/>
              </a:ext>
            </a:extLst>
          </p:cNvPr>
          <p:cNvCxnSpPr>
            <a:cxnSpLocks/>
          </p:cNvCxnSpPr>
          <p:nvPr/>
        </p:nvCxnSpPr>
        <p:spPr>
          <a:xfrm flipV="1">
            <a:off x="3535291" y="6057679"/>
            <a:ext cx="425392" cy="84837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4243044-9501-0FE0-86BF-A6EAAFFBE0A1}"/>
              </a:ext>
            </a:extLst>
          </p:cNvPr>
          <p:cNvCxnSpPr>
            <a:cxnSpLocks/>
          </p:cNvCxnSpPr>
          <p:nvPr/>
        </p:nvCxnSpPr>
        <p:spPr>
          <a:xfrm flipV="1">
            <a:off x="3897856" y="5670534"/>
            <a:ext cx="996890" cy="404384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6E291C8-F5A7-A32D-E171-725BD79FDF23}"/>
              </a:ext>
            </a:extLst>
          </p:cNvPr>
          <p:cNvCxnSpPr>
            <a:cxnSpLocks/>
          </p:cNvCxnSpPr>
          <p:nvPr/>
        </p:nvCxnSpPr>
        <p:spPr>
          <a:xfrm>
            <a:off x="4899516" y="5675482"/>
            <a:ext cx="953875" cy="1196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E511919-C1AB-6FA1-DD61-0D94260B6AAE}"/>
              </a:ext>
            </a:extLst>
          </p:cNvPr>
          <p:cNvCxnSpPr>
            <a:cxnSpLocks/>
          </p:cNvCxnSpPr>
          <p:nvPr/>
        </p:nvCxnSpPr>
        <p:spPr>
          <a:xfrm flipV="1">
            <a:off x="5870451" y="5418581"/>
            <a:ext cx="665053" cy="244610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376DF8A-6A69-097C-3D8A-E80EBED8A443}"/>
              </a:ext>
            </a:extLst>
          </p:cNvPr>
          <p:cNvCxnSpPr>
            <a:cxnSpLocks/>
          </p:cNvCxnSpPr>
          <p:nvPr/>
        </p:nvCxnSpPr>
        <p:spPr>
          <a:xfrm flipV="1">
            <a:off x="6552563" y="5418580"/>
            <a:ext cx="775666" cy="17240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D5A42EB-C32F-CB18-6B15-7BFF8DD3DA4C}"/>
              </a:ext>
            </a:extLst>
          </p:cNvPr>
          <p:cNvCxnSpPr>
            <a:cxnSpLocks/>
          </p:cNvCxnSpPr>
          <p:nvPr/>
        </p:nvCxnSpPr>
        <p:spPr>
          <a:xfrm>
            <a:off x="7345288" y="5454255"/>
            <a:ext cx="652763" cy="240857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2395653-0CB6-F98F-A83D-2D25633BDC8B}"/>
              </a:ext>
            </a:extLst>
          </p:cNvPr>
          <p:cNvCxnSpPr>
            <a:cxnSpLocks/>
          </p:cNvCxnSpPr>
          <p:nvPr/>
        </p:nvCxnSpPr>
        <p:spPr>
          <a:xfrm>
            <a:off x="8039690" y="5693916"/>
            <a:ext cx="204166" cy="351469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3B9C369-1E56-6FC2-76CC-DFD85A42B495}"/>
              </a:ext>
            </a:extLst>
          </p:cNvPr>
          <p:cNvCxnSpPr>
            <a:cxnSpLocks/>
          </p:cNvCxnSpPr>
          <p:nvPr/>
        </p:nvCxnSpPr>
        <p:spPr>
          <a:xfrm flipV="1">
            <a:off x="8273207" y="6014660"/>
            <a:ext cx="1341020" cy="11095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3F6CDD2-E8D2-F463-18A7-6D997B2891A5}"/>
              </a:ext>
            </a:extLst>
          </p:cNvPr>
          <p:cNvCxnSpPr>
            <a:cxnSpLocks/>
          </p:cNvCxnSpPr>
          <p:nvPr/>
        </p:nvCxnSpPr>
        <p:spPr>
          <a:xfrm flipV="1">
            <a:off x="1181694" y="3870002"/>
            <a:ext cx="320925" cy="355225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78FCA74-C629-94AE-4B83-79FA533CDBA2}"/>
              </a:ext>
            </a:extLst>
          </p:cNvPr>
          <p:cNvCxnSpPr>
            <a:cxnSpLocks/>
          </p:cNvCxnSpPr>
          <p:nvPr/>
        </p:nvCxnSpPr>
        <p:spPr>
          <a:xfrm flipV="1">
            <a:off x="3066771" y="2519995"/>
            <a:ext cx="1001453" cy="751522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A7D9366-D9B9-C507-E1B2-60B646AD5C65}"/>
              </a:ext>
            </a:extLst>
          </p:cNvPr>
          <p:cNvCxnSpPr>
            <a:cxnSpLocks/>
          </p:cNvCxnSpPr>
          <p:nvPr/>
        </p:nvCxnSpPr>
        <p:spPr>
          <a:xfrm flipV="1">
            <a:off x="4099158" y="2421975"/>
            <a:ext cx="2238028" cy="110725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EA8C741-AAB0-6211-6967-D0CE95769EB7}"/>
              </a:ext>
            </a:extLst>
          </p:cNvPr>
          <p:cNvCxnSpPr>
            <a:cxnSpLocks/>
          </p:cNvCxnSpPr>
          <p:nvPr/>
        </p:nvCxnSpPr>
        <p:spPr>
          <a:xfrm flipV="1">
            <a:off x="6333100" y="2101733"/>
            <a:ext cx="2164286" cy="325807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C050596-AAC2-0CEF-7596-370EDBBDA712}"/>
              </a:ext>
            </a:extLst>
          </p:cNvPr>
          <p:cNvCxnSpPr>
            <a:cxnSpLocks/>
          </p:cNvCxnSpPr>
          <p:nvPr/>
        </p:nvCxnSpPr>
        <p:spPr>
          <a:xfrm flipV="1">
            <a:off x="8563338" y="1451598"/>
            <a:ext cx="1589435" cy="632505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3">
            <a:extLst>
              <a:ext uri="{FF2B5EF4-FFF2-40B4-BE49-F238E27FC236}">
                <a16:creationId xmlns:a16="http://schemas.microsoft.com/office/drawing/2014/main" id="{469E4AC3-8470-14A4-9F11-34A3344FE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486" y="5135691"/>
            <a:ext cx="999034" cy="2862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Mapping</a:t>
            </a:r>
            <a:endParaRPr lang="en-US" altLang="en-US" sz="1400" b="0" i="0" u="none" strike="noStrike" kern="1200" cap="none" spc="8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/>
              <a:ea typeface="Roboto"/>
              <a:cs typeface="Circular Spotify" panose="020B0604020101020102" pitchFamily="34" charset="-93"/>
            </a:endParaRPr>
          </a:p>
        </p:txBody>
      </p:sp>
      <p:sp>
        <p:nvSpPr>
          <p:cNvPr id="45" name="Rectangle 3">
            <a:extLst>
              <a:ext uri="{FF2B5EF4-FFF2-40B4-BE49-F238E27FC236}">
                <a16:creationId xmlns:a16="http://schemas.microsoft.com/office/drawing/2014/main" id="{7EDBE401-041A-3A85-7A9E-40539FC61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4155" y="4705308"/>
            <a:ext cx="2034301" cy="4801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sz="1400" spc="80" dirty="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Variant </a:t>
            </a: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calling and filtering</a:t>
            </a:r>
            <a:endParaRPr lang="en-US" altLang="en-US" sz="1400" b="0" i="0" u="none" strike="noStrike" kern="1200" cap="none" spc="8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/>
              <a:ea typeface="Roboto"/>
              <a:cs typeface="Circular Spotify" panose="020B0604020101020102" pitchFamily="34" charset="-93"/>
            </a:endParaRPr>
          </a:p>
        </p:txBody>
      </p:sp>
      <p:pic>
        <p:nvPicPr>
          <p:cNvPr id="11" name="Graphic 10" descr="Good Inventory with solid fill">
            <a:extLst>
              <a:ext uri="{FF2B5EF4-FFF2-40B4-BE49-F238E27FC236}">
                <a16:creationId xmlns:a16="http://schemas.microsoft.com/office/drawing/2014/main" id="{1CD9EB76-621B-DFDC-A15C-60567E2EE0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5250" y="2541129"/>
            <a:ext cx="550719" cy="498766"/>
          </a:xfrm>
          <a:prstGeom prst="rect">
            <a:avLst/>
          </a:prstGeom>
        </p:spPr>
      </p:pic>
      <p:sp>
        <p:nvSpPr>
          <p:cNvPr id="46" name="Rectangle 3">
            <a:extLst>
              <a:ext uri="{FF2B5EF4-FFF2-40B4-BE49-F238E27FC236}">
                <a16:creationId xmlns:a16="http://schemas.microsoft.com/office/drawing/2014/main" id="{6A63576C-5CBC-6DC6-93D7-5BB5014D4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691" y="3092235"/>
            <a:ext cx="3257856" cy="30777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sz="1400" spc="80" dirty="0">
                <a:solidFill>
                  <a:sysClr val="windowText" lastClr="000000"/>
                </a:solidFill>
                <a:latin typeface="Roboto"/>
                <a:ea typeface="Roboto"/>
                <a:cs typeface="Roboto"/>
              </a:rPr>
              <a:t>QC </a:t>
            </a:r>
            <a:r>
              <a:rPr lang="en-US" altLang="en-US" sz="1400" spc="80" dirty="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&amp; Post-Assembly </a:t>
            </a: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Profiling</a:t>
            </a:r>
            <a:endParaRPr lang="en-US" altLang="en-US" sz="1400" b="0" i="0" u="none" strike="noStrike" kern="1200" cap="none" spc="8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/>
              <a:ea typeface="Roboto"/>
              <a:cs typeface="Circular Spotify" panose="020B0604020101020102" pitchFamily="34" charset="-93"/>
            </a:endParaRP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DC157CA9-CF78-C67C-3BAF-BDAC2F9ED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1074" y="2713920"/>
            <a:ext cx="1686680" cy="2862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sz="1400" spc="80" dirty="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Hybrid </a:t>
            </a: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Assembly</a:t>
            </a:r>
            <a:endParaRPr lang="en-US" altLang="en-US" sz="1400" b="0" i="0" u="none" strike="noStrike" kern="1200" cap="none" spc="8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/>
              <a:ea typeface="Roboto"/>
              <a:cs typeface="Circular Spotify" panose="020B0604020101020102" pitchFamily="34" charset="-93"/>
            </a:endParaRPr>
          </a:p>
        </p:txBody>
      </p:sp>
      <p:pic>
        <p:nvPicPr>
          <p:cNvPr id="49" name="Graphic 48" descr="Research with solid fill">
            <a:extLst>
              <a:ext uri="{FF2B5EF4-FFF2-40B4-BE49-F238E27FC236}">
                <a16:creationId xmlns:a16="http://schemas.microsoft.com/office/drawing/2014/main" id="{C0BEC34D-97C2-686C-94E5-08F0CA766A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01077" y="2519127"/>
            <a:ext cx="672975" cy="574896"/>
          </a:xfrm>
          <a:prstGeom prst="rect">
            <a:avLst/>
          </a:prstGeom>
        </p:spPr>
      </p:pic>
      <p:pic>
        <p:nvPicPr>
          <p:cNvPr id="50" name="Graphic 49" descr="Shooting star with solid fill">
            <a:extLst>
              <a:ext uri="{FF2B5EF4-FFF2-40B4-BE49-F238E27FC236}">
                <a16:creationId xmlns:a16="http://schemas.microsoft.com/office/drawing/2014/main" id="{DFEF7B16-C9FB-BE27-E8CB-50AA593D3C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34125" y="2156987"/>
            <a:ext cx="627709" cy="559807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C33533DE-AFDD-602A-297F-6B827DCC507C}"/>
              </a:ext>
            </a:extLst>
          </p:cNvPr>
          <p:cNvSpPr/>
          <p:nvPr/>
        </p:nvSpPr>
        <p:spPr>
          <a:xfrm>
            <a:off x="222739" y="4768605"/>
            <a:ext cx="3842570" cy="1894411"/>
          </a:xfrm>
          <a:prstGeom prst="rect">
            <a:avLst/>
          </a:prstGeom>
          <a:solidFill>
            <a:srgbClr val="FFFFFF">
              <a:alpha val="7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045D132-61A1-90FD-A80D-B4495BE37458}"/>
              </a:ext>
            </a:extLst>
          </p:cNvPr>
          <p:cNvSpPr/>
          <p:nvPr/>
        </p:nvSpPr>
        <p:spPr>
          <a:xfrm>
            <a:off x="4114218" y="253331"/>
            <a:ext cx="7359220" cy="3146681"/>
          </a:xfrm>
          <a:prstGeom prst="rect">
            <a:avLst/>
          </a:prstGeom>
          <a:solidFill>
            <a:srgbClr val="FFFFFF">
              <a:alpha val="7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DC7A6BC-6008-9984-1E7F-8B02809145A2}"/>
              </a:ext>
            </a:extLst>
          </p:cNvPr>
          <p:cNvSpPr/>
          <p:nvPr/>
        </p:nvSpPr>
        <p:spPr>
          <a:xfrm rot="5400000">
            <a:off x="6306444" y="1501607"/>
            <a:ext cx="3015319" cy="7459788"/>
          </a:xfrm>
          <a:prstGeom prst="rect">
            <a:avLst/>
          </a:prstGeom>
          <a:solidFill>
            <a:srgbClr val="FFFFFF">
              <a:alpha val="7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C28EB5E-51B1-7B7C-0704-AC66DC92CDC4}"/>
              </a:ext>
            </a:extLst>
          </p:cNvPr>
          <p:cNvSpPr/>
          <p:nvPr/>
        </p:nvSpPr>
        <p:spPr>
          <a:xfrm>
            <a:off x="450062" y="4248440"/>
            <a:ext cx="1014312" cy="522404"/>
          </a:xfrm>
          <a:prstGeom prst="rect">
            <a:avLst/>
          </a:prstGeom>
          <a:solidFill>
            <a:srgbClr val="FFFFFF">
              <a:alpha val="7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9524250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6156A-766C-68BD-1B7A-7507A1F5E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A7034E89-E1DC-CEE8-13C3-477929C776CC}"/>
              </a:ext>
            </a:extLst>
          </p:cNvPr>
          <p:cNvSpPr txBox="1"/>
          <p:nvPr/>
        </p:nvSpPr>
        <p:spPr>
          <a:xfrm>
            <a:off x="396624" y="280662"/>
            <a:ext cx="3247684" cy="7099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l">
              <a:lnSpc>
                <a:spcPct val="106000"/>
              </a:lnSpc>
              <a:defRPr/>
            </a:pPr>
            <a:r>
              <a:rPr lang="en-US" sz="4000">
                <a:solidFill>
                  <a:srgbClr val="06193E"/>
                </a:solidFill>
                <a:latin typeface="Roboto"/>
                <a:ea typeface="Roboto"/>
                <a:cs typeface="Roboto"/>
              </a:rPr>
              <a:t>Our journeys</a:t>
            </a:r>
            <a:endParaRPr lang="en-US" sz="4000" b="1" i="0" u="none" strike="noStrike" kern="1200" cap="none" spc="80" normalizeH="0" baseline="0" noProof="0">
              <a:ln>
                <a:noFill/>
              </a:ln>
              <a:solidFill>
                <a:srgbClr val="06193E"/>
              </a:solidFill>
              <a:effectLst/>
              <a:uLnTx/>
              <a:uFillTx/>
              <a:ea typeface="Roboto" panose="02000000000000000000" pitchFamily="2" charset="0"/>
              <a:cs typeface="Roboto"/>
            </a:endParaRPr>
          </a:p>
        </p:txBody>
      </p:sp>
      <p:pic>
        <p:nvPicPr>
          <p:cNvPr id="15" name="Graphic 14" descr="Flag with solid fill">
            <a:extLst>
              <a:ext uri="{FF2B5EF4-FFF2-40B4-BE49-F238E27FC236}">
                <a16:creationId xmlns:a16="http://schemas.microsoft.com/office/drawing/2014/main" id="{718ED834-F17C-1E70-F52D-066F0B6012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37163" y="2792845"/>
            <a:ext cx="446810" cy="452582"/>
          </a:xfrm>
          <a:prstGeom prst="rect">
            <a:avLst/>
          </a:prstGeom>
        </p:spPr>
      </p:pic>
      <p:pic>
        <p:nvPicPr>
          <p:cNvPr id="16" name="Graphic 15" descr="Marker outline">
            <a:extLst>
              <a:ext uri="{FF2B5EF4-FFF2-40B4-BE49-F238E27FC236}">
                <a16:creationId xmlns:a16="http://schemas.microsoft.com/office/drawing/2014/main" id="{CF56E6AB-29F9-1030-E217-E5F7D7960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6401" y="3790084"/>
            <a:ext cx="459510" cy="458356"/>
          </a:xfrm>
          <a:prstGeom prst="rect">
            <a:avLst/>
          </a:prstGeom>
        </p:spPr>
      </p:pic>
      <p:pic>
        <p:nvPicPr>
          <p:cNvPr id="19" name="Graphic 18" descr="Marker outline">
            <a:extLst>
              <a:ext uri="{FF2B5EF4-FFF2-40B4-BE49-F238E27FC236}">
                <a16:creationId xmlns:a16="http://schemas.microsoft.com/office/drawing/2014/main" id="{E547D614-619B-86CB-E4D3-1AAAFC22BB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7356" y="5250583"/>
            <a:ext cx="459510" cy="458356"/>
          </a:xfrm>
          <a:prstGeom prst="rect">
            <a:avLst/>
          </a:prstGeom>
        </p:spPr>
      </p:pic>
      <p:sp>
        <p:nvSpPr>
          <p:cNvPr id="21" name="Rectangle 3">
            <a:extLst>
              <a:ext uri="{FF2B5EF4-FFF2-40B4-BE49-F238E27FC236}">
                <a16:creationId xmlns:a16="http://schemas.microsoft.com/office/drawing/2014/main" id="{A0E08222-370C-141F-87CE-6CC22A09B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346" y="3421155"/>
            <a:ext cx="1571584" cy="2862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Raw sequences</a:t>
            </a:r>
            <a:endParaRPr lang="en-US" altLang="en-US" sz="1400" b="0" i="0" u="none" strike="noStrike" kern="1200" cap="none" spc="8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/>
              <a:ea typeface="Roboto"/>
              <a:cs typeface="Circular Spotify" panose="020B0604020101020102" pitchFamily="34" charset="-93"/>
            </a:endParaRPr>
          </a:p>
        </p:txBody>
      </p:sp>
      <p:pic>
        <p:nvPicPr>
          <p:cNvPr id="24" name="Graphic 23" descr="Marker outline">
            <a:extLst>
              <a:ext uri="{FF2B5EF4-FFF2-40B4-BE49-F238E27FC236}">
                <a16:creationId xmlns:a16="http://schemas.microsoft.com/office/drawing/2014/main" id="{A84A36A5-06B5-7E64-2F5F-1EF690514A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38219" y="811356"/>
            <a:ext cx="459510" cy="458356"/>
          </a:xfrm>
          <a:prstGeom prst="rect">
            <a:avLst/>
          </a:prstGeom>
        </p:spPr>
      </p:pic>
      <p:sp>
        <p:nvSpPr>
          <p:cNvPr id="25" name="Rectangle 3">
            <a:extLst>
              <a:ext uri="{FF2B5EF4-FFF2-40B4-BE49-F238E27FC236}">
                <a16:creationId xmlns:a16="http://schemas.microsoft.com/office/drawing/2014/main" id="{D1210D3D-D6FA-79B2-129E-AE7AF705F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4634" y="522316"/>
            <a:ext cx="1976503" cy="2862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Annotated genomes</a:t>
            </a:r>
            <a:endParaRPr lang="en-US" altLang="en-US" sz="1400" b="0" i="0" u="none" strike="noStrike" kern="1200" cap="none" spc="8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/>
              <a:ea typeface="Roboto"/>
              <a:cs typeface="Circular Spotify" panose="020B0604020101020102" pitchFamily="34" charset="-93"/>
            </a:endParaRP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4A4FE5AA-42BC-7FA1-4BE0-EF5D8DF00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1245" y="4966360"/>
            <a:ext cx="1100942" cy="2862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Phylogeny</a:t>
            </a:r>
            <a:endParaRPr lang="en-US" altLang="en-US" sz="1400" b="0" i="0" u="none" strike="noStrike" kern="1200" cap="none" spc="8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/>
              <a:ea typeface="Roboto"/>
              <a:cs typeface="Circular Spotify" panose="020B0604020101020102" pitchFamily="34" charset="-93"/>
            </a:endParaRPr>
          </a:p>
        </p:txBody>
      </p:sp>
      <p:pic>
        <p:nvPicPr>
          <p:cNvPr id="27" name="Graphic 26" descr="Good Inventory with solid fill">
            <a:extLst>
              <a:ext uri="{FF2B5EF4-FFF2-40B4-BE49-F238E27FC236}">
                <a16:creationId xmlns:a16="http://schemas.microsoft.com/office/drawing/2014/main" id="{19B7B60C-344C-00B4-BB4A-BC24AD8930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10367" y="3763779"/>
            <a:ext cx="550719" cy="498766"/>
          </a:xfrm>
          <a:prstGeom prst="rect">
            <a:avLst/>
          </a:prstGeom>
        </p:spPr>
      </p:pic>
      <p:sp>
        <p:nvSpPr>
          <p:cNvPr id="29" name="Rectangle 3">
            <a:extLst>
              <a:ext uri="{FF2B5EF4-FFF2-40B4-BE49-F238E27FC236}">
                <a16:creationId xmlns:a16="http://schemas.microsoft.com/office/drawing/2014/main" id="{E5B2C615-0CB2-3380-FA2F-CA8C0A0B4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112" y="4321886"/>
            <a:ext cx="445635" cy="2862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QC</a:t>
            </a:r>
            <a:endParaRPr lang="en-US" altLang="en-US" sz="1400" b="0" i="0" u="none" strike="noStrike" kern="1200" cap="none" spc="8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/>
              <a:ea typeface="Roboto"/>
              <a:cs typeface="Circular Spotify" panose="020B0604020101020102" pitchFamily="34" charset="-93"/>
            </a:endParaRP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CBF91911-16AB-714F-FFFB-D9BE4A12F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4211" y="3288297"/>
            <a:ext cx="1226618" cy="55707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Assembled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genome</a:t>
            </a:r>
            <a:endParaRPr lang="en-US" altLang="en-US" sz="1400" b="0" i="0" u="none" strike="noStrike" kern="1200" cap="none" spc="8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/>
              <a:ea typeface="Roboto"/>
              <a:cs typeface="Circular Spotify" panose="020B0604020101020102" pitchFamily="34" charset="-93"/>
            </a:endParaRPr>
          </a:p>
        </p:txBody>
      </p:sp>
      <p:pic>
        <p:nvPicPr>
          <p:cNvPr id="34" name="Graphic 33" descr="Flag with solid fill">
            <a:extLst>
              <a:ext uri="{FF2B5EF4-FFF2-40B4-BE49-F238E27FC236}">
                <a16:creationId xmlns:a16="http://schemas.microsoft.com/office/drawing/2014/main" id="{138CD906-2608-4E92-16CB-8B931CC600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99094" y="1661202"/>
            <a:ext cx="446810" cy="452582"/>
          </a:xfrm>
          <a:prstGeom prst="rect">
            <a:avLst/>
          </a:prstGeom>
        </p:spPr>
      </p:pic>
      <p:pic>
        <p:nvPicPr>
          <p:cNvPr id="35" name="Graphic 34" descr="Flag with solid fill">
            <a:extLst>
              <a:ext uri="{FF2B5EF4-FFF2-40B4-BE49-F238E27FC236}">
                <a16:creationId xmlns:a16="http://schemas.microsoft.com/office/drawing/2014/main" id="{8573F269-F4BE-FD64-7A92-0CBA667A82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5142" y="2033914"/>
            <a:ext cx="446810" cy="452582"/>
          </a:xfrm>
          <a:prstGeom prst="rect">
            <a:avLst/>
          </a:prstGeom>
        </p:spPr>
      </p:pic>
      <p:pic>
        <p:nvPicPr>
          <p:cNvPr id="2" name="Graphic 1" descr="Scuba diving outline">
            <a:extLst>
              <a:ext uri="{FF2B5EF4-FFF2-40B4-BE49-F238E27FC236}">
                <a16:creationId xmlns:a16="http://schemas.microsoft.com/office/drawing/2014/main" id="{617F5F48-D68B-ABC7-8635-5004031AD4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8573" y="5430982"/>
            <a:ext cx="914400" cy="914400"/>
          </a:xfrm>
          <a:prstGeom prst="rect">
            <a:avLst/>
          </a:prstGeom>
        </p:spPr>
      </p:pic>
      <p:pic>
        <p:nvPicPr>
          <p:cNvPr id="3" name="Graphic 2" descr="Seaweed outline">
            <a:extLst>
              <a:ext uri="{FF2B5EF4-FFF2-40B4-BE49-F238E27FC236}">
                <a16:creationId xmlns:a16="http://schemas.microsoft.com/office/drawing/2014/main" id="{646ACAA2-7993-0A10-AB7D-E4A38A0313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48266" y="5885583"/>
            <a:ext cx="360218" cy="412175"/>
          </a:xfrm>
          <a:prstGeom prst="rect">
            <a:avLst/>
          </a:prstGeom>
        </p:spPr>
      </p:pic>
      <p:pic>
        <p:nvPicPr>
          <p:cNvPr id="4" name="Graphic 3" descr="Coral outline">
            <a:extLst>
              <a:ext uri="{FF2B5EF4-FFF2-40B4-BE49-F238E27FC236}">
                <a16:creationId xmlns:a16="http://schemas.microsoft.com/office/drawing/2014/main" id="{8AD6648A-42BB-5A2C-70C2-819AF8F7BF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08095" y="5716732"/>
            <a:ext cx="648855" cy="550719"/>
          </a:xfrm>
          <a:prstGeom prst="rect">
            <a:avLst/>
          </a:prstGeom>
        </p:spPr>
      </p:pic>
      <p:pic>
        <p:nvPicPr>
          <p:cNvPr id="5" name="Graphic 4" descr="Fish outline">
            <a:extLst>
              <a:ext uri="{FF2B5EF4-FFF2-40B4-BE49-F238E27FC236}">
                <a16:creationId xmlns:a16="http://schemas.microsoft.com/office/drawing/2014/main" id="{216D56F2-5085-784A-B854-12CF2F5A94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660000" flipH="1">
            <a:off x="11101243" y="5692198"/>
            <a:ext cx="412174" cy="360219"/>
          </a:xfrm>
          <a:prstGeom prst="rect">
            <a:avLst/>
          </a:prstGeom>
        </p:spPr>
      </p:pic>
      <p:pic>
        <p:nvPicPr>
          <p:cNvPr id="6" name="Graphic 5" descr="Mountains outline">
            <a:extLst>
              <a:ext uri="{FF2B5EF4-FFF2-40B4-BE49-F238E27FC236}">
                <a16:creationId xmlns:a16="http://schemas.microsoft.com/office/drawing/2014/main" id="{3544F4F5-5EBB-B7A6-68F4-BFE28E50BF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18436" y="951346"/>
            <a:ext cx="579583" cy="637309"/>
          </a:xfrm>
          <a:prstGeom prst="rect">
            <a:avLst/>
          </a:prstGeom>
        </p:spPr>
      </p:pic>
      <p:pic>
        <p:nvPicPr>
          <p:cNvPr id="7" name="Graphic 6" descr="Flag with solid fill">
            <a:extLst>
              <a:ext uri="{FF2B5EF4-FFF2-40B4-BE49-F238E27FC236}">
                <a16:creationId xmlns:a16="http://schemas.microsoft.com/office/drawing/2014/main" id="{A7DC72DE-E086-F843-B938-F2ABBEE6DA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892" y="5484983"/>
            <a:ext cx="446810" cy="452582"/>
          </a:xfrm>
          <a:prstGeom prst="rect">
            <a:avLst/>
          </a:prstGeom>
        </p:spPr>
      </p:pic>
      <p:pic>
        <p:nvPicPr>
          <p:cNvPr id="8" name="Graphic 7" descr="Flag with solid fill">
            <a:extLst>
              <a:ext uri="{FF2B5EF4-FFF2-40B4-BE49-F238E27FC236}">
                <a16:creationId xmlns:a16="http://schemas.microsoft.com/office/drawing/2014/main" id="{F03A432E-4FA8-E1C6-7425-CA37FFD10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26299" y="5026889"/>
            <a:ext cx="446810" cy="452582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CF20089-7E92-DA19-2E93-F7ADB16FB1C0}"/>
              </a:ext>
            </a:extLst>
          </p:cNvPr>
          <p:cNvCxnSpPr/>
          <p:nvPr/>
        </p:nvCxnSpPr>
        <p:spPr>
          <a:xfrm flipV="1">
            <a:off x="1499756" y="3257718"/>
            <a:ext cx="1543626" cy="608482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7BD1E87-C2E0-3D57-6760-90E891097C5F}"/>
              </a:ext>
            </a:extLst>
          </p:cNvPr>
          <p:cNvCxnSpPr>
            <a:cxnSpLocks/>
          </p:cNvCxnSpPr>
          <p:nvPr/>
        </p:nvCxnSpPr>
        <p:spPr>
          <a:xfrm>
            <a:off x="1141847" y="4259118"/>
            <a:ext cx="302489" cy="781628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EB1D5C8-83F9-E81F-7AFA-686147FDDF59}"/>
              </a:ext>
            </a:extLst>
          </p:cNvPr>
          <p:cNvCxnSpPr>
            <a:cxnSpLocks/>
          </p:cNvCxnSpPr>
          <p:nvPr/>
        </p:nvCxnSpPr>
        <p:spPr>
          <a:xfrm>
            <a:off x="1464374" y="5042533"/>
            <a:ext cx="683489" cy="640290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A6B61F-BF47-12E7-17D1-8EEE165C6D8C}"/>
              </a:ext>
            </a:extLst>
          </p:cNvPr>
          <p:cNvCxnSpPr>
            <a:cxnSpLocks/>
          </p:cNvCxnSpPr>
          <p:nvPr/>
        </p:nvCxnSpPr>
        <p:spPr>
          <a:xfrm>
            <a:off x="2177212" y="5687774"/>
            <a:ext cx="966165" cy="216275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560C5A3-DAF8-ADC3-9421-95956DE992AD}"/>
              </a:ext>
            </a:extLst>
          </p:cNvPr>
          <p:cNvCxnSpPr>
            <a:cxnSpLocks/>
          </p:cNvCxnSpPr>
          <p:nvPr/>
        </p:nvCxnSpPr>
        <p:spPr>
          <a:xfrm>
            <a:off x="3172727" y="5865985"/>
            <a:ext cx="363941" cy="296162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0D9015E-DB03-4E96-4733-D6130238D44C}"/>
              </a:ext>
            </a:extLst>
          </p:cNvPr>
          <p:cNvCxnSpPr>
            <a:cxnSpLocks/>
          </p:cNvCxnSpPr>
          <p:nvPr/>
        </p:nvCxnSpPr>
        <p:spPr>
          <a:xfrm flipV="1">
            <a:off x="3535291" y="6057679"/>
            <a:ext cx="425392" cy="84837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3E2B942-7B4D-0C5B-5D06-739BE0E1A02F}"/>
              </a:ext>
            </a:extLst>
          </p:cNvPr>
          <p:cNvCxnSpPr>
            <a:cxnSpLocks/>
          </p:cNvCxnSpPr>
          <p:nvPr/>
        </p:nvCxnSpPr>
        <p:spPr>
          <a:xfrm flipV="1">
            <a:off x="3897856" y="5670534"/>
            <a:ext cx="996890" cy="404384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EDA9CC4-EFB7-A0A4-C707-0CB439E6C4FB}"/>
              </a:ext>
            </a:extLst>
          </p:cNvPr>
          <p:cNvCxnSpPr>
            <a:cxnSpLocks/>
          </p:cNvCxnSpPr>
          <p:nvPr/>
        </p:nvCxnSpPr>
        <p:spPr>
          <a:xfrm>
            <a:off x="4899516" y="5675482"/>
            <a:ext cx="953875" cy="1196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1031619-8BF5-28CB-7564-D3188ADB8D9D}"/>
              </a:ext>
            </a:extLst>
          </p:cNvPr>
          <p:cNvCxnSpPr>
            <a:cxnSpLocks/>
          </p:cNvCxnSpPr>
          <p:nvPr/>
        </p:nvCxnSpPr>
        <p:spPr>
          <a:xfrm flipV="1">
            <a:off x="5870451" y="5418581"/>
            <a:ext cx="665053" cy="244610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42DE2AC-7B91-E774-C279-9BA5A39258AE}"/>
              </a:ext>
            </a:extLst>
          </p:cNvPr>
          <p:cNvCxnSpPr>
            <a:cxnSpLocks/>
          </p:cNvCxnSpPr>
          <p:nvPr/>
        </p:nvCxnSpPr>
        <p:spPr>
          <a:xfrm flipV="1">
            <a:off x="6552563" y="5418580"/>
            <a:ext cx="775666" cy="17240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43B5335-D627-BC43-7DC1-C9F4E3221A65}"/>
              </a:ext>
            </a:extLst>
          </p:cNvPr>
          <p:cNvCxnSpPr>
            <a:cxnSpLocks/>
          </p:cNvCxnSpPr>
          <p:nvPr/>
        </p:nvCxnSpPr>
        <p:spPr>
          <a:xfrm>
            <a:off x="7345288" y="5454255"/>
            <a:ext cx="652763" cy="240857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925819C-225A-8BA2-042A-799E992206F3}"/>
              </a:ext>
            </a:extLst>
          </p:cNvPr>
          <p:cNvCxnSpPr>
            <a:cxnSpLocks/>
          </p:cNvCxnSpPr>
          <p:nvPr/>
        </p:nvCxnSpPr>
        <p:spPr>
          <a:xfrm>
            <a:off x="8039690" y="5693916"/>
            <a:ext cx="204166" cy="351469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687D7A6-CED1-557D-EDA5-23F92B70215A}"/>
              </a:ext>
            </a:extLst>
          </p:cNvPr>
          <p:cNvCxnSpPr>
            <a:cxnSpLocks/>
          </p:cNvCxnSpPr>
          <p:nvPr/>
        </p:nvCxnSpPr>
        <p:spPr>
          <a:xfrm flipV="1">
            <a:off x="8273207" y="6014660"/>
            <a:ext cx="1341020" cy="11095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D2114BC-8783-2E7A-69A5-BA4314A9D8B1}"/>
              </a:ext>
            </a:extLst>
          </p:cNvPr>
          <p:cNvCxnSpPr>
            <a:cxnSpLocks/>
          </p:cNvCxnSpPr>
          <p:nvPr/>
        </p:nvCxnSpPr>
        <p:spPr>
          <a:xfrm flipV="1">
            <a:off x="1181694" y="3870002"/>
            <a:ext cx="320925" cy="355225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835658F-4E2A-23B6-9199-D13CD0656041}"/>
              </a:ext>
            </a:extLst>
          </p:cNvPr>
          <p:cNvCxnSpPr>
            <a:cxnSpLocks/>
          </p:cNvCxnSpPr>
          <p:nvPr/>
        </p:nvCxnSpPr>
        <p:spPr>
          <a:xfrm flipV="1">
            <a:off x="3066771" y="2519995"/>
            <a:ext cx="1001453" cy="751522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3EAD97F-F7D3-49CD-26E7-1BE60FBC371F}"/>
              </a:ext>
            </a:extLst>
          </p:cNvPr>
          <p:cNvCxnSpPr>
            <a:cxnSpLocks/>
          </p:cNvCxnSpPr>
          <p:nvPr/>
        </p:nvCxnSpPr>
        <p:spPr>
          <a:xfrm flipV="1">
            <a:off x="4099158" y="2421975"/>
            <a:ext cx="2238028" cy="110725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14359A8-4D1C-7E76-88D0-2BCAC7F90536}"/>
              </a:ext>
            </a:extLst>
          </p:cNvPr>
          <p:cNvCxnSpPr>
            <a:cxnSpLocks/>
          </p:cNvCxnSpPr>
          <p:nvPr/>
        </p:nvCxnSpPr>
        <p:spPr>
          <a:xfrm flipV="1">
            <a:off x="6333100" y="2101733"/>
            <a:ext cx="2164286" cy="325807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0162B35-4BB3-B6FE-8F28-F0DAF8F73710}"/>
              </a:ext>
            </a:extLst>
          </p:cNvPr>
          <p:cNvCxnSpPr>
            <a:cxnSpLocks/>
          </p:cNvCxnSpPr>
          <p:nvPr/>
        </p:nvCxnSpPr>
        <p:spPr>
          <a:xfrm flipV="1">
            <a:off x="8563338" y="1451598"/>
            <a:ext cx="1589435" cy="632505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3">
            <a:extLst>
              <a:ext uri="{FF2B5EF4-FFF2-40B4-BE49-F238E27FC236}">
                <a16:creationId xmlns:a16="http://schemas.microsoft.com/office/drawing/2014/main" id="{49C7EA49-C686-48BC-64CF-C53267061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486" y="5135691"/>
            <a:ext cx="999034" cy="2862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Mapping</a:t>
            </a:r>
            <a:endParaRPr lang="en-US" altLang="en-US" sz="1400" b="0" i="0" u="none" strike="noStrike" kern="1200" cap="none" spc="8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/>
              <a:ea typeface="Roboto"/>
              <a:cs typeface="Circular Spotify" panose="020B0604020101020102" pitchFamily="34" charset="-93"/>
            </a:endParaRPr>
          </a:p>
        </p:txBody>
      </p:sp>
      <p:sp>
        <p:nvSpPr>
          <p:cNvPr id="45" name="Rectangle 3">
            <a:extLst>
              <a:ext uri="{FF2B5EF4-FFF2-40B4-BE49-F238E27FC236}">
                <a16:creationId xmlns:a16="http://schemas.microsoft.com/office/drawing/2014/main" id="{44904DAF-D139-D3E3-12D6-1548A2720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4155" y="4705308"/>
            <a:ext cx="2034301" cy="4801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sz="1400" spc="80" dirty="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Variant </a:t>
            </a: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calling and filtering</a:t>
            </a:r>
            <a:endParaRPr lang="en-US" altLang="en-US" sz="1400" b="0" i="0" u="none" strike="noStrike" kern="1200" cap="none" spc="8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/>
              <a:ea typeface="Roboto"/>
              <a:cs typeface="Circular Spotify" panose="020B0604020101020102" pitchFamily="34" charset="-93"/>
            </a:endParaRPr>
          </a:p>
        </p:txBody>
      </p:sp>
      <p:pic>
        <p:nvPicPr>
          <p:cNvPr id="11" name="Graphic 10" descr="Good Inventory with solid fill">
            <a:extLst>
              <a:ext uri="{FF2B5EF4-FFF2-40B4-BE49-F238E27FC236}">
                <a16:creationId xmlns:a16="http://schemas.microsoft.com/office/drawing/2014/main" id="{A7A094B2-2B38-1391-693D-92BD74DF08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5250" y="2541129"/>
            <a:ext cx="550719" cy="498766"/>
          </a:xfrm>
          <a:prstGeom prst="rect">
            <a:avLst/>
          </a:prstGeom>
        </p:spPr>
      </p:pic>
      <p:sp>
        <p:nvSpPr>
          <p:cNvPr id="46" name="Rectangle 3">
            <a:extLst>
              <a:ext uri="{FF2B5EF4-FFF2-40B4-BE49-F238E27FC236}">
                <a16:creationId xmlns:a16="http://schemas.microsoft.com/office/drawing/2014/main" id="{AE9753CC-2883-83E6-1554-66A010453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691" y="3092235"/>
            <a:ext cx="3257856" cy="30777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sz="1400" spc="80" dirty="0">
                <a:solidFill>
                  <a:sysClr val="windowText" lastClr="000000"/>
                </a:solidFill>
                <a:latin typeface="Roboto"/>
                <a:ea typeface="Roboto"/>
                <a:cs typeface="Roboto"/>
              </a:rPr>
              <a:t>QC </a:t>
            </a:r>
            <a:r>
              <a:rPr lang="en-US" altLang="en-US" sz="1400" spc="80" dirty="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&amp; Post-Assembly </a:t>
            </a: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Profiling</a:t>
            </a:r>
            <a:endParaRPr lang="en-US" altLang="en-US" sz="1400" b="0" i="0" u="none" strike="noStrike" kern="1200" cap="none" spc="8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/>
              <a:ea typeface="Roboto"/>
              <a:cs typeface="Circular Spotify" panose="020B0604020101020102" pitchFamily="34" charset="-93"/>
            </a:endParaRP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03626E63-66D3-17E4-E3AC-7E8C77623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1074" y="2713920"/>
            <a:ext cx="1686680" cy="2862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sz="1400" spc="80" dirty="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Hybrid </a:t>
            </a: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Assembly</a:t>
            </a:r>
            <a:endParaRPr lang="en-US" altLang="en-US" sz="1400" b="0" i="0" u="none" strike="noStrike" kern="1200" cap="none" spc="8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/>
              <a:ea typeface="Roboto"/>
              <a:cs typeface="Circular Spotify" panose="020B0604020101020102" pitchFamily="34" charset="-93"/>
            </a:endParaRPr>
          </a:p>
        </p:txBody>
      </p:sp>
      <p:pic>
        <p:nvPicPr>
          <p:cNvPr id="49" name="Graphic 48" descr="Research with solid fill">
            <a:extLst>
              <a:ext uri="{FF2B5EF4-FFF2-40B4-BE49-F238E27FC236}">
                <a16:creationId xmlns:a16="http://schemas.microsoft.com/office/drawing/2014/main" id="{DD84302B-6FBB-EC36-142D-D0E1E9E12A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01077" y="2519127"/>
            <a:ext cx="672975" cy="574896"/>
          </a:xfrm>
          <a:prstGeom prst="rect">
            <a:avLst/>
          </a:prstGeom>
        </p:spPr>
      </p:pic>
      <p:pic>
        <p:nvPicPr>
          <p:cNvPr id="50" name="Graphic 49" descr="Shooting star with solid fill">
            <a:extLst>
              <a:ext uri="{FF2B5EF4-FFF2-40B4-BE49-F238E27FC236}">
                <a16:creationId xmlns:a16="http://schemas.microsoft.com/office/drawing/2014/main" id="{045E9FB9-B09E-8617-6BC5-AF176506C7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34125" y="2156987"/>
            <a:ext cx="627709" cy="559807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AB7680B0-145D-8F24-3DB0-CC47B8673B52}"/>
              </a:ext>
            </a:extLst>
          </p:cNvPr>
          <p:cNvSpPr/>
          <p:nvPr/>
        </p:nvSpPr>
        <p:spPr>
          <a:xfrm>
            <a:off x="222739" y="4768605"/>
            <a:ext cx="3842570" cy="1894411"/>
          </a:xfrm>
          <a:prstGeom prst="rect">
            <a:avLst/>
          </a:prstGeom>
          <a:solidFill>
            <a:srgbClr val="FFFFFF">
              <a:alpha val="7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758137E-875B-0817-9D0F-880C28440059}"/>
              </a:ext>
            </a:extLst>
          </p:cNvPr>
          <p:cNvSpPr/>
          <p:nvPr/>
        </p:nvSpPr>
        <p:spPr>
          <a:xfrm>
            <a:off x="6908822" y="253331"/>
            <a:ext cx="4564616" cy="3146681"/>
          </a:xfrm>
          <a:prstGeom prst="rect">
            <a:avLst/>
          </a:prstGeom>
          <a:solidFill>
            <a:srgbClr val="FFFFFF">
              <a:alpha val="7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E385F66-DAA7-5D45-E4DF-44CAF3F5D039}"/>
              </a:ext>
            </a:extLst>
          </p:cNvPr>
          <p:cNvSpPr/>
          <p:nvPr/>
        </p:nvSpPr>
        <p:spPr>
          <a:xfrm rot="5400000">
            <a:off x="6306444" y="1501607"/>
            <a:ext cx="3015319" cy="7459788"/>
          </a:xfrm>
          <a:prstGeom prst="rect">
            <a:avLst/>
          </a:prstGeom>
          <a:solidFill>
            <a:srgbClr val="FFFFFF">
              <a:alpha val="7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26B64F1-4646-89B0-4770-1C8A042E74D2}"/>
              </a:ext>
            </a:extLst>
          </p:cNvPr>
          <p:cNvSpPr/>
          <p:nvPr/>
        </p:nvSpPr>
        <p:spPr>
          <a:xfrm>
            <a:off x="450062" y="4248440"/>
            <a:ext cx="1014312" cy="522404"/>
          </a:xfrm>
          <a:prstGeom prst="rect">
            <a:avLst/>
          </a:prstGeom>
          <a:solidFill>
            <a:srgbClr val="FFFFFF">
              <a:alpha val="7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51898388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914AA-F956-B3BF-F0F2-24ED2225D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6CBE9A86-A376-5960-F34C-FC77E0572E7D}"/>
              </a:ext>
            </a:extLst>
          </p:cNvPr>
          <p:cNvSpPr txBox="1"/>
          <p:nvPr/>
        </p:nvSpPr>
        <p:spPr>
          <a:xfrm>
            <a:off x="521346" y="247793"/>
            <a:ext cx="2006318" cy="7169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80" normalizeH="0" baseline="0" noProof="0" dirty="0">
                <a:ln>
                  <a:noFill/>
                </a:ln>
                <a:solidFill>
                  <a:srgbClr val="06193E"/>
                </a:solidFill>
                <a:effectLst/>
                <a:uLnTx/>
                <a:uFillTx/>
                <a:ea typeface="Roboto" panose="02000000000000000000" pitchFamily="2" charset="0"/>
                <a:cs typeface="+mj-cs"/>
              </a:rPr>
              <a:t>Agenda</a:t>
            </a:r>
          </a:p>
        </p:txBody>
      </p:sp>
      <p:sp>
        <p:nvSpPr>
          <p:cNvPr id="31" name="Footer Placeholder 65">
            <a:extLst>
              <a:ext uri="{FF2B5EF4-FFF2-40B4-BE49-F238E27FC236}">
                <a16:creationId xmlns:a16="http://schemas.microsoft.com/office/drawing/2014/main" id="{225449C9-3396-302D-67BB-823AAE575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7282" y="6581001"/>
            <a:ext cx="2709396" cy="276999"/>
          </a:xfrm>
        </p:spPr>
        <p:txBody>
          <a:bodyPr wrap="none">
            <a:spAutoFit/>
          </a:bodyPr>
          <a:lstStyle/>
          <a:p>
            <a:pPr lvl="0"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6193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Module 2.1: </a:t>
            </a:r>
            <a:r>
              <a:rPr lang="en-VN" dirty="0">
                <a:solidFill>
                  <a:schemeClr val="tx1"/>
                </a:solidFill>
              </a:rPr>
              <a:t>Post Assembly Profiling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6193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937E50-141A-042A-95EF-6A0B79E2C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518" y="649287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F55963-6440-4C45-BA09-4E6A99D1BBE0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6193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6193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EE45B9-D98E-1C95-C82A-BD90FEFF544C}"/>
              </a:ext>
            </a:extLst>
          </p:cNvPr>
          <p:cNvSpPr txBox="1"/>
          <p:nvPr/>
        </p:nvSpPr>
        <p:spPr>
          <a:xfrm>
            <a:off x="453614" y="1408111"/>
            <a:ext cx="6199133" cy="4729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514350" marR="0" lvl="0" indent="-51435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lang="en-US" sz="2200" b="1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Theory</a:t>
            </a:r>
          </a:p>
          <a:p>
            <a:pPr marL="971550" lvl="1" indent="-514350" algn="just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sz="220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Quality/Contamination Assessment</a:t>
            </a:r>
          </a:p>
          <a:p>
            <a:pPr marL="1371600" lvl="2" indent="-457200" algn="just">
              <a:lnSpc>
                <a:spcPct val="150000"/>
              </a:lnSpc>
              <a:spcBef>
                <a:spcPts val="600"/>
              </a:spcBef>
              <a:buFont typeface="+mj-lt"/>
              <a:buAutoNum type="alphaLcParenR"/>
              <a:defRPr/>
            </a:pPr>
            <a:r>
              <a:rPr lang="en-US" sz="220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Contiguity</a:t>
            </a:r>
          </a:p>
          <a:p>
            <a:pPr marL="1371600" lvl="2" indent="-457200" algn="just">
              <a:lnSpc>
                <a:spcPct val="150000"/>
              </a:lnSpc>
              <a:spcBef>
                <a:spcPts val="600"/>
              </a:spcBef>
              <a:buFont typeface="+mj-lt"/>
              <a:buAutoNum type="alphaLcParenR"/>
              <a:defRPr/>
            </a:pPr>
            <a:r>
              <a:rPr lang="en-US" sz="220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Completeness</a:t>
            </a:r>
          </a:p>
          <a:p>
            <a:pPr marL="1371600" lvl="2" indent="-457200" algn="just">
              <a:lnSpc>
                <a:spcPct val="150000"/>
              </a:lnSpc>
              <a:spcBef>
                <a:spcPts val="600"/>
              </a:spcBef>
              <a:buFont typeface="+mj-lt"/>
              <a:buAutoNum type="alphaLcParenR"/>
              <a:defRPr/>
            </a:pPr>
            <a:r>
              <a:rPr lang="en-US" sz="220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Contamination</a:t>
            </a:r>
          </a:p>
          <a:p>
            <a:pPr marL="971550" lvl="1" indent="-514350" algn="just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sz="2200" dirty="0"/>
              <a:t>Downstream Analysis Steps</a:t>
            </a:r>
          </a:p>
          <a:p>
            <a:pPr marL="1428750" lvl="2" indent="-514350" algn="just">
              <a:lnSpc>
                <a:spcPct val="150000"/>
              </a:lnSpc>
              <a:spcBef>
                <a:spcPts val="600"/>
              </a:spcBef>
              <a:buFont typeface="+mj-lt"/>
              <a:buAutoNum type="alphaLcParenR"/>
              <a:defRPr/>
            </a:pPr>
            <a:r>
              <a:rPr lang="en-US" sz="2200" dirty="0" err="1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Multilocus</a:t>
            </a:r>
            <a:r>
              <a:rPr lang="en-US" sz="220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Sequence Typing (MLST)</a:t>
            </a:r>
          </a:p>
          <a:p>
            <a:pPr marL="1428750" lvl="2" indent="-514350" algn="just">
              <a:lnSpc>
                <a:spcPct val="150000"/>
              </a:lnSpc>
              <a:spcBef>
                <a:spcPts val="600"/>
              </a:spcBef>
              <a:buFont typeface="+mj-lt"/>
              <a:buAutoNum type="alphaLcParenR"/>
              <a:defRPr/>
            </a:pPr>
            <a:r>
              <a:rPr lang="en-US" sz="220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AMR / Virulence genes identification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FC14C4-524D-8755-450E-1AFB8E413F76}"/>
              </a:ext>
            </a:extLst>
          </p:cNvPr>
          <p:cNvSpPr txBox="1"/>
          <p:nvPr/>
        </p:nvSpPr>
        <p:spPr>
          <a:xfrm>
            <a:off x="6483412" y="1408111"/>
            <a:ext cx="5301306" cy="33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romanUcPeriod" startAt="2"/>
              <a:tabLst/>
              <a:defRPr/>
            </a:pPr>
            <a:r>
              <a:rPr kumimoji="0" lang="en-US" sz="22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Practical Command-line (CLI)</a:t>
            </a:r>
          </a:p>
          <a:p>
            <a:pPr marL="971550" lvl="1" indent="-514350" algn="just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sz="220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checkm2</a:t>
            </a:r>
          </a:p>
          <a:p>
            <a:pPr marL="971550" lvl="1" indent="-514350" algn="just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sz="2200" dirty="0" err="1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Kleborate</a:t>
            </a:r>
            <a:endParaRPr lang="en-US" sz="2200" dirty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lvl="1" algn="just">
              <a:lnSpc>
                <a:spcPct val="150000"/>
              </a:lnSpc>
              <a:spcBef>
                <a:spcPts val="600"/>
              </a:spcBef>
              <a:defRPr/>
            </a:pPr>
            <a:endParaRPr kumimoji="0" lang="en-US" sz="22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  <a:p>
            <a:pPr marL="514350" indent="-514350" algn="just">
              <a:lnSpc>
                <a:spcPct val="150000"/>
              </a:lnSpc>
              <a:spcBef>
                <a:spcPts val="600"/>
              </a:spcBef>
              <a:buFont typeface="+mj-lt"/>
              <a:buAutoNum type="romanUcPeriod" startAt="2"/>
              <a:defRPr/>
            </a:pPr>
            <a:r>
              <a:rPr lang="en-US" sz="2200" b="1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Data Visualization and Manipulation with 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Bandage</a:t>
            </a:r>
            <a:endParaRPr kumimoji="0" lang="en-US" sz="2200" b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81672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DFA71-1BFF-9E79-C954-EA74276B8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941E826F-6E8C-0407-DF3F-748DB03D312E}"/>
              </a:ext>
            </a:extLst>
          </p:cNvPr>
          <p:cNvSpPr txBox="1"/>
          <p:nvPr/>
        </p:nvSpPr>
        <p:spPr>
          <a:xfrm>
            <a:off x="4731363" y="2951537"/>
            <a:ext cx="2729273" cy="7099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marL="857250" marR="0" lvl="0" indent="-857250" algn="l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kumimoji="0" lang="en-US" sz="4000" b="1" i="0" u="none" strike="noStrike" kern="1200" cap="none" spc="80" normalizeH="0" baseline="0" noProof="0" dirty="0">
                <a:ln>
                  <a:noFill/>
                </a:ln>
                <a:solidFill>
                  <a:srgbClr val="06193E"/>
                </a:solidFill>
                <a:effectLst/>
                <a:uLnTx/>
                <a:uFillTx/>
              </a:rPr>
              <a:t>Theory</a:t>
            </a:r>
          </a:p>
        </p:txBody>
      </p:sp>
      <p:sp>
        <p:nvSpPr>
          <p:cNvPr id="3" name="Footer Placeholder 65">
            <a:extLst>
              <a:ext uri="{FF2B5EF4-FFF2-40B4-BE49-F238E27FC236}">
                <a16:creationId xmlns:a16="http://schemas.microsoft.com/office/drawing/2014/main" id="{5CB3DA80-09D7-1A42-3399-21B020DAF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709" y="6511538"/>
            <a:ext cx="2709396" cy="276999"/>
          </a:xfr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/>
              <a:t>Module 2.1: </a:t>
            </a:r>
            <a:r>
              <a:rPr lang="en-VN" dirty="0">
                <a:solidFill>
                  <a:schemeClr val="tx1"/>
                </a:solidFill>
              </a:rPr>
              <a:t>Post Assembly Profiling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625ACF-4AF7-40D6-44C7-68C9FB18C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518" y="649287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F55963-6440-4C45-BA09-4E6A99D1BBE0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6193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06193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427748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F6ECE-A8DC-883D-6DCD-4F719FE3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65">
            <a:extLst>
              <a:ext uri="{FF2B5EF4-FFF2-40B4-BE49-F238E27FC236}">
                <a16:creationId xmlns:a16="http://schemas.microsoft.com/office/drawing/2014/main" id="{EEA97441-58AE-0C6D-959B-9231363CB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709" y="6511538"/>
            <a:ext cx="2709396" cy="276999"/>
          </a:xfr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/>
              <a:t>Module 2.1: </a:t>
            </a:r>
            <a:r>
              <a:rPr lang="en-VN" dirty="0">
                <a:solidFill>
                  <a:schemeClr val="tx1"/>
                </a:solidFill>
              </a:rPr>
              <a:t>Post Assembly Profiling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DC36F6-DF92-CCE0-D4A2-6A133EABC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518" y="649287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F55963-6440-4C45-BA09-4E6A99D1BB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6193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6193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45C470-704F-24BC-3962-5596FC6D589C}"/>
              </a:ext>
            </a:extLst>
          </p:cNvPr>
          <p:cNvSpPr txBox="1"/>
          <p:nvPr/>
        </p:nvSpPr>
        <p:spPr>
          <a:xfrm>
            <a:off x="934330" y="1900376"/>
            <a:ext cx="11257670" cy="30572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42900" lvl="0" indent="-342900">
              <a:lnSpc>
                <a:spcPct val="200000"/>
              </a:lnSpc>
              <a:spcBef>
                <a:spcPts val="600"/>
              </a:spcBef>
              <a:buFont typeface="Wingdings" pitchFamily="2" charset="2"/>
              <a:buChar char="§"/>
              <a:defRPr/>
            </a:pPr>
            <a:r>
              <a:rPr lang="en-US" sz="320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Contiguity : N50, Number of Contigs</a:t>
            </a:r>
          </a:p>
          <a:p>
            <a:pPr marL="342900" lvl="0" indent="-342900">
              <a:lnSpc>
                <a:spcPct val="200000"/>
              </a:lnSpc>
              <a:spcBef>
                <a:spcPts val="600"/>
              </a:spcBef>
              <a:buFont typeface="Wingdings" pitchFamily="2" charset="2"/>
              <a:buChar char="§"/>
              <a:defRPr/>
            </a:pPr>
            <a:r>
              <a:rPr lang="en-US" sz="320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Completeness: Estimated Genome Size</a:t>
            </a:r>
          </a:p>
          <a:p>
            <a:pPr marL="342900" lvl="0" indent="-342900">
              <a:lnSpc>
                <a:spcPct val="200000"/>
              </a:lnSpc>
              <a:spcBef>
                <a:spcPts val="600"/>
              </a:spcBef>
              <a:buFont typeface="Wingdings" pitchFamily="2" charset="2"/>
              <a:buChar char="§"/>
              <a:defRPr/>
            </a:pPr>
            <a:r>
              <a:rPr lang="en-US" sz="320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Contamination: SH index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F6FC77-4A39-A6C3-337D-50D0AF1C94CA}"/>
              </a:ext>
            </a:extLst>
          </p:cNvPr>
          <p:cNvSpPr txBox="1"/>
          <p:nvPr/>
        </p:nvSpPr>
        <p:spPr>
          <a:xfrm>
            <a:off x="379276" y="224272"/>
            <a:ext cx="10568823" cy="43204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80" normalizeH="0" baseline="0" noProof="0" dirty="0">
                <a:ln>
                  <a:noFill/>
                </a:ln>
                <a:solidFill>
                  <a:srgbClr val="5F8FB3"/>
                </a:solidFill>
                <a:effectLst/>
                <a:uLnTx/>
                <a:uFillTx/>
                <a:ea typeface="Roboto" panose="02000000000000000000" pitchFamily="2" charset="0"/>
                <a:cs typeface="+mj-cs"/>
              </a:rPr>
              <a:t>Theory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74B442-AA75-9EA9-1306-ACADB65D52A7}"/>
              </a:ext>
            </a:extLst>
          </p:cNvPr>
          <p:cNvSpPr txBox="1"/>
          <p:nvPr/>
        </p:nvSpPr>
        <p:spPr>
          <a:xfrm>
            <a:off x="375269" y="672842"/>
            <a:ext cx="9820384" cy="59452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81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Roboto" panose="02000000000000000000" pitchFamily="2" charset="0"/>
                <a:cs typeface="+mj-cs"/>
              </a:rPr>
              <a:t>Quality/Contamination Assessment</a:t>
            </a:r>
          </a:p>
        </p:txBody>
      </p:sp>
    </p:spTree>
    <p:extLst>
      <p:ext uri="{BB962C8B-B14F-4D97-AF65-F5344CB8AC3E}">
        <p14:creationId xmlns:p14="http://schemas.microsoft.com/office/powerpoint/2010/main" val="7448552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3DE49-D00D-AA97-4EDC-27AB563A1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65">
            <a:extLst>
              <a:ext uri="{FF2B5EF4-FFF2-40B4-BE49-F238E27FC236}">
                <a16:creationId xmlns:a16="http://schemas.microsoft.com/office/drawing/2014/main" id="{5EDD06D5-36C4-5EBD-B87F-2D8891215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709" y="6511538"/>
            <a:ext cx="2791149" cy="276999"/>
          </a:xfr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/>
              <a:t>Module 2.1: </a:t>
            </a:r>
            <a:r>
              <a:rPr lang="en-VN" dirty="0">
                <a:solidFill>
                  <a:schemeClr val="tx1"/>
                </a:solidFill>
              </a:rPr>
              <a:t>Post Assembly Profiling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1DDEB4-B3FB-3215-D5C8-7973460A0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518" y="649287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F55963-6440-4C45-BA09-4E6A99D1BB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6193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6193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135BA8-9D5A-ACC9-CFA3-824C14963626}"/>
              </a:ext>
            </a:extLst>
          </p:cNvPr>
          <p:cNvSpPr txBox="1"/>
          <p:nvPr/>
        </p:nvSpPr>
        <p:spPr>
          <a:xfrm>
            <a:off x="543002" y="1601149"/>
            <a:ext cx="11241715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000" b="1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Definition</a:t>
            </a:r>
            <a:r>
              <a:rPr lang="en-US" sz="200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: 50% of the total assembly size is contained in contigs of that length or longer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65A94E-C1C4-44F2-CBC1-F1E5EBFAAE5E}"/>
              </a:ext>
            </a:extLst>
          </p:cNvPr>
          <p:cNvSpPr txBox="1"/>
          <p:nvPr/>
        </p:nvSpPr>
        <p:spPr>
          <a:xfrm>
            <a:off x="379276" y="230622"/>
            <a:ext cx="10568823" cy="43204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80" normalizeH="0" baseline="0" noProof="0" dirty="0">
                <a:ln>
                  <a:noFill/>
                </a:ln>
                <a:solidFill>
                  <a:srgbClr val="5F8FB3"/>
                </a:solidFill>
                <a:effectLst/>
                <a:uLnTx/>
                <a:uFillTx/>
                <a:ea typeface="Roboto" panose="02000000000000000000" pitchFamily="2" charset="0"/>
                <a:cs typeface="+mj-cs"/>
              </a:rPr>
              <a:t>Quality/Contamination Assessment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D79C14-80F8-3B71-8996-87DF1BB5CF37}"/>
              </a:ext>
            </a:extLst>
          </p:cNvPr>
          <p:cNvSpPr txBox="1"/>
          <p:nvPr/>
        </p:nvSpPr>
        <p:spPr>
          <a:xfrm>
            <a:off x="375269" y="360644"/>
            <a:ext cx="9820384" cy="91307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lvl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4000" dirty="0">
                <a:solidFill>
                  <a:prstClr val="black"/>
                </a:solidFill>
              </a:rPr>
              <a:t>Contiguity: N50 value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FC9993-6B4F-244F-73F9-76459997321E}"/>
              </a:ext>
            </a:extLst>
          </p:cNvPr>
          <p:cNvSpPr txBox="1"/>
          <p:nvPr/>
        </p:nvSpPr>
        <p:spPr>
          <a:xfrm>
            <a:off x="3170654" y="4581566"/>
            <a:ext cx="5870864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50" b="1" dirty="0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N50 value </a:t>
            </a:r>
            <a:r>
              <a:rPr lang="en-US" sz="1650" i="1" dirty="0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(10.1371/journal.pcbi.1010752) </a:t>
            </a:r>
            <a:r>
              <a:rPr kumimoji="0" lang="en-US" sz="165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 </a:t>
            </a:r>
            <a:endParaRPr kumimoji="0" lang="en-US" sz="165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3" name="Content Placeholder 5">
            <a:extLst>
              <a:ext uri="{FF2B5EF4-FFF2-40B4-BE49-F238E27FC236}">
                <a16:creationId xmlns:a16="http://schemas.microsoft.com/office/drawing/2014/main" id="{3E9A4A87-E0C4-B5D8-1826-FFBBDD551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40" y="2697844"/>
            <a:ext cx="10515600" cy="174118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CC9C843-2E33-6AF3-17D0-3F28B817110D}"/>
              </a:ext>
            </a:extLst>
          </p:cNvPr>
          <p:cNvSpPr txBox="1">
            <a:spLocks/>
          </p:cNvSpPr>
          <p:nvPr/>
        </p:nvSpPr>
        <p:spPr>
          <a:xfrm>
            <a:off x="700040" y="5120030"/>
            <a:ext cx="1176867" cy="5613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VN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N50 = 8</a:t>
            </a:r>
          </a:p>
        </p:txBody>
      </p:sp>
    </p:spTree>
    <p:extLst>
      <p:ext uri="{BB962C8B-B14F-4D97-AF65-F5344CB8AC3E}">
        <p14:creationId xmlns:p14="http://schemas.microsoft.com/office/powerpoint/2010/main" val="36631074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3D5E4-3B85-6C7E-0AB2-3F78362AD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65">
            <a:extLst>
              <a:ext uri="{FF2B5EF4-FFF2-40B4-BE49-F238E27FC236}">
                <a16:creationId xmlns:a16="http://schemas.microsoft.com/office/drawing/2014/main" id="{FCA326A4-2AD5-2700-5001-A1FFBCCD1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709" y="6511538"/>
            <a:ext cx="2709396" cy="276999"/>
          </a:xfr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/>
              <a:t>Module 2.1: </a:t>
            </a:r>
            <a:r>
              <a:rPr lang="en-VN" dirty="0">
                <a:solidFill>
                  <a:schemeClr val="tx1"/>
                </a:solidFill>
              </a:rPr>
              <a:t>Post Assembly Profiling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695730-675A-6151-4AA9-4797C3634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518" y="649287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F55963-6440-4C45-BA09-4E6A99D1BB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6193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6193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5D4F5D-B12D-5970-6FAF-2B0230F24894}"/>
              </a:ext>
            </a:extLst>
          </p:cNvPr>
          <p:cNvSpPr txBox="1"/>
          <p:nvPr/>
        </p:nvSpPr>
        <p:spPr>
          <a:xfrm>
            <a:off x="543002" y="1601149"/>
            <a:ext cx="11241715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000" b="1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Definition</a:t>
            </a:r>
            <a:r>
              <a:rPr lang="en-US" sz="200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: 50% of the total assembly size is contained in contigs of that length or longer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A7A610-786C-40AA-0BBA-FB2ADB8D79A0}"/>
              </a:ext>
            </a:extLst>
          </p:cNvPr>
          <p:cNvSpPr txBox="1"/>
          <p:nvPr/>
        </p:nvSpPr>
        <p:spPr>
          <a:xfrm>
            <a:off x="379276" y="230622"/>
            <a:ext cx="10568823" cy="43204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80" normalizeH="0" baseline="0" noProof="0" dirty="0">
                <a:ln>
                  <a:noFill/>
                </a:ln>
                <a:solidFill>
                  <a:srgbClr val="5F8FB3"/>
                </a:solidFill>
                <a:effectLst/>
                <a:uLnTx/>
                <a:uFillTx/>
                <a:ea typeface="Roboto" panose="02000000000000000000" pitchFamily="2" charset="0"/>
                <a:cs typeface="+mj-cs"/>
              </a:rPr>
              <a:t>Quality/Contamination Assessment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A8B143-69D5-61DB-08CF-FBD977F66DB1}"/>
              </a:ext>
            </a:extLst>
          </p:cNvPr>
          <p:cNvSpPr txBox="1"/>
          <p:nvPr/>
        </p:nvSpPr>
        <p:spPr>
          <a:xfrm>
            <a:off x="375269" y="360644"/>
            <a:ext cx="9820384" cy="91307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lvl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4000" dirty="0">
                <a:solidFill>
                  <a:prstClr val="black"/>
                </a:solidFill>
              </a:rPr>
              <a:t>Contiguity: N50 value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843F13F-414C-6057-2419-CEC03C7E81CF}"/>
              </a:ext>
            </a:extLst>
          </p:cNvPr>
          <p:cNvSpPr txBox="1">
            <a:spLocks/>
          </p:cNvSpPr>
          <p:nvPr/>
        </p:nvSpPr>
        <p:spPr>
          <a:xfrm>
            <a:off x="724182" y="4680015"/>
            <a:ext cx="6403287" cy="5910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V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Total length: 10 + 20 + 20 + 30 + 50 + 70 + 120 = </a:t>
            </a:r>
            <a:r>
              <a:rPr lang="en-VN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320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7117408-0AD2-7369-84B9-6FC6AFE015AC}"/>
              </a:ext>
            </a:extLst>
          </p:cNvPr>
          <p:cNvSpPr txBox="1"/>
          <p:nvPr/>
        </p:nvSpPr>
        <p:spPr>
          <a:xfrm>
            <a:off x="729299" y="5369696"/>
            <a:ext cx="15822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50% = 160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C70D116-35AA-5D6E-E350-05D96468778F}"/>
              </a:ext>
            </a:extLst>
          </p:cNvPr>
          <p:cNvSpPr txBox="1"/>
          <p:nvPr/>
        </p:nvSpPr>
        <p:spPr>
          <a:xfrm>
            <a:off x="729299" y="5994301"/>
            <a:ext cx="49892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What is the N50 value of Strain A?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2F6D2F2-6441-2453-E9E7-D20FEFE24084}"/>
              </a:ext>
            </a:extLst>
          </p:cNvPr>
          <p:cNvGrpSpPr/>
          <p:nvPr/>
        </p:nvGrpSpPr>
        <p:grpSpPr>
          <a:xfrm>
            <a:off x="2096175" y="2345243"/>
            <a:ext cx="5477342" cy="565892"/>
            <a:chOff x="2096175" y="2345243"/>
            <a:chExt cx="5477342" cy="565892"/>
          </a:xfrm>
        </p:grpSpPr>
        <p:sp>
          <p:nvSpPr>
            <p:cNvPr id="58" name="Right Bracket 57">
              <a:extLst>
                <a:ext uri="{FF2B5EF4-FFF2-40B4-BE49-F238E27FC236}">
                  <a16:creationId xmlns:a16="http://schemas.microsoft.com/office/drawing/2014/main" id="{0AE41399-695A-DB37-1B5E-4F8D0E384AD7}"/>
                </a:ext>
              </a:extLst>
            </p:cNvPr>
            <p:cNvSpPr/>
            <p:nvPr/>
          </p:nvSpPr>
          <p:spPr>
            <a:xfrm rot="16200000" flipV="1">
              <a:off x="4781439" y="119057"/>
              <a:ext cx="106814" cy="5477342"/>
            </a:xfrm>
            <a:prstGeom prst="rightBracket">
              <a:avLst/>
            </a:prstGeom>
            <a:ln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BE7BA56-A57E-D88A-A18F-8A77753FEBB9}"/>
                </a:ext>
              </a:extLst>
            </p:cNvPr>
            <p:cNvSpPr txBox="1"/>
            <p:nvPr/>
          </p:nvSpPr>
          <p:spPr>
            <a:xfrm>
              <a:off x="3544065" y="2345243"/>
              <a:ext cx="263871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VN" sz="16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Length = 200 </a:t>
              </a:r>
              <a:r>
                <a:rPr lang="en-VN" sz="16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Wingdings" pitchFamily="2" charset="2"/>
                </a:rPr>
                <a:t></a:t>
              </a:r>
              <a:r>
                <a:rPr lang="en-VN" sz="16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Wingdings" pitchFamily="2" charset="2"/>
                </a:rPr>
                <a:t> N50 = 70</a:t>
              </a:r>
              <a:endParaRPr lang="en-VN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B24081A-B5F2-C56E-440A-F490AC4B596B}"/>
              </a:ext>
            </a:extLst>
          </p:cNvPr>
          <p:cNvGrpSpPr/>
          <p:nvPr/>
        </p:nvGrpSpPr>
        <p:grpSpPr>
          <a:xfrm>
            <a:off x="789549" y="2851604"/>
            <a:ext cx="10189631" cy="591043"/>
            <a:chOff x="789549" y="2853228"/>
            <a:chExt cx="10189631" cy="59104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73AE5D76-F862-A152-7530-51D9C8E313BF}"/>
                </a:ext>
              </a:extLst>
            </p:cNvPr>
            <p:cNvSpPr/>
            <p:nvPr/>
          </p:nvSpPr>
          <p:spPr>
            <a:xfrm>
              <a:off x="1960125" y="2947337"/>
              <a:ext cx="272100" cy="310139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D879BAF4-1C92-E0F1-2F08-ED2A44BE7B4B}"/>
                </a:ext>
              </a:extLst>
            </p:cNvPr>
            <p:cNvSpPr/>
            <p:nvPr/>
          </p:nvSpPr>
          <p:spPr>
            <a:xfrm>
              <a:off x="8758076" y="2970327"/>
              <a:ext cx="2221104" cy="31014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678A6CC0-D88A-64C3-2667-FCCBA2D4509B}"/>
                </a:ext>
              </a:extLst>
            </p:cNvPr>
            <p:cNvSpPr/>
            <p:nvPr/>
          </p:nvSpPr>
          <p:spPr>
            <a:xfrm>
              <a:off x="2465306" y="2947337"/>
              <a:ext cx="544200" cy="310139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8A1B6340-5F72-3449-5EC2-57E6DF2D1E51}"/>
                </a:ext>
              </a:extLst>
            </p:cNvPr>
            <p:cNvSpPr/>
            <p:nvPr/>
          </p:nvSpPr>
          <p:spPr>
            <a:xfrm>
              <a:off x="4002854" y="2963573"/>
              <a:ext cx="816300" cy="310139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CD700D07-EB56-A19E-0095-B689DDF61FCB}"/>
                </a:ext>
              </a:extLst>
            </p:cNvPr>
            <p:cNvSpPr/>
            <p:nvPr/>
          </p:nvSpPr>
          <p:spPr>
            <a:xfrm>
              <a:off x="3234080" y="2942593"/>
              <a:ext cx="544200" cy="310139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E5E885C8-544B-F841-90CA-071E725E1726}"/>
                </a:ext>
              </a:extLst>
            </p:cNvPr>
            <p:cNvSpPr/>
            <p:nvPr/>
          </p:nvSpPr>
          <p:spPr>
            <a:xfrm>
              <a:off x="5043728" y="2963572"/>
              <a:ext cx="1360500" cy="310139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748BC6E3-ABA6-FF32-C3E3-FCAB13F98DC9}"/>
                </a:ext>
              </a:extLst>
            </p:cNvPr>
            <p:cNvSpPr/>
            <p:nvPr/>
          </p:nvSpPr>
          <p:spPr>
            <a:xfrm>
              <a:off x="6628802" y="2965443"/>
              <a:ext cx="1904700" cy="310139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BF24B097-3F65-CEAB-C32F-1826DD77E59D}"/>
                </a:ext>
              </a:extLst>
            </p:cNvPr>
            <p:cNvGrpSpPr/>
            <p:nvPr/>
          </p:nvGrpSpPr>
          <p:grpSpPr>
            <a:xfrm>
              <a:off x="789549" y="2853228"/>
              <a:ext cx="9437796" cy="591043"/>
              <a:chOff x="789549" y="2832248"/>
              <a:chExt cx="9437796" cy="591043"/>
            </a:xfrm>
          </p:grpSpPr>
          <p:sp>
            <p:nvSpPr>
              <p:cNvPr id="27" name="Title 1">
                <a:extLst>
                  <a:ext uri="{FF2B5EF4-FFF2-40B4-BE49-F238E27FC236}">
                    <a16:creationId xmlns:a16="http://schemas.microsoft.com/office/drawing/2014/main" id="{034D80C0-6953-BEA5-B543-C7C9356428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61608" y="2985752"/>
                <a:ext cx="511605" cy="31014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2500" lnSpcReduction="2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VN" sz="2000" b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10</a:t>
                </a:r>
              </a:p>
            </p:txBody>
          </p:sp>
          <p:sp>
            <p:nvSpPr>
              <p:cNvPr id="28" name="Title 1">
                <a:extLst>
                  <a:ext uri="{FF2B5EF4-FFF2-40B4-BE49-F238E27FC236}">
                    <a16:creationId xmlns:a16="http://schemas.microsoft.com/office/drawing/2014/main" id="{0AD2331B-C383-8BEE-1870-F643B1983A1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01798" y="2988188"/>
                <a:ext cx="511605" cy="31014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2500" lnSpcReduction="2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VN" sz="2000" b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20</a:t>
                </a:r>
              </a:p>
            </p:txBody>
          </p:sp>
          <p:sp>
            <p:nvSpPr>
              <p:cNvPr id="29" name="Title 1">
                <a:extLst>
                  <a:ext uri="{FF2B5EF4-FFF2-40B4-BE49-F238E27FC236}">
                    <a16:creationId xmlns:a16="http://schemas.microsoft.com/office/drawing/2014/main" id="{DA7589ED-881B-724C-8961-4D393E230D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57261" y="2988188"/>
                <a:ext cx="511605" cy="31014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2500" lnSpcReduction="2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VN" sz="2000" b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20</a:t>
                </a:r>
              </a:p>
            </p:txBody>
          </p:sp>
          <p:sp>
            <p:nvSpPr>
              <p:cNvPr id="30" name="Title 1">
                <a:extLst>
                  <a:ext uri="{FF2B5EF4-FFF2-40B4-BE49-F238E27FC236}">
                    <a16:creationId xmlns:a16="http://schemas.microsoft.com/office/drawing/2014/main" id="{361C5E7C-B9FC-373A-EC75-4D1C641101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47736" y="2988188"/>
                <a:ext cx="511605" cy="31014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2500" lnSpcReduction="2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VN" sz="2000" b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30</a:t>
                </a:r>
              </a:p>
            </p:txBody>
          </p:sp>
          <p:sp>
            <p:nvSpPr>
              <p:cNvPr id="31" name="Title 1">
                <a:extLst>
                  <a:ext uri="{FF2B5EF4-FFF2-40B4-BE49-F238E27FC236}">
                    <a16:creationId xmlns:a16="http://schemas.microsoft.com/office/drawing/2014/main" id="{94E2902F-91FC-5D89-DBA4-5B4CB4F605E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68175" y="2985752"/>
                <a:ext cx="511605" cy="31014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2500" lnSpcReduction="2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VN" sz="2000" b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50</a:t>
                </a:r>
              </a:p>
            </p:txBody>
          </p:sp>
          <p:sp>
            <p:nvSpPr>
              <p:cNvPr id="32" name="Title 1">
                <a:extLst>
                  <a:ext uri="{FF2B5EF4-FFF2-40B4-BE49-F238E27FC236}">
                    <a16:creationId xmlns:a16="http://schemas.microsoft.com/office/drawing/2014/main" id="{610072EE-488C-1C8A-71C0-C3A4CE9A7EE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25349" y="2985752"/>
                <a:ext cx="511605" cy="31014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2500" lnSpcReduction="2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VN" sz="2000" b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70</a:t>
                </a:r>
              </a:p>
            </p:txBody>
          </p:sp>
          <p:sp>
            <p:nvSpPr>
              <p:cNvPr id="33" name="Title 1">
                <a:extLst>
                  <a:ext uri="{FF2B5EF4-FFF2-40B4-BE49-F238E27FC236}">
                    <a16:creationId xmlns:a16="http://schemas.microsoft.com/office/drawing/2014/main" id="{C25C2AA1-27BB-CF92-6E53-BB468029A4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30797" y="2949347"/>
                <a:ext cx="696548" cy="34654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2500" lnSpcReduction="1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VN" sz="2000" b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120</a:t>
                </a:r>
              </a:p>
            </p:txBody>
          </p:sp>
          <p:sp>
            <p:nvSpPr>
              <p:cNvPr id="60" name="Title 1">
                <a:extLst>
                  <a:ext uri="{FF2B5EF4-FFF2-40B4-BE49-F238E27FC236}">
                    <a16:creationId xmlns:a16="http://schemas.microsoft.com/office/drawing/2014/main" id="{CDBECDF9-7EB3-5C00-BF98-4E653E2B11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9549" y="2832248"/>
                <a:ext cx="1582254" cy="59104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VN" sz="18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Strain A</a:t>
                </a:r>
                <a:endParaRPr lang="en-VN" sz="18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p:grp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A5EDCED-9DE1-04D5-E56A-411FE8DF7B61}"/>
              </a:ext>
            </a:extLst>
          </p:cNvPr>
          <p:cNvGrpSpPr/>
          <p:nvPr/>
        </p:nvGrpSpPr>
        <p:grpSpPr>
          <a:xfrm>
            <a:off x="2096175" y="4081865"/>
            <a:ext cx="5477342" cy="499512"/>
            <a:chOff x="2096175" y="4081865"/>
            <a:chExt cx="5477342" cy="499512"/>
          </a:xfrm>
        </p:grpSpPr>
        <p:sp>
          <p:nvSpPr>
            <p:cNvPr id="62" name="Right Bracket 61">
              <a:extLst>
                <a:ext uri="{FF2B5EF4-FFF2-40B4-BE49-F238E27FC236}">
                  <a16:creationId xmlns:a16="http://schemas.microsoft.com/office/drawing/2014/main" id="{C6C36DC4-EF32-8B4F-110D-E23CCCAA95BD}"/>
                </a:ext>
              </a:extLst>
            </p:cNvPr>
            <p:cNvSpPr/>
            <p:nvPr/>
          </p:nvSpPr>
          <p:spPr>
            <a:xfrm rot="5400000" flipV="1">
              <a:off x="4781439" y="1396601"/>
              <a:ext cx="106814" cy="5477342"/>
            </a:xfrm>
            <a:prstGeom prst="rightBracket">
              <a:avLst/>
            </a:prstGeom>
            <a:ln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4BC6516-C84F-99F3-338C-59B5A9AE0BEF}"/>
                </a:ext>
              </a:extLst>
            </p:cNvPr>
            <p:cNvSpPr txBox="1"/>
            <p:nvPr/>
          </p:nvSpPr>
          <p:spPr>
            <a:xfrm>
              <a:off x="3564303" y="4242823"/>
              <a:ext cx="263871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VN" sz="16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Length = 170 </a:t>
              </a:r>
              <a:r>
                <a:rPr lang="en-VN" sz="16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Wingdings" pitchFamily="2" charset="2"/>
                </a:rPr>
                <a:t></a:t>
              </a:r>
              <a:r>
                <a:rPr lang="en-VN" sz="16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Wingdings" pitchFamily="2" charset="2"/>
                </a:rPr>
                <a:t> N50 = 30</a:t>
              </a:r>
              <a:endParaRPr lang="en-VN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EAB93CA-460E-D1ED-701D-48409B56C4B2}"/>
              </a:ext>
            </a:extLst>
          </p:cNvPr>
          <p:cNvGrpSpPr/>
          <p:nvPr/>
        </p:nvGrpSpPr>
        <p:grpSpPr>
          <a:xfrm>
            <a:off x="806868" y="3624962"/>
            <a:ext cx="10172312" cy="591043"/>
            <a:chOff x="806868" y="3624962"/>
            <a:chExt cx="10172312" cy="591043"/>
          </a:xfrm>
        </p:grpSpPr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E69FA100-8BE4-E4E1-F619-80483953252B}"/>
                </a:ext>
              </a:extLst>
            </p:cNvPr>
            <p:cNvSpPr/>
            <p:nvPr/>
          </p:nvSpPr>
          <p:spPr>
            <a:xfrm>
              <a:off x="1960125" y="3745202"/>
              <a:ext cx="272100" cy="310139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FF331544-162F-B99F-5E60-84EF2B6928C9}"/>
                </a:ext>
              </a:extLst>
            </p:cNvPr>
            <p:cNvSpPr/>
            <p:nvPr/>
          </p:nvSpPr>
          <p:spPr>
            <a:xfrm>
              <a:off x="8007523" y="3754761"/>
              <a:ext cx="2971657" cy="31014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84049587-DBC3-057A-86F5-46CB9B344CD9}"/>
                </a:ext>
              </a:extLst>
            </p:cNvPr>
            <p:cNvSpPr/>
            <p:nvPr/>
          </p:nvSpPr>
          <p:spPr>
            <a:xfrm>
              <a:off x="2465306" y="3735525"/>
              <a:ext cx="544200" cy="310139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A5259D4E-11C5-37B4-3F51-156398827D51}"/>
                </a:ext>
              </a:extLst>
            </p:cNvPr>
            <p:cNvSpPr/>
            <p:nvPr/>
          </p:nvSpPr>
          <p:spPr>
            <a:xfrm>
              <a:off x="4018546" y="3744654"/>
              <a:ext cx="816300" cy="310139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504DC93E-6087-AF27-BBB3-AD8C8368B58C}"/>
                </a:ext>
              </a:extLst>
            </p:cNvPr>
            <p:cNvSpPr/>
            <p:nvPr/>
          </p:nvSpPr>
          <p:spPr>
            <a:xfrm>
              <a:off x="3240963" y="3735524"/>
              <a:ext cx="544200" cy="310139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45" name="Title 1">
              <a:extLst>
                <a:ext uri="{FF2B5EF4-FFF2-40B4-BE49-F238E27FC236}">
                  <a16:creationId xmlns:a16="http://schemas.microsoft.com/office/drawing/2014/main" id="{67DA0242-D0DD-EA94-F010-AE54A54EDB0F}"/>
                </a:ext>
              </a:extLst>
            </p:cNvPr>
            <p:cNvSpPr txBox="1">
              <a:spLocks/>
            </p:cNvSpPr>
            <p:nvPr/>
          </p:nvSpPr>
          <p:spPr>
            <a:xfrm>
              <a:off x="1861608" y="3783617"/>
              <a:ext cx="511605" cy="31014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2500" lnSpcReduction="2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VN" sz="2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10</a:t>
              </a:r>
            </a:p>
          </p:txBody>
        </p:sp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B308B6AA-8DB1-AD5E-3F78-2A34361FF944}"/>
                </a:ext>
              </a:extLst>
            </p:cNvPr>
            <p:cNvSpPr/>
            <p:nvPr/>
          </p:nvSpPr>
          <p:spPr>
            <a:xfrm>
              <a:off x="5037084" y="3754762"/>
              <a:ext cx="816300" cy="310139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8363091D-46A3-079C-59E2-8534801CBE7B}"/>
                </a:ext>
              </a:extLst>
            </p:cNvPr>
            <p:cNvSpPr/>
            <p:nvPr/>
          </p:nvSpPr>
          <p:spPr>
            <a:xfrm>
              <a:off x="6030432" y="3751059"/>
              <a:ext cx="816300" cy="310139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A98915F4-7114-6554-A90B-898CEA7E29CC}"/>
                </a:ext>
              </a:extLst>
            </p:cNvPr>
            <p:cNvSpPr/>
            <p:nvPr/>
          </p:nvSpPr>
          <p:spPr>
            <a:xfrm>
              <a:off x="7023780" y="3747356"/>
              <a:ext cx="816300" cy="310139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dirty="0"/>
            </a:p>
          </p:txBody>
        </p:sp>
        <p:sp>
          <p:nvSpPr>
            <p:cNvPr id="61" name="Title 1">
              <a:extLst>
                <a:ext uri="{FF2B5EF4-FFF2-40B4-BE49-F238E27FC236}">
                  <a16:creationId xmlns:a16="http://schemas.microsoft.com/office/drawing/2014/main" id="{A5C5AD96-BB09-3861-5EAC-B5EAF05EA8BF}"/>
                </a:ext>
              </a:extLst>
            </p:cNvPr>
            <p:cNvSpPr txBox="1">
              <a:spLocks/>
            </p:cNvSpPr>
            <p:nvPr/>
          </p:nvSpPr>
          <p:spPr>
            <a:xfrm>
              <a:off x="806868" y="3624962"/>
              <a:ext cx="1582254" cy="59104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VN" sz="18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Strain B</a:t>
              </a:r>
              <a:endParaRPr lang="en-VN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46" name="Title 1">
              <a:extLst>
                <a:ext uri="{FF2B5EF4-FFF2-40B4-BE49-F238E27FC236}">
                  <a16:creationId xmlns:a16="http://schemas.microsoft.com/office/drawing/2014/main" id="{A16C5179-DB33-BE3A-22A6-DB46DD71CADB}"/>
                </a:ext>
              </a:extLst>
            </p:cNvPr>
            <p:cNvSpPr txBox="1">
              <a:spLocks/>
            </p:cNvSpPr>
            <p:nvPr/>
          </p:nvSpPr>
          <p:spPr>
            <a:xfrm>
              <a:off x="2497285" y="3784842"/>
              <a:ext cx="511605" cy="31014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2500" lnSpcReduction="2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VN" sz="2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20</a:t>
              </a:r>
            </a:p>
          </p:txBody>
        </p:sp>
        <p:sp>
          <p:nvSpPr>
            <p:cNvPr id="47" name="Title 1">
              <a:extLst>
                <a:ext uri="{FF2B5EF4-FFF2-40B4-BE49-F238E27FC236}">
                  <a16:creationId xmlns:a16="http://schemas.microsoft.com/office/drawing/2014/main" id="{AD7C95E2-92B1-75F3-47A1-4A6A749E1C24}"/>
                </a:ext>
              </a:extLst>
            </p:cNvPr>
            <p:cNvSpPr txBox="1">
              <a:spLocks/>
            </p:cNvSpPr>
            <p:nvPr/>
          </p:nvSpPr>
          <p:spPr>
            <a:xfrm>
              <a:off x="3252748" y="3784842"/>
              <a:ext cx="511605" cy="31014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2500" lnSpcReduction="2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VN" sz="2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20</a:t>
              </a:r>
            </a:p>
          </p:txBody>
        </p:sp>
        <p:sp>
          <p:nvSpPr>
            <p:cNvPr id="55" name="Title 1">
              <a:extLst>
                <a:ext uri="{FF2B5EF4-FFF2-40B4-BE49-F238E27FC236}">
                  <a16:creationId xmlns:a16="http://schemas.microsoft.com/office/drawing/2014/main" id="{70379D06-4FEC-060B-0E1D-F1ABA79B470D}"/>
                </a:ext>
              </a:extLst>
            </p:cNvPr>
            <p:cNvSpPr txBox="1">
              <a:spLocks/>
            </p:cNvSpPr>
            <p:nvPr/>
          </p:nvSpPr>
          <p:spPr>
            <a:xfrm>
              <a:off x="4131581" y="3778130"/>
              <a:ext cx="511605" cy="31014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2500" lnSpcReduction="2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VN" sz="2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30</a:t>
              </a:r>
            </a:p>
          </p:txBody>
        </p:sp>
        <p:sp>
          <p:nvSpPr>
            <p:cNvPr id="56" name="Title 1">
              <a:extLst>
                <a:ext uri="{FF2B5EF4-FFF2-40B4-BE49-F238E27FC236}">
                  <a16:creationId xmlns:a16="http://schemas.microsoft.com/office/drawing/2014/main" id="{1AC88AF9-2210-DA9D-4FA7-8CE759A53A3E}"/>
                </a:ext>
              </a:extLst>
            </p:cNvPr>
            <p:cNvSpPr txBox="1">
              <a:spLocks/>
            </p:cNvSpPr>
            <p:nvPr/>
          </p:nvSpPr>
          <p:spPr>
            <a:xfrm>
              <a:off x="5202074" y="3792704"/>
              <a:ext cx="511605" cy="31014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2500" lnSpcReduction="2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VN" sz="2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30</a:t>
              </a:r>
            </a:p>
          </p:txBody>
        </p:sp>
        <p:sp>
          <p:nvSpPr>
            <p:cNvPr id="57" name="Title 1">
              <a:extLst>
                <a:ext uri="{FF2B5EF4-FFF2-40B4-BE49-F238E27FC236}">
                  <a16:creationId xmlns:a16="http://schemas.microsoft.com/office/drawing/2014/main" id="{54757450-741E-5773-0017-C9E19902C89B}"/>
                </a:ext>
              </a:extLst>
            </p:cNvPr>
            <p:cNvSpPr txBox="1">
              <a:spLocks/>
            </p:cNvSpPr>
            <p:nvPr/>
          </p:nvSpPr>
          <p:spPr>
            <a:xfrm>
              <a:off x="6177977" y="3792704"/>
              <a:ext cx="511605" cy="31014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2500" lnSpcReduction="2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VN" sz="2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30</a:t>
              </a:r>
            </a:p>
          </p:txBody>
        </p:sp>
        <p:sp>
          <p:nvSpPr>
            <p:cNvPr id="68" name="Title 1">
              <a:extLst>
                <a:ext uri="{FF2B5EF4-FFF2-40B4-BE49-F238E27FC236}">
                  <a16:creationId xmlns:a16="http://schemas.microsoft.com/office/drawing/2014/main" id="{989582F1-AA15-03FC-1E59-B908605291A2}"/>
                </a:ext>
              </a:extLst>
            </p:cNvPr>
            <p:cNvSpPr txBox="1">
              <a:spLocks/>
            </p:cNvSpPr>
            <p:nvPr/>
          </p:nvSpPr>
          <p:spPr>
            <a:xfrm>
              <a:off x="7209457" y="3792704"/>
              <a:ext cx="511605" cy="31014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2500" lnSpcReduction="2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VN" sz="2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30</a:t>
              </a:r>
            </a:p>
          </p:txBody>
        </p:sp>
        <p:sp>
          <p:nvSpPr>
            <p:cNvPr id="51" name="Title 1">
              <a:extLst>
                <a:ext uri="{FF2B5EF4-FFF2-40B4-BE49-F238E27FC236}">
                  <a16:creationId xmlns:a16="http://schemas.microsoft.com/office/drawing/2014/main" id="{DE0EEA36-B12E-59B8-1F6A-0E67621ED9BF}"/>
                </a:ext>
              </a:extLst>
            </p:cNvPr>
            <p:cNvSpPr txBox="1">
              <a:spLocks/>
            </p:cNvSpPr>
            <p:nvPr/>
          </p:nvSpPr>
          <p:spPr>
            <a:xfrm>
              <a:off x="9145077" y="3759927"/>
              <a:ext cx="696548" cy="34654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VN" sz="2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150</a:t>
              </a:r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88FDDCDF-1B6F-8578-5A88-09B1BD3D2BDB}"/>
              </a:ext>
            </a:extLst>
          </p:cNvPr>
          <p:cNvSpPr txBox="1"/>
          <p:nvPr/>
        </p:nvSpPr>
        <p:spPr>
          <a:xfrm>
            <a:off x="5688210" y="5994301"/>
            <a:ext cx="49892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Which strain has better assembly quality?</a:t>
            </a:r>
            <a:endParaRPr lang="en-VN" sz="20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1524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5" grpId="0"/>
      <p:bldP spid="36" grpId="0"/>
      <p:bldP spid="37" grpId="0"/>
      <p:bldP spid="7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6347A-AB56-E43B-8649-6D3216D6E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65">
            <a:extLst>
              <a:ext uri="{FF2B5EF4-FFF2-40B4-BE49-F238E27FC236}">
                <a16:creationId xmlns:a16="http://schemas.microsoft.com/office/drawing/2014/main" id="{948B0CA6-C8F5-36FC-5DB7-4A50FF1BC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709" y="6511538"/>
            <a:ext cx="2709396" cy="276999"/>
          </a:xfr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/>
              <a:t>Module 2.1: </a:t>
            </a:r>
            <a:r>
              <a:rPr lang="en-VN" dirty="0">
                <a:solidFill>
                  <a:schemeClr val="tx1"/>
                </a:solidFill>
              </a:rPr>
              <a:t>Post Assembly Profiling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E8EFCF-B5C2-1275-4702-6233D777C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518" y="649287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F55963-6440-4C45-BA09-4E6A99D1BB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6193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6193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4AF5AE-7C9D-CD57-64B4-40129C151571}"/>
              </a:ext>
            </a:extLst>
          </p:cNvPr>
          <p:cNvSpPr txBox="1"/>
          <p:nvPr/>
        </p:nvSpPr>
        <p:spPr>
          <a:xfrm>
            <a:off x="379276" y="224272"/>
            <a:ext cx="10568823" cy="43204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lvl="0" algn="l">
              <a:lnSpc>
                <a:spcPct val="106000"/>
              </a:lnSpc>
              <a:defRPr/>
            </a:pPr>
            <a:r>
              <a:rPr lang="en-US" sz="2200" dirty="0">
                <a:solidFill>
                  <a:srgbClr val="5F8FB3"/>
                </a:solidFill>
              </a:rPr>
              <a:t>Quality/Contamination Assessment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2ED134-A37B-B6D7-E6E4-94EA3B6CE2B1}"/>
              </a:ext>
            </a:extLst>
          </p:cNvPr>
          <p:cNvSpPr txBox="1"/>
          <p:nvPr/>
        </p:nvSpPr>
        <p:spPr>
          <a:xfrm>
            <a:off x="375269" y="672842"/>
            <a:ext cx="11043580" cy="59452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lvl="0" algn="l">
              <a:lnSpc>
                <a:spcPct val="81000"/>
              </a:lnSpc>
              <a:defRPr/>
            </a:pPr>
            <a:r>
              <a:rPr lang="en-VN" sz="4000" dirty="0"/>
              <a:t>Completeness: Estimated Genome Size (%)</a:t>
            </a:r>
            <a:endParaRPr kumimoji="0" lang="en-US" sz="4000" b="1" i="0" u="none" strike="noStrike" kern="1200" cap="none" spc="8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Roboto" panose="02000000000000000000" pitchFamily="2" charset="0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53003A3-98D3-8518-BD64-A64F9BE2AC80}"/>
                  </a:ext>
                </a:extLst>
              </p:cNvPr>
              <p:cNvSpPr txBox="1"/>
              <p:nvPr/>
            </p:nvSpPr>
            <p:spPr>
              <a:xfrm>
                <a:off x="5476526" y="3994741"/>
                <a:ext cx="8905639" cy="7310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r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  <m:r>
                            <a:rPr lang="en-US" sz="2000" b="1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𝐬𝐬𝐞𝐦𝐛𝐥𝐞𝐝</m:t>
                          </m:r>
                          <m:r>
                            <a:rPr lang="en-US" sz="2000" b="1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1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𝐠𝐞𝐧𝐨𝐦𝐞</m:t>
                          </m:r>
                          <m:r>
                            <a:rPr lang="en-US" sz="2000" b="1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1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𝐬𝐢𝐳𝐞</m:t>
                          </m:r>
                        </m:num>
                        <m:den>
                          <m:r>
                            <a:rPr kumimoji="0" lang="en-US" sz="20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𝐄𝐬𝐭𝐢𝐦𝐚𝐭𝐞𝐝</m:t>
                          </m:r>
                          <m:r>
                            <a:rPr kumimoji="0" lang="en-US" sz="20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0" lang="en-US" sz="20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𝐠𝐞𝐧𝐨𝐦𝐞</m:t>
                          </m:r>
                          <m:r>
                            <a:rPr kumimoji="0" lang="en-US" sz="20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0" lang="en-US" sz="20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𝐬𝐢𝐳𝐞</m:t>
                          </m:r>
                        </m:den>
                      </m:f>
                    </m:oMath>
                  </m:oMathPara>
                </a14:m>
                <a:endParaRPr kumimoji="0" lang="en-US" sz="20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53003A3-98D3-8518-BD64-A64F9BE2A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6526" y="3994741"/>
                <a:ext cx="8905639" cy="731034"/>
              </a:xfrm>
              <a:prstGeom prst="rect">
                <a:avLst/>
              </a:prstGeom>
              <a:blipFill>
                <a:blip r:embed="rId3"/>
                <a:stretch>
                  <a:fillRect b="-1206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CA04412F-A6F3-6A51-AA3E-6BC713167578}"/>
              </a:ext>
            </a:extLst>
          </p:cNvPr>
          <p:cNvSpPr txBox="1"/>
          <p:nvPr/>
        </p:nvSpPr>
        <p:spPr>
          <a:xfrm>
            <a:off x="543002" y="1601149"/>
            <a:ext cx="112417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2000" b="1" dirty="0"/>
              <a:t>Definition</a:t>
            </a:r>
            <a:r>
              <a:rPr lang="en-VN" sz="2000" dirty="0"/>
              <a:t>: 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percentage</a:t>
            </a:r>
            <a:r>
              <a:rPr lang="en-US" sz="2000" dirty="0"/>
              <a:t> of the organism’s total genome that is present in the assembly</a:t>
            </a:r>
            <a:endParaRPr lang="en-VN" sz="2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39B9E5E-040B-3E49-529B-3F5A899E7F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825" b="20741"/>
          <a:stretch>
            <a:fillRect/>
          </a:stretch>
        </p:blipFill>
        <p:spPr>
          <a:xfrm>
            <a:off x="593801" y="2491168"/>
            <a:ext cx="7772400" cy="285887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5432950-A39B-F2FB-E5A6-7186BB9722D2}"/>
              </a:ext>
            </a:extLst>
          </p:cNvPr>
          <p:cNvSpPr txBox="1"/>
          <p:nvPr/>
        </p:nvSpPr>
        <p:spPr>
          <a:xfrm>
            <a:off x="593801" y="5682456"/>
            <a:ext cx="7772399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Recommend Quality Threshold - </a:t>
            </a:r>
            <a:r>
              <a:rPr lang="en-US" sz="2000" b="1" dirty="0"/>
              <a:t>Completeness: &gt; 90%</a:t>
            </a:r>
            <a:endParaRPr lang="en-VN" sz="2000" b="1" dirty="0"/>
          </a:p>
        </p:txBody>
      </p:sp>
    </p:spTree>
    <p:extLst>
      <p:ext uri="{BB962C8B-B14F-4D97-AF65-F5344CB8AC3E}">
        <p14:creationId xmlns:p14="http://schemas.microsoft.com/office/powerpoint/2010/main" val="67425751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8EFB0-16AF-3950-482B-A51291C4D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65">
            <a:extLst>
              <a:ext uri="{FF2B5EF4-FFF2-40B4-BE49-F238E27FC236}">
                <a16:creationId xmlns:a16="http://schemas.microsoft.com/office/drawing/2014/main" id="{838C03EF-DC47-E61A-B014-7C0AEF1FF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709" y="6511538"/>
            <a:ext cx="2709396" cy="276999"/>
          </a:xfr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/>
              <a:t>Module 2.1: </a:t>
            </a:r>
            <a:r>
              <a:rPr lang="en-VN" dirty="0">
                <a:solidFill>
                  <a:schemeClr val="tx1"/>
                </a:solidFill>
              </a:rPr>
              <a:t>Post Assembly Profiling</a:t>
            </a:r>
            <a:endParaRPr lang="en-US" dirty="0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9F73D2FD-713E-2CC7-E78E-F1C467F5C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518" y="649287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F55963-6440-4C45-BA09-4E6A99D1BB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6193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6193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73E463-BAB0-CACF-B6FB-86ADB6943CA2}"/>
              </a:ext>
            </a:extLst>
          </p:cNvPr>
          <p:cNvSpPr txBox="1"/>
          <p:nvPr/>
        </p:nvSpPr>
        <p:spPr>
          <a:xfrm>
            <a:off x="379276" y="230622"/>
            <a:ext cx="10568823" cy="43204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lvl="0" algn="l">
              <a:lnSpc>
                <a:spcPct val="106000"/>
              </a:lnSpc>
              <a:defRPr/>
            </a:pPr>
            <a:r>
              <a:rPr lang="en-US" sz="2200" dirty="0">
                <a:solidFill>
                  <a:srgbClr val="5F8FB3"/>
                </a:solidFill>
              </a:rPr>
              <a:t>Quality/Contamination Assessment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7C2E36-711E-6861-4DF9-EA8322105958}"/>
              </a:ext>
            </a:extLst>
          </p:cNvPr>
          <p:cNvSpPr txBox="1"/>
          <p:nvPr/>
        </p:nvSpPr>
        <p:spPr>
          <a:xfrm>
            <a:off x="375269" y="682783"/>
            <a:ext cx="9820384" cy="5909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81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ysClr val="windowText" lastClr="000000"/>
                </a:solidFill>
              </a:rPr>
              <a:t>Contamination</a:t>
            </a:r>
            <a:endParaRPr kumimoji="0" lang="en-US" sz="4000" b="1" i="0" u="none" strike="noStrike" kern="1200" cap="none" spc="8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Roboto" panose="02000000000000000000" pitchFamily="2" charset="0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8038A2-0789-4AAE-3F8B-CE90696DAA31}"/>
              </a:ext>
            </a:extLst>
          </p:cNvPr>
          <p:cNvSpPr txBox="1"/>
          <p:nvPr/>
        </p:nvSpPr>
        <p:spPr>
          <a:xfrm>
            <a:off x="543003" y="1430667"/>
            <a:ext cx="112417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Definition</a:t>
            </a:r>
            <a:r>
              <a:rPr lang="en-VN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percentage of sequences that originate from organisms other than the target genome</a:t>
            </a:r>
            <a:endParaRPr lang="en-VN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C936E2-6E00-D0A2-C085-5B98305FA1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919"/>
          <a:stretch>
            <a:fillRect/>
          </a:stretch>
        </p:blipFill>
        <p:spPr>
          <a:xfrm>
            <a:off x="543003" y="2041718"/>
            <a:ext cx="7772400" cy="368286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1EAA15F-CCAB-3C97-3056-BE504D1D5B80}"/>
              </a:ext>
            </a:extLst>
          </p:cNvPr>
          <p:cNvSpPr txBox="1"/>
          <p:nvPr/>
        </p:nvSpPr>
        <p:spPr>
          <a:xfrm>
            <a:off x="543003" y="5824170"/>
            <a:ext cx="6950617" cy="964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Recommend Quality Threshold - </a:t>
            </a:r>
            <a:r>
              <a:rPr lang="en-US" sz="2000" b="1" dirty="0"/>
              <a:t>Contamination: &lt; 5%</a:t>
            </a:r>
            <a:endParaRPr lang="en-VN" sz="2000" b="1" dirty="0"/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527436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D0931-187D-4EBA-2941-138D55FE4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65">
            <a:extLst>
              <a:ext uri="{FF2B5EF4-FFF2-40B4-BE49-F238E27FC236}">
                <a16:creationId xmlns:a16="http://schemas.microsoft.com/office/drawing/2014/main" id="{89680A6B-2965-592E-E2C4-A70FD2B26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709" y="6511538"/>
            <a:ext cx="2709396" cy="276999"/>
          </a:xfr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/>
              <a:t>Module 2.1: </a:t>
            </a:r>
            <a:r>
              <a:rPr lang="en-VN" dirty="0">
                <a:solidFill>
                  <a:schemeClr val="tx1"/>
                </a:solidFill>
              </a:rPr>
              <a:t>Post Assembly Profiling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1A9DA9-AB21-5432-4279-15FAABCB6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518" y="649287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F55963-6440-4C45-BA09-4E6A99D1BB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6193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6193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1099A0-9FCC-18E2-DBC4-5A7F4584CEF4}"/>
              </a:ext>
            </a:extLst>
          </p:cNvPr>
          <p:cNvSpPr txBox="1"/>
          <p:nvPr/>
        </p:nvSpPr>
        <p:spPr>
          <a:xfrm>
            <a:off x="842890" y="1645178"/>
            <a:ext cx="5790397" cy="35676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42900" lvl="0" indent="-342900">
              <a:lnSpc>
                <a:spcPct val="200000"/>
              </a:lnSpc>
              <a:spcBef>
                <a:spcPts val="600"/>
              </a:spcBef>
              <a:buFont typeface="Wingdings" pitchFamily="2" charset="2"/>
              <a:buChar char="§"/>
              <a:defRPr/>
            </a:pPr>
            <a:r>
              <a:rPr lang="en-US" sz="280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MLST Typing</a:t>
            </a:r>
          </a:p>
          <a:p>
            <a:pPr marL="342900" lvl="0" indent="-342900">
              <a:lnSpc>
                <a:spcPct val="200000"/>
              </a:lnSpc>
              <a:spcBef>
                <a:spcPts val="600"/>
              </a:spcBef>
              <a:buFont typeface="Wingdings" pitchFamily="2" charset="2"/>
              <a:buChar char="§"/>
              <a:defRPr/>
            </a:pPr>
            <a:r>
              <a:rPr lang="en-US" sz="280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Gene Content Identification (AMR/Virulence genes,…)</a:t>
            </a:r>
          </a:p>
          <a:p>
            <a:pPr marL="342900" lvl="0" indent="-342900">
              <a:lnSpc>
                <a:spcPct val="200000"/>
              </a:lnSpc>
              <a:spcBef>
                <a:spcPts val="600"/>
              </a:spcBef>
              <a:buFont typeface="Wingdings" pitchFamily="2" charset="2"/>
              <a:buChar char="§"/>
              <a:defRPr/>
            </a:pPr>
            <a:r>
              <a:rPr lang="en-US" sz="280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Genome Annotation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37836D-358A-85BA-EB03-CB8D76AFDD79}"/>
              </a:ext>
            </a:extLst>
          </p:cNvPr>
          <p:cNvSpPr txBox="1"/>
          <p:nvPr/>
        </p:nvSpPr>
        <p:spPr>
          <a:xfrm>
            <a:off x="379276" y="224272"/>
            <a:ext cx="10568823" cy="43204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80" normalizeH="0" baseline="0" noProof="0" dirty="0">
                <a:ln>
                  <a:noFill/>
                </a:ln>
                <a:solidFill>
                  <a:srgbClr val="5F8FB3"/>
                </a:solidFill>
                <a:effectLst/>
                <a:uLnTx/>
                <a:uFillTx/>
                <a:ea typeface="Roboto" panose="02000000000000000000" pitchFamily="2" charset="0"/>
                <a:cs typeface="+mj-cs"/>
              </a:rPr>
              <a:t>Theory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2DA380-7447-3311-AC96-C4C70E6FF719}"/>
              </a:ext>
            </a:extLst>
          </p:cNvPr>
          <p:cNvSpPr txBox="1"/>
          <p:nvPr/>
        </p:nvSpPr>
        <p:spPr>
          <a:xfrm>
            <a:off x="375269" y="557426"/>
            <a:ext cx="9820384" cy="7099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lvl="0" algn="l">
              <a:lnSpc>
                <a:spcPct val="106000"/>
              </a:lnSpc>
              <a:defRPr/>
            </a:pPr>
            <a:r>
              <a:rPr lang="en-US" sz="4000" dirty="0">
                <a:solidFill>
                  <a:schemeClr val="tx1"/>
                </a:solidFill>
              </a:rPr>
              <a:t>Downstream Analysis Steps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3BCD07-8767-5F7B-348F-E3FB622F58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338" b="18700"/>
          <a:stretch>
            <a:fillRect/>
          </a:stretch>
        </p:blipFill>
        <p:spPr>
          <a:xfrm>
            <a:off x="6633287" y="1615544"/>
            <a:ext cx="4600937" cy="397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8462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BC908-3B75-FC5C-6101-D03D8EB00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65">
            <a:extLst>
              <a:ext uri="{FF2B5EF4-FFF2-40B4-BE49-F238E27FC236}">
                <a16:creationId xmlns:a16="http://schemas.microsoft.com/office/drawing/2014/main" id="{05DC5174-2A29-7423-D735-C80B11E65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709" y="6511538"/>
            <a:ext cx="2791149" cy="276999"/>
          </a:xfr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/>
              <a:t>Module 2.1: </a:t>
            </a:r>
            <a:r>
              <a:rPr lang="en-VN" dirty="0">
                <a:solidFill>
                  <a:schemeClr val="tx1"/>
                </a:solidFill>
              </a:rPr>
              <a:t>Post Assembly Profiling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93418E-DE52-EFC2-3B55-30B77D670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518" y="649287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F55963-6440-4C45-BA09-4E6A99D1BB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6193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6193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5B784C-D3D7-3314-1D50-2141FD49C9C3}"/>
              </a:ext>
            </a:extLst>
          </p:cNvPr>
          <p:cNvSpPr txBox="1"/>
          <p:nvPr/>
        </p:nvSpPr>
        <p:spPr>
          <a:xfrm>
            <a:off x="543002" y="1601149"/>
            <a:ext cx="11241715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</a:rPr>
              <a:t>Definition</a:t>
            </a:r>
            <a:r>
              <a:rPr lang="en-US" sz="200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: </a:t>
            </a: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 housekeeping gene</a:t>
            </a:r>
            <a:r>
              <a:rPr lang="en-US" sz="200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is a gene that is always expressed on in bacterial cell, provides essential functions. </a:t>
            </a:r>
            <a:r>
              <a:rPr lang="en-US" sz="2000" b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MLST</a:t>
            </a:r>
            <a:r>
              <a:rPr lang="en-US" sz="200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identifies a bacterial sequence type (ST) by analyzing the allelic profiles of several housekeeping genes.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CC84B1-6D9E-0E4C-A52A-B28B7D03E06E}"/>
              </a:ext>
            </a:extLst>
          </p:cNvPr>
          <p:cNvSpPr txBox="1"/>
          <p:nvPr/>
        </p:nvSpPr>
        <p:spPr>
          <a:xfrm>
            <a:off x="379276" y="230622"/>
            <a:ext cx="10568823" cy="43204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80" normalizeH="0" baseline="0" noProof="0">
                <a:ln>
                  <a:noFill/>
                </a:ln>
                <a:solidFill>
                  <a:srgbClr val="5F8FB3"/>
                </a:solidFill>
                <a:effectLst/>
                <a:uLnTx/>
                <a:uFillTx/>
                <a:ea typeface="Roboto" panose="02000000000000000000" pitchFamily="2" charset="0"/>
                <a:cs typeface="+mj-cs"/>
              </a:rPr>
              <a:t>Theory</a:t>
            </a:r>
            <a:endParaRPr kumimoji="0" lang="en-US" sz="2200" b="1" i="0" u="none" strike="noStrike" kern="1200" cap="none" spc="80" normalizeH="0" baseline="0" noProof="0" dirty="0">
              <a:ln>
                <a:noFill/>
              </a:ln>
              <a:solidFill>
                <a:srgbClr val="5F8FB3"/>
              </a:solidFill>
              <a:effectLst/>
              <a:uLnTx/>
              <a:uFillTx/>
              <a:ea typeface="Roboto" panose="02000000000000000000" pitchFamily="2" charset="0"/>
              <a:cs typeface="+mj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9B28E3-420A-6E13-A5A0-1C6301236903}"/>
              </a:ext>
            </a:extLst>
          </p:cNvPr>
          <p:cNvSpPr txBox="1"/>
          <p:nvPr/>
        </p:nvSpPr>
        <p:spPr>
          <a:xfrm>
            <a:off x="375269" y="360644"/>
            <a:ext cx="9820384" cy="91307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lvl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4000" dirty="0">
                <a:solidFill>
                  <a:prstClr val="black"/>
                </a:solidFill>
              </a:rPr>
              <a:t>MLST typing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078E5E-961C-6171-C9BC-1C73FC90A901}"/>
              </a:ext>
            </a:extLst>
          </p:cNvPr>
          <p:cNvSpPr txBox="1"/>
          <p:nvPr/>
        </p:nvSpPr>
        <p:spPr>
          <a:xfrm>
            <a:off x="0" y="5727362"/>
            <a:ext cx="5870864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50" b="1" dirty="0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N50 value </a:t>
            </a:r>
            <a:r>
              <a:rPr lang="en-US" sz="1650" i="1" dirty="0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(10.1371/journal.pcbi.1010752) </a:t>
            </a:r>
            <a:r>
              <a:rPr kumimoji="0" lang="en-US" sz="165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 </a:t>
            </a:r>
            <a:endParaRPr kumimoji="0" lang="en-US" sz="165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30C5F2-F9C3-19B4-C7E6-8720D42089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900"/>
          <a:stretch>
            <a:fillRect/>
          </a:stretch>
        </p:blipFill>
        <p:spPr>
          <a:xfrm>
            <a:off x="773705" y="3168675"/>
            <a:ext cx="6925201" cy="31827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FE51A8A-0F36-BE1B-7941-31407312F6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279" t="23992" r="8852" b="36664"/>
          <a:stretch>
            <a:fillRect/>
          </a:stretch>
        </p:blipFill>
        <p:spPr>
          <a:xfrm>
            <a:off x="8190617" y="3166841"/>
            <a:ext cx="3227678" cy="13279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CE9F98A-5A86-2A93-685E-73D44A5E2C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0617" y="5007068"/>
            <a:ext cx="3227678" cy="132795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4785217-E60C-CCF2-7373-5F8620CF4E3C}"/>
              </a:ext>
            </a:extLst>
          </p:cNvPr>
          <p:cNvSpPr txBox="1"/>
          <p:nvPr/>
        </p:nvSpPr>
        <p:spPr>
          <a:xfrm>
            <a:off x="8881618" y="4575361"/>
            <a:ext cx="1845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</a:rPr>
              <a:t>MLST Schemes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8065796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AE2F8-93C4-63A2-CA7B-12239F535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65">
            <a:extLst>
              <a:ext uri="{FF2B5EF4-FFF2-40B4-BE49-F238E27FC236}">
                <a16:creationId xmlns:a16="http://schemas.microsoft.com/office/drawing/2014/main" id="{6C8B9F9B-BE73-CDA2-4BA5-2792869F2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709" y="6511538"/>
            <a:ext cx="2791149" cy="276999"/>
          </a:xfr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/>
              <a:t>Module 2.1: </a:t>
            </a:r>
            <a:r>
              <a:rPr lang="en-VN" dirty="0">
                <a:solidFill>
                  <a:schemeClr val="tx1"/>
                </a:solidFill>
              </a:rPr>
              <a:t>Post Assembly Profiling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3342FD-F3D0-116C-C173-A45316E86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518" y="649287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F55963-6440-4C45-BA09-4E6A99D1BB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6193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6193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56AB73-2E59-BA3A-0F57-F314077632CA}"/>
              </a:ext>
            </a:extLst>
          </p:cNvPr>
          <p:cNvSpPr txBox="1"/>
          <p:nvPr/>
        </p:nvSpPr>
        <p:spPr>
          <a:xfrm>
            <a:off x="379276" y="230622"/>
            <a:ext cx="10568823" cy="43204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80" normalizeH="0" baseline="0" noProof="0" dirty="0">
                <a:ln>
                  <a:noFill/>
                </a:ln>
                <a:solidFill>
                  <a:srgbClr val="5F8FB3"/>
                </a:solidFill>
                <a:effectLst/>
                <a:uLnTx/>
                <a:uFillTx/>
                <a:ea typeface="Roboto" panose="02000000000000000000" pitchFamily="2" charset="0"/>
                <a:cs typeface="+mj-cs"/>
              </a:rPr>
              <a:t>Theory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6D9D19-D275-712C-4030-00D1E4A645AB}"/>
              </a:ext>
            </a:extLst>
          </p:cNvPr>
          <p:cNvSpPr txBox="1"/>
          <p:nvPr/>
        </p:nvSpPr>
        <p:spPr>
          <a:xfrm>
            <a:off x="375269" y="360644"/>
            <a:ext cx="9820384" cy="91307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lvl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4000" dirty="0">
                <a:solidFill>
                  <a:prstClr val="black"/>
                </a:solidFill>
              </a:rPr>
              <a:t>Gene Content Identification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400074-0855-F80A-0091-A25AABE47756}"/>
              </a:ext>
            </a:extLst>
          </p:cNvPr>
          <p:cNvSpPr txBox="1"/>
          <p:nvPr/>
        </p:nvSpPr>
        <p:spPr>
          <a:xfrm>
            <a:off x="310583" y="4824610"/>
            <a:ext cx="587086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50" b="1" dirty="0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AMR genes in Enterobacteriaceae </a:t>
            </a:r>
            <a:r>
              <a:rPr lang="en-US" sz="1650" i="1" dirty="0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(https://</a:t>
            </a:r>
            <a:r>
              <a:rPr lang="en-US" sz="1650" i="1" dirty="0" err="1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microbenotes.com</a:t>
            </a:r>
            <a:r>
              <a:rPr lang="en-US" sz="1650" i="1" dirty="0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/) </a:t>
            </a:r>
            <a:r>
              <a:rPr kumimoji="0" lang="en-US" sz="165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 </a:t>
            </a:r>
            <a:endParaRPr kumimoji="0" lang="en-US" sz="165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5FACF41-0026-CC97-E3B0-EEE22037D762}"/>
              </a:ext>
            </a:extLst>
          </p:cNvPr>
          <p:cNvSpPr txBox="1">
            <a:spLocks/>
          </p:cNvSpPr>
          <p:nvPr/>
        </p:nvSpPr>
        <p:spPr>
          <a:xfrm>
            <a:off x="2776212" y="1412994"/>
            <a:ext cx="939607" cy="5613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VN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AMR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76FD1B9-AB72-387A-203F-E0AF0BAB788A}"/>
              </a:ext>
            </a:extLst>
          </p:cNvPr>
          <p:cNvSpPr txBox="1">
            <a:spLocks/>
          </p:cNvSpPr>
          <p:nvPr/>
        </p:nvSpPr>
        <p:spPr>
          <a:xfrm>
            <a:off x="8067826" y="1412994"/>
            <a:ext cx="2127827" cy="5613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VN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Virulence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17201B-E626-4F5B-F46F-1521556D77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116"/>
          <a:stretch>
            <a:fillRect/>
          </a:stretch>
        </p:blipFill>
        <p:spPr>
          <a:xfrm>
            <a:off x="514538" y="2024045"/>
            <a:ext cx="5469168" cy="25150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E4E169-3B90-58AE-F944-F5C41B577C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5194" y="2024045"/>
            <a:ext cx="4167186" cy="27012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12B645-2807-AC6C-8395-4362D4E86E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2379" y="5535016"/>
            <a:ext cx="5197982" cy="7979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D4E1EA6-729F-43CF-4BE0-D366889E44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2101" y="5569188"/>
            <a:ext cx="2127828" cy="79793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E7AFDDB-4649-3768-E06D-9B89C3FD1559}"/>
              </a:ext>
            </a:extLst>
          </p:cNvPr>
          <p:cNvSpPr txBox="1"/>
          <p:nvPr/>
        </p:nvSpPr>
        <p:spPr>
          <a:xfrm>
            <a:off x="5945938" y="4774930"/>
            <a:ext cx="587086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50" b="1" dirty="0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Virulence factors in classical and hypervirulent </a:t>
            </a:r>
            <a:r>
              <a:rPr lang="en-US" sz="1650" b="1" dirty="0" err="1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Kp</a:t>
            </a:r>
            <a:r>
              <a:rPr lang="en-US" sz="1650" b="1" dirty="0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650" i="1" dirty="0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(</a:t>
            </a:r>
            <a:r>
              <a:rPr lang="en-US" sz="1650" i="1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10.1128/MMBR.00078-15</a:t>
            </a:r>
            <a:r>
              <a:rPr lang="en-US" sz="1650" i="1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215695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50024-1E4C-C64E-AE48-18DE7B833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BC9D24BA-AC59-45A6-D763-E336E41CCB88}"/>
              </a:ext>
            </a:extLst>
          </p:cNvPr>
          <p:cNvSpPr txBox="1"/>
          <p:nvPr/>
        </p:nvSpPr>
        <p:spPr>
          <a:xfrm>
            <a:off x="2013632" y="3074031"/>
            <a:ext cx="8164736" cy="7099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marL="857250" marR="0" lvl="0" indent="-857250" algn="l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romanUcPeriod" startAt="2"/>
              <a:tabLst/>
              <a:defRPr/>
            </a:pPr>
            <a:r>
              <a:rPr kumimoji="0" lang="en-US" sz="4000" b="1" i="0" u="none" strike="noStrike" kern="1200" cap="none" spc="80" normalizeH="0" baseline="0" noProof="0" dirty="0">
                <a:ln>
                  <a:noFill/>
                </a:ln>
                <a:solidFill>
                  <a:srgbClr val="06193E"/>
                </a:solidFill>
                <a:effectLst/>
                <a:uLnTx/>
                <a:uFillTx/>
              </a:rPr>
              <a:t>Practical Command-line (CLI)</a:t>
            </a:r>
          </a:p>
        </p:txBody>
      </p:sp>
      <p:sp>
        <p:nvSpPr>
          <p:cNvPr id="3" name="Footer Placeholder 65">
            <a:extLst>
              <a:ext uri="{FF2B5EF4-FFF2-40B4-BE49-F238E27FC236}">
                <a16:creationId xmlns:a16="http://schemas.microsoft.com/office/drawing/2014/main" id="{AFD58395-020D-2EC7-CBA0-A73ACD23A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709" y="6511538"/>
            <a:ext cx="2709396" cy="276999"/>
          </a:xfr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/>
              <a:t>Module 2.1: </a:t>
            </a:r>
            <a:r>
              <a:rPr lang="en-VN" dirty="0">
                <a:solidFill>
                  <a:schemeClr val="tx1"/>
                </a:solidFill>
              </a:rPr>
              <a:t>Post Assembly Profiling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6CD813-3C0A-FD06-6273-3BC9811A9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518" y="649287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F55963-6440-4C45-BA09-4E6A99D1BBE0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6193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06193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1191111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4D818-7A1B-C0D5-BEFF-1AEFD936E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65">
            <a:extLst>
              <a:ext uri="{FF2B5EF4-FFF2-40B4-BE49-F238E27FC236}">
                <a16:creationId xmlns:a16="http://schemas.microsoft.com/office/drawing/2014/main" id="{2256BBDC-8DD4-008F-F3FE-51E544870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709" y="6511538"/>
            <a:ext cx="2791149" cy="276999"/>
          </a:xfr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/>
              <a:t>Module 2.1: </a:t>
            </a:r>
            <a:r>
              <a:rPr lang="en-VN" dirty="0">
                <a:solidFill>
                  <a:schemeClr val="tx1"/>
                </a:solidFill>
              </a:rPr>
              <a:t>Post Assembly Profiling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FA1DE4-AAF3-74A1-9C13-3EAE00BBB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518" y="649287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F55963-6440-4C45-BA09-4E6A99D1BB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6193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6193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D4FDBF-B3A0-0E8A-62F2-F6744123AF4C}"/>
              </a:ext>
            </a:extLst>
          </p:cNvPr>
          <p:cNvSpPr txBox="1"/>
          <p:nvPr/>
        </p:nvSpPr>
        <p:spPr>
          <a:xfrm>
            <a:off x="379276" y="230622"/>
            <a:ext cx="10568823" cy="43204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80" normalizeH="0" baseline="0" noProof="0" dirty="0">
                <a:ln>
                  <a:noFill/>
                </a:ln>
                <a:solidFill>
                  <a:srgbClr val="5F8FB3"/>
                </a:solidFill>
                <a:effectLst/>
                <a:uLnTx/>
                <a:uFillTx/>
                <a:ea typeface="Roboto" panose="02000000000000000000" pitchFamily="2" charset="0"/>
                <a:cs typeface="+mj-cs"/>
              </a:rPr>
              <a:t>Practical Command-line (CLI)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1BECEC-D311-868E-064F-915888FDAEF4}"/>
              </a:ext>
            </a:extLst>
          </p:cNvPr>
          <p:cNvSpPr txBox="1"/>
          <p:nvPr/>
        </p:nvSpPr>
        <p:spPr>
          <a:xfrm>
            <a:off x="375269" y="547645"/>
            <a:ext cx="12256998" cy="91307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lvl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4000" dirty="0">
                <a:solidFill>
                  <a:prstClr val="black"/>
                </a:solidFill>
              </a:rPr>
              <a:t>Quality/Contamination Assessment – </a:t>
            </a:r>
            <a:r>
              <a:rPr lang="en-US" sz="4000" dirty="0">
                <a:solidFill>
                  <a:schemeClr val="accent1">
                    <a:lumMod val="50000"/>
                  </a:schemeClr>
                </a:solidFill>
              </a:rPr>
              <a:t>checkm2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1E3A31-7927-6AC5-F871-451C79C1FEB1}"/>
              </a:ext>
            </a:extLst>
          </p:cNvPr>
          <p:cNvSpPr txBox="1"/>
          <p:nvPr/>
        </p:nvSpPr>
        <p:spPr>
          <a:xfrm>
            <a:off x="788118" y="2338439"/>
            <a:ext cx="8293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b="1" u="sng" dirty="0"/>
              <a:t>https://</a:t>
            </a:r>
            <a:r>
              <a:rPr lang="en-VN" b="1" u="sng" dirty="0">
                <a:solidFill>
                  <a:srgbClr val="FF0000"/>
                </a:solidFill>
              </a:rPr>
              <a:t>github.com</a:t>
            </a:r>
            <a:r>
              <a:rPr lang="en-VN" b="1" u="sng" dirty="0"/>
              <a:t>/chklovski/CheckM2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3E92610-C94B-2BC0-7C29-D243A74E2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868" y="1652512"/>
            <a:ext cx="4522250" cy="17411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92F050E-1A9C-96C2-4AF0-21D8A68A8548}"/>
              </a:ext>
            </a:extLst>
          </p:cNvPr>
          <p:cNvSpPr txBox="1"/>
          <p:nvPr/>
        </p:nvSpPr>
        <p:spPr>
          <a:xfrm>
            <a:off x="375269" y="3553360"/>
            <a:ext cx="12256998" cy="91307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4000" dirty="0">
                <a:solidFill>
                  <a:prstClr val="black"/>
                </a:solidFill>
              </a:rPr>
              <a:t>Gene Content </a:t>
            </a:r>
            <a:r>
              <a:rPr lang="en-US" sz="4000" dirty="0" err="1">
                <a:solidFill>
                  <a:prstClr val="black"/>
                </a:solidFill>
              </a:rPr>
              <a:t>Indentification</a:t>
            </a:r>
            <a:r>
              <a:rPr lang="en-US" sz="4000" dirty="0">
                <a:solidFill>
                  <a:prstClr val="black"/>
                </a:solidFill>
              </a:rPr>
              <a:t>– </a:t>
            </a:r>
            <a:r>
              <a:rPr lang="en-US" sz="4000" dirty="0" err="1">
                <a:solidFill>
                  <a:schemeClr val="accent1">
                    <a:lumMod val="50000"/>
                  </a:schemeClr>
                </a:solidFill>
              </a:rPr>
              <a:t>kleborate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3BFAA5-4C9E-7EA0-0FFA-B5257F8F52D0}"/>
              </a:ext>
            </a:extLst>
          </p:cNvPr>
          <p:cNvSpPr txBox="1"/>
          <p:nvPr/>
        </p:nvSpPr>
        <p:spPr>
          <a:xfrm>
            <a:off x="747750" y="5127353"/>
            <a:ext cx="8293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b="1" u="sng" dirty="0"/>
              <a:t>https://</a:t>
            </a:r>
            <a:r>
              <a:rPr lang="en-VN" b="1" u="sng" dirty="0">
                <a:solidFill>
                  <a:srgbClr val="FF0000"/>
                </a:solidFill>
              </a:rPr>
              <a:t>github.com</a:t>
            </a:r>
            <a:r>
              <a:rPr lang="en-VN" b="1" u="sng" dirty="0"/>
              <a:t>/klebgenomics/Kleborate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AF4BB39-BAC3-28BC-E5B9-A68EF32CF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868" y="4625722"/>
            <a:ext cx="4654109" cy="1726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639870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37FF8-7558-1393-B7BF-103BAF60F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9E2D1370-74B0-3E86-8DCB-86FBDD49F08B}"/>
              </a:ext>
            </a:extLst>
          </p:cNvPr>
          <p:cNvSpPr txBox="1"/>
          <p:nvPr/>
        </p:nvSpPr>
        <p:spPr>
          <a:xfrm>
            <a:off x="1261499" y="2368091"/>
            <a:ext cx="10930501" cy="91307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marL="571500" indent="-571500" algn="just">
              <a:lnSpc>
                <a:spcPct val="150000"/>
              </a:lnSpc>
              <a:spcBef>
                <a:spcPts val="600"/>
              </a:spcBef>
              <a:buFont typeface="+mj-lt"/>
              <a:buAutoNum type="romanUcPeriod" startAt="3"/>
              <a:defRPr/>
            </a:pPr>
            <a:r>
              <a:rPr lang="en-US" sz="4000" dirty="0">
                <a:solidFill>
                  <a:prstClr val="black"/>
                </a:solidFill>
              </a:rPr>
              <a:t>   Data Visualization and Manipulation</a:t>
            </a:r>
            <a:endParaRPr lang="en-US" sz="4000" spc="0" dirty="0"/>
          </a:p>
        </p:txBody>
      </p:sp>
      <p:sp>
        <p:nvSpPr>
          <p:cNvPr id="3" name="Footer Placeholder 65">
            <a:extLst>
              <a:ext uri="{FF2B5EF4-FFF2-40B4-BE49-F238E27FC236}">
                <a16:creationId xmlns:a16="http://schemas.microsoft.com/office/drawing/2014/main" id="{C95985FE-4B3C-D817-B734-8A1F210D7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709" y="6511538"/>
            <a:ext cx="2709396" cy="276999"/>
          </a:xfr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/>
              <a:t>Module 2.1: </a:t>
            </a:r>
            <a:r>
              <a:rPr lang="en-VN" dirty="0">
                <a:solidFill>
                  <a:schemeClr val="tx1"/>
                </a:solidFill>
              </a:rPr>
              <a:t>Post Assembly Profiling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2A590E-8CB1-7BBE-7E68-1B36E50DC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518" y="649287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F55963-6440-4C45-BA09-4E6A99D1BBE0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6193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06193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2A8E4A-9A4C-C4B6-E9A9-32D2287788B2}"/>
              </a:ext>
            </a:extLst>
          </p:cNvPr>
          <p:cNvSpPr txBox="1"/>
          <p:nvPr/>
        </p:nvSpPr>
        <p:spPr>
          <a:xfrm>
            <a:off x="3408587" y="3429000"/>
            <a:ext cx="6187146" cy="91307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just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4000" spc="0" dirty="0">
                <a:solidFill>
                  <a:schemeClr val="accent4">
                    <a:lumMod val="50000"/>
                  </a:schemeClr>
                </a:solidFill>
              </a:rPr>
              <a:t>Bandage / </a:t>
            </a:r>
            <a:r>
              <a:rPr lang="en-US" sz="4000" spc="0" dirty="0" err="1">
                <a:solidFill>
                  <a:schemeClr val="accent4">
                    <a:lumMod val="50000"/>
                  </a:schemeClr>
                </a:solidFill>
              </a:rPr>
              <a:t>BandageNG</a:t>
            </a:r>
            <a:endParaRPr lang="en-US" sz="4000" spc="0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611949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1E7">
            <a:alpha val="85098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487126-850C-1B0D-C84F-E07084E7D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A2E605-28A3-E51D-BACE-3327E350254E}"/>
              </a:ext>
            </a:extLst>
          </p:cNvPr>
          <p:cNvCxnSpPr>
            <a:cxnSpLocks/>
          </p:cNvCxnSpPr>
          <p:nvPr/>
        </p:nvCxnSpPr>
        <p:spPr>
          <a:xfrm>
            <a:off x="4170983" y="5786306"/>
            <a:ext cx="4043916" cy="0"/>
          </a:xfrm>
          <a:prstGeom prst="line">
            <a:avLst/>
          </a:prstGeom>
          <a:ln w="22225">
            <a:solidFill>
              <a:srgbClr val="081D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3">
            <a:extLst>
              <a:ext uri="{FF2B5EF4-FFF2-40B4-BE49-F238E27FC236}">
                <a16:creationId xmlns:a16="http://schemas.microsoft.com/office/drawing/2014/main" id="{BEE44996-8C64-8ABE-8B34-DC56E7654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101" y="754972"/>
            <a:ext cx="2496517" cy="6463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0" b="1" i="0" u="none" strike="noStrike" kern="1200" cap="none" spc="80" normalizeH="0" baseline="0" noProof="0" dirty="0">
                <a:ln>
                  <a:noFill/>
                </a:ln>
                <a:solidFill>
                  <a:srgbClr val="081D3E"/>
                </a:solidFill>
                <a:effectLst/>
                <a:uLnTx/>
                <a:uFillTx/>
                <a:latin typeface="Roboto" panose="02000000000000000000" pitchFamily="2" charset="0"/>
                <a:ea typeface="Roboto Black" panose="02000000000000000000" pitchFamily="2" charset="0"/>
                <a:cs typeface="+mn-cs"/>
              </a:rPr>
              <a:t>THE END.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F3DA4F55-8FAC-FC82-DABD-3B3882E02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8327" y="5890662"/>
            <a:ext cx="5609228" cy="4247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80" normalizeH="0" baseline="0" noProof="0" dirty="0">
                <a:ln>
                  <a:noFill/>
                </a:ln>
                <a:solidFill>
                  <a:srgbClr val="081D3E"/>
                </a:solidFill>
                <a:effectLst/>
                <a:uLnTx/>
                <a:uFillTx/>
                <a:latin typeface="Roboto" panose="02000000000000000000" pitchFamily="2" charset="0"/>
                <a:ea typeface="Roboto Black" panose="02000000000000000000" pitchFamily="2" charset="0"/>
                <a:cs typeface="Circular Spotify" panose="020B0604020101020102" pitchFamily="34" charset="-93"/>
              </a:rPr>
              <a:t>Module 2.1: Post Assembly Profiling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2CA470-061B-6D98-696F-DDDD7188BEC5}"/>
              </a:ext>
            </a:extLst>
          </p:cNvPr>
          <p:cNvSpPr txBox="1"/>
          <p:nvPr/>
        </p:nvSpPr>
        <p:spPr>
          <a:xfrm>
            <a:off x="3664690" y="1397054"/>
            <a:ext cx="49087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100" normalizeH="0" baseline="0" noProof="0" dirty="0">
                <a:ln>
                  <a:noFill/>
                </a:ln>
                <a:solidFill>
                  <a:srgbClr val="081D3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Courier New" panose="02070309020205020404" pitchFamily="49" charset="0"/>
              </a:rPr>
              <a:t>Thank you for your attention</a:t>
            </a:r>
          </a:p>
        </p:txBody>
      </p:sp>
      <p:pic>
        <p:nvPicPr>
          <p:cNvPr id="2" name="Picture 6" descr="Q&amp;A: Resolving family conflict – Focus on the Family Malaysia">
            <a:extLst>
              <a:ext uri="{FF2B5EF4-FFF2-40B4-BE49-F238E27FC236}">
                <a16:creationId xmlns:a16="http://schemas.microsoft.com/office/drawing/2014/main" id="{DC695D94-1C49-49C5-6646-45D034847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5ECE5"/>
              </a:clrFrom>
              <a:clrTo>
                <a:srgbClr val="F5ECE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4215" y="2028267"/>
            <a:ext cx="4435312" cy="2494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Google Shape;337;g252bd68d1d4_1_421">
            <a:extLst>
              <a:ext uri="{FF2B5EF4-FFF2-40B4-BE49-F238E27FC236}">
                <a16:creationId xmlns:a16="http://schemas.microsoft.com/office/drawing/2014/main" id="{DAE13CBF-AAA5-E002-D669-F6C648BEAA7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74133"/>
          <a:stretch/>
        </p:blipFill>
        <p:spPr>
          <a:xfrm flipH="1">
            <a:off x="3388327" y="4037699"/>
            <a:ext cx="5028698" cy="1300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logo with blue and green text&#10;&#10;AI-generated content may be incorrect.">
            <a:extLst>
              <a:ext uri="{FF2B5EF4-FFF2-40B4-BE49-F238E27FC236}">
                <a16:creationId xmlns:a16="http://schemas.microsoft.com/office/drawing/2014/main" id="{FEB8FDB1-4420-4864-9A7A-7DDEB4279A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400" y="480963"/>
            <a:ext cx="1711254" cy="916091"/>
          </a:xfrm>
          <a:prstGeom prst="rect">
            <a:avLst/>
          </a:prstGeom>
        </p:spPr>
      </p:pic>
      <p:pic>
        <p:nvPicPr>
          <p:cNvPr id="4" name="Picture 3" descr="A logo with colorful lines&#10;&#10;AI-generated content may be incorrect.">
            <a:extLst>
              <a:ext uri="{FF2B5EF4-FFF2-40B4-BE49-F238E27FC236}">
                <a16:creationId xmlns:a16="http://schemas.microsoft.com/office/drawing/2014/main" id="{57E81A19-43CE-CE60-A06F-3F519A7C11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3421" y="286282"/>
            <a:ext cx="1305449" cy="130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36684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95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heme/theme1.xml><?xml version="1.0" encoding="utf-8"?>
<a:theme xmlns:a="http://schemas.openxmlformats.org/drawingml/2006/main" name="4_Office Theme">
  <a:themeElements>
    <a:clrScheme name="9Slide - 2021">
      <a:dk1>
        <a:sysClr val="windowText" lastClr="000000"/>
      </a:dk1>
      <a:lt1>
        <a:sysClr val="window" lastClr="FFFFFF"/>
      </a:lt1>
      <a:dk2>
        <a:srgbClr val="092D6C"/>
      </a:dk2>
      <a:lt2>
        <a:srgbClr val="FCECD0"/>
      </a:lt2>
      <a:accent1>
        <a:srgbClr val="4FC1E9"/>
      </a:accent1>
      <a:accent2>
        <a:srgbClr val="48CFAD"/>
      </a:accent2>
      <a:accent3>
        <a:srgbClr val="A0D468"/>
      </a:accent3>
      <a:accent4>
        <a:srgbClr val="FFBD45"/>
      </a:accent4>
      <a:accent5>
        <a:srgbClr val="FC6E51"/>
      </a:accent5>
      <a:accent6>
        <a:srgbClr val="ED5565"/>
      </a:accent6>
      <a:hlink>
        <a:srgbClr val="5D9CEC"/>
      </a:hlink>
      <a:folHlink>
        <a:srgbClr val="AC92EC"/>
      </a:folHlink>
    </a:clrScheme>
    <a:fontScheme name="9Slide Fonts">
      <a:majorFont>
        <a:latin typeface="#9Slide02 Tieu de dai"/>
        <a:ea typeface=""/>
        <a:cs typeface=""/>
      </a:majorFont>
      <a:minorFont>
        <a:latin typeface="#9Slide02 Noi dung da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mtClean="0">
            <a:solidFill>
              <a:schemeClr val="tx1">
                <a:lumMod val="50000"/>
                <a:lumOff val="50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4C410E64-73D4-4894-A16A-B0A564A2C1B3}" vid="{BD11DD77-7AB8-40E7-98B4-F754939C4E0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9Slide.vn</Template>
  <TotalTime>6628</TotalTime>
  <Words>609</Words>
  <Application>Microsoft Macintosh PowerPoint</Application>
  <PresentationFormat>Widescreen</PresentationFormat>
  <Paragraphs>154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#9Slide02 Noi dung dai</vt:lpstr>
      <vt:lpstr>Arial</vt:lpstr>
      <vt:lpstr>Aptos Display</vt:lpstr>
      <vt:lpstr>Symbol</vt:lpstr>
      <vt:lpstr>Roboto</vt:lpstr>
      <vt:lpstr>Calibri</vt:lpstr>
      <vt:lpstr>Cambria Math</vt:lpstr>
      <vt:lpstr>Wingdings</vt:lpstr>
      <vt:lpstr>4_Office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9Slide.vn</Manager>
  <Company>9Slide.vn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9Slide.vn</dc:title>
  <dc:subject>9Slide.vn</dc:subject>
  <dc:creator>Quan Tonny</dc:creator>
  <dc:description>9Slide.vn</dc:description>
  <cp:lastModifiedBy>Quynh Nguyen</cp:lastModifiedBy>
  <cp:revision>15</cp:revision>
  <cp:lastPrinted>2024-07-17T06:18:20Z</cp:lastPrinted>
  <dcterms:created xsi:type="dcterms:W3CDTF">2024-07-01T08:20:17Z</dcterms:created>
  <dcterms:modified xsi:type="dcterms:W3CDTF">2026-05-10T19:08:10Z</dcterms:modified>
  <cp:category>9Slide.vn</cp:category>
</cp:coreProperties>
</file>