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#9Slide02 Noi dung dai"/>
        <a:ea typeface="#9Slide02 Noi dung dai"/>
        <a:cs typeface="#9Slide02 Noi dung dai"/>
        <a:sym typeface="#9Slide02 Noi dung da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#9Slide02 Noi dung dai"/>
        <a:ea typeface="#9Slide02 Noi dung dai"/>
        <a:cs typeface="#9Slide02 Noi dung dai"/>
        <a:sym typeface="#9Slide02 Noi dung da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#9Slide02 Noi dung dai"/>
        <a:ea typeface="#9Slide02 Noi dung dai"/>
        <a:cs typeface="#9Slide02 Noi dung dai"/>
        <a:sym typeface="#9Slide02 Noi dung da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#9Slide02 Noi dung dai"/>
        <a:ea typeface="#9Slide02 Noi dung dai"/>
        <a:cs typeface="#9Slide02 Noi dung dai"/>
        <a:sym typeface="#9Slide02 Noi dung da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#9Slide02 Noi dung dai"/>
        <a:ea typeface="#9Slide02 Noi dung dai"/>
        <a:cs typeface="#9Slide02 Noi dung dai"/>
        <a:sym typeface="#9Slide02 Noi dung da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#9Slide02 Noi dung dai"/>
        <a:ea typeface="#9Slide02 Noi dung dai"/>
        <a:cs typeface="#9Slide02 Noi dung dai"/>
        <a:sym typeface="#9Slide02 Noi dung da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#9Slide02 Noi dung dai"/>
        <a:ea typeface="#9Slide02 Noi dung dai"/>
        <a:cs typeface="#9Slide02 Noi dung dai"/>
        <a:sym typeface="#9Slide02 Noi dung da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#9Slide02 Noi dung dai"/>
        <a:ea typeface="#9Slide02 Noi dung dai"/>
        <a:cs typeface="#9Slide02 Noi dung dai"/>
        <a:sym typeface="#9Slide02 Noi dung da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#9Slide02 Noi dung dai"/>
        <a:ea typeface="#9Slide02 Noi dung dai"/>
        <a:cs typeface="#9Slide02 Noi dung dai"/>
        <a:sym typeface="#9Slide02 Noi dung da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9F6"/>
          </a:solidFill>
        </a:fill>
      </a:tcStyle>
    </a:wholeTbl>
    <a:band2H>
      <a:tcTxStyle/>
      <a:tcStyle>
        <a:tcBdr/>
        <a:fill>
          <a:solidFill>
            <a:srgbClr val="E8F4FB"/>
          </a:solidFill>
        </a:fill>
      </a:tcStyle>
    </a:band2H>
    <a:firstCol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FEFD2"/>
          </a:solidFill>
        </a:fill>
      </a:tcStyle>
    </a:wholeTbl>
    <a:band2H>
      <a:tcTxStyle/>
      <a:tcStyle>
        <a:tcBdr/>
        <a:fill>
          <a:solidFill>
            <a:srgbClr val="F0F7EA"/>
          </a:solidFill>
        </a:fill>
      </a:tcStyle>
    </a:band2H>
    <a:firstCol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D0D2"/>
          </a:solidFill>
        </a:fill>
      </a:tcStyle>
    </a:wholeTbl>
    <a:band2H>
      <a:tcTxStyle/>
      <a:tcStyle>
        <a:tcBdr/>
        <a:fill>
          <a:solidFill>
            <a:srgbClr val="FCE9EA"/>
          </a:solidFill>
        </a:fill>
      </a:tcStyle>
    </a:band2H>
    <a:firstCol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#9Slide02 Noi dung dai"/>
          <a:ea typeface="#9Slide02 Noi dung dai"/>
          <a:cs typeface="#9Slide02 Noi dung da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#9Slide02 Noi dung dai"/>
          <a:ea typeface="#9Slide02 Noi dung dai"/>
          <a:cs typeface="#9Slide02 Noi dung da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57"/>
  </p:normalViewPr>
  <p:slideViewPr>
    <p:cSldViewPr snapToGrid="0">
      <p:cViewPr varScale="1">
        <p:scale>
          <a:sx n="102" d="100"/>
          <a:sy n="102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 Display"/>
      </a:defRPr>
    </a:lvl1pPr>
    <a:lvl2pPr indent="228600" latinLnBrk="0">
      <a:defRPr sz="1200">
        <a:latin typeface="+mn-lt"/>
        <a:ea typeface="+mn-ea"/>
        <a:cs typeface="+mn-cs"/>
        <a:sym typeface="Aptos Display"/>
      </a:defRPr>
    </a:lvl2pPr>
    <a:lvl3pPr indent="457200" latinLnBrk="0">
      <a:defRPr sz="1200">
        <a:latin typeface="+mn-lt"/>
        <a:ea typeface="+mn-ea"/>
        <a:cs typeface="+mn-cs"/>
        <a:sym typeface="Aptos Display"/>
      </a:defRPr>
    </a:lvl3pPr>
    <a:lvl4pPr indent="685800" latinLnBrk="0">
      <a:defRPr sz="1200">
        <a:latin typeface="+mn-lt"/>
        <a:ea typeface="+mn-ea"/>
        <a:cs typeface="+mn-cs"/>
        <a:sym typeface="Aptos Display"/>
      </a:defRPr>
    </a:lvl4pPr>
    <a:lvl5pPr indent="914400" latinLnBrk="0">
      <a:defRPr sz="1200">
        <a:latin typeface="+mn-lt"/>
        <a:ea typeface="+mn-ea"/>
        <a:cs typeface="+mn-cs"/>
        <a:sym typeface="Aptos Display"/>
      </a:defRPr>
    </a:lvl5pPr>
    <a:lvl6pPr indent="1143000" latinLnBrk="0">
      <a:defRPr sz="1200">
        <a:latin typeface="+mn-lt"/>
        <a:ea typeface="+mn-ea"/>
        <a:cs typeface="+mn-cs"/>
        <a:sym typeface="Aptos Display"/>
      </a:defRPr>
    </a:lvl6pPr>
    <a:lvl7pPr indent="1371600" latinLnBrk="0">
      <a:defRPr sz="1200">
        <a:latin typeface="+mn-lt"/>
        <a:ea typeface="+mn-ea"/>
        <a:cs typeface="+mn-cs"/>
        <a:sym typeface="Aptos Display"/>
      </a:defRPr>
    </a:lvl7pPr>
    <a:lvl8pPr indent="1600200" latinLnBrk="0">
      <a:defRPr sz="1200">
        <a:latin typeface="+mn-lt"/>
        <a:ea typeface="+mn-ea"/>
        <a:cs typeface="+mn-cs"/>
        <a:sym typeface="Aptos Display"/>
      </a:defRPr>
    </a:lvl8pPr>
    <a:lvl9pPr indent="1828800" latinLnBrk="0">
      <a:defRPr sz="1200">
        <a:latin typeface="+mn-lt"/>
        <a:ea typeface="+mn-ea"/>
        <a:cs typeface="+mn-cs"/>
        <a:sym typeface="Aptos Display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448002" y="6404292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448002" y="6404292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40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448002" y="6404292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0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448002" y="6404292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448002" y="6404292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7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448002" y="6404292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448002" y="6404292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448002" y="6404292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lip Ar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448002" y="6404292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9Slide.vn - 2019"/>
          <p:cNvSpPr txBox="1"/>
          <p:nvPr/>
        </p:nvSpPr>
        <p:spPr>
          <a:xfrm>
            <a:off x="5123978" y="-1512333"/>
            <a:ext cx="1944044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 algn="ctr">
              <a:defRPr sz="2400">
                <a:solidFill>
                  <a:srgbClr val="CFCFCF"/>
                </a:solidFill>
              </a:defRPr>
            </a:lvl1pPr>
          </a:lstStyle>
          <a:p>
            <a:r>
              <a:t>www.9slide.vn</a:t>
            </a:r>
          </a:p>
        </p:txBody>
      </p:sp>
      <p:grpSp>
        <p:nvGrpSpPr>
          <p:cNvPr id="5" name="Group 10"/>
          <p:cNvGrpSpPr/>
          <p:nvPr/>
        </p:nvGrpSpPr>
        <p:grpSpPr>
          <a:xfrm>
            <a:off x="4851539" y="8494776"/>
            <a:ext cx="2488920" cy="565325"/>
            <a:chOff x="0" y="0"/>
            <a:chExt cx="2488919" cy="565324"/>
          </a:xfrm>
        </p:grpSpPr>
        <p:sp>
          <p:nvSpPr>
            <p:cNvPr id="3" name="Rectangle 11"/>
            <p:cNvSpPr/>
            <p:nvPr/>
          </p:nvSpPr>
          <p:spPr>
            <a:xfrm>
              <a:off x="0" y="0"/>
              <a:ext cx="2488920" cy="565325"/>
            </a:xfrm>
            <a:prstGeom prst="rect">
              <a:avLst/>
            </a:prstGeom>
            <a:noFill/>
            <a:ln w="21590" cap="flat">
              <a:solidFill>
                <a:srgbClr val="BFBFB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latin typeface="Roboto"/>
                  <a:ea typeface="Roboto"/>
                  <a:cs typeface="Roboto"/>
                  <a:sym typeface="Roboto"/>
                </a:defRPr>
              </a:pPr>
              <a:endParaRPr/>
            </a:p>
          </p:txBody>
        </p:sp>
        <p:sp>
          <p:nvSpPr>
            <p:cNvPr id="4" name="TextBox 12"/>
            <p:cNvSpPr/>
            <p:nvPr/>
          </p:nvSpPr>
          <p:spPr>
            <a:xfrm>
              <a:off x="155448" y="152400"/>
              <a:ext cx="2178025" cy="260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927" y="18421"/>
                  </a:moveTo>
                  <a:cubicBezTo>
                    <a:pt x="17990" y="18421"/>
                    <a:pt x="18038" y="18569"/>
                    <a:pt x="18071" y="18865"/>
                  </a:cubicBezTo>
                  <a:cubicBezTo>
                    <a:pt x="18103" y="19161"/>
                    <a:pt x="18119" y="19532"/>
                    <a:pt x="18119" y="19976"/>
                  </a:cubicBezTo>
                  <a:cubicBezTo>
                    <a:pt x="18119" y="20402"/>
                    <a:pt x="18103" y="20758"/>
                    <a:pt x="18071" y="21045"/>
                  </a:cubicBezTo>
                  <a:cubicBezTo>
                    <a:pt x="18038" y="21332"/>
                    <a:pt x="17990" y="21475"/>
                    <a:pt x="17927" y="21475"/>
                  </a:cubicBezTo>
                  <a:cubicBezTo>
                    <a:pt x="17864" y="21475"/>
                    <a:pt x="17816" y="21332"/>
                    <a:pt x="17785" y="21045"/>
                  </a:cubicBezTo>
                  <a:cubicBezTo>
                    <a:pt x="17753" y="20758"/>
                    <a:pt x="17738" y="20402"/>
                    <a:pt x="17738" y="19976"/>
                  </a:cubicBezTo>
                  <a:cubicBezTo>
                    <a:pt x="17738" y="19532"/>
                    <a:pt x="17753" y="19161"/>
                    <a:pt x="17785" y="18865"/>
                  </a:cubicBezTo>
                  <a:cubicBezTo>
                    <a:pt x="17816" y="18569"/>
                    <a:pt x="17864" y="18421"/>
                    <a:pt x="17927" y="18421"/>
                  </a:cubicBezTo>
                  <a:close/>
                  <a:moveTo>
                    <a:pt x="8008" y="18421"/>
                  </a:moveTo>
                  <a:cubicBezTo>
                    <a:pt x="8071" y="18421"/>
                    <a:pt x="8119" y="18569"/>
                    <a:pt x="8152" y="18865"/>
                  </a:cubicBezTo>
                  <a:cubicBezTo>
                    <a:pt x="8185" y="19161"/>
                    <a:pt x="8201" y="19532"/>
                    <a:pt x="8201" y="19976"/>
                  </a:cubicBezTo>
                  <a:cubicBezTo>
                    <a:pt x="8201" y="20402"/>
                    <a:pt x="8185" y="20758"/>
                    <a:pt x="8152" y="21045"/>
                  </a:cubicBezTo>
                  <a:cubicBezTo>
                    <a:pt x="8119" y="21332"/>
                    <a:pt x="8071" y="21475"/>
                    <a:pt x="8008" y="21475"/>
                  </a:cubicBezTo>
                  <a:cubicBezTo>
                    <a:pt x="7945" y="21475"/>
                    <a:pt x="7898" y="21332"/>
                    <a:pt x="7866" y="21045"/>
                  </a:cubicBezTo>
                  <a:cubicBezTo>
                    <a:pt x="7835" y="20758"/>
                    <a:pt x="7819" y="20402"/>
                    <a:pt x="7819" y="19976"/>
                  </a:cubicBezTo>
                  <a:cubicBezTo>
                    <a:pt x="7819" y="19532"/>
                    <a:pt x="7835" y="19161"/>
                    <a:pt x="7866" y="18865"/>
                  </a:cubicBezTo>
                  <a:cubicBezTo>
                    <a:pt x="7898" y="18569"/>
                    <a:pt x="7945" y="18421"/>
                    <a:pt x="8008" y="18421"/>
                  </a:cubicBezTo>
                  <a:close/>
                  <a:moveTo>
                    <a:pt x="14758" y="8204"/>
                  </a:moveTo>
                  <a:cubicBezTo>
                    <a:pt x="14607" y="8204"/>
                    <a:pt x="14490" y="8690"/>
                    <a:pt x="14406" y="9662"/>
                  </a:cubicBezTo>
                  <a:cubicBezTo>
                    <a:pt x="14321" y="10633"/>
                    <a:pt x="14279" y="12073"/>
                    <a:pt x="14279" y="13979"/>
                  </a:cubicBezTo>
                  <a:cubicBezTo>
                    <a:pt x="14279" y="15682"/>
                    <a:pt x="14321" y="17014"/>
                    <a:pt x="14406" y="17977"/>
                  </a:cubicBezTo>
                  <a:cubicBezTo>
                    <a:pt x="14490" y="18939"/>
                    <a:pt x="14606" y="19421"/>
                    <a:pt x="14754" y="19421"/>
                  </a:cubicBezTo>
                  <a:cubicBezTo>
                    <a:pt x="14949" y="19421"/>
                    <a:pt x="15091" y="18689"/>
                    <a:pt x="15181" y="17227"/>
                  </a:cubicBezTo>
                  <a:lnTo>
                    <a:pt x="15181" y="10328"/>
                  </a:lnTo>
                  <a:cubicBezTo>
                    <a:pt x="15089" y="8912"/>
                    <a:pt x="14948" y="8204"/>
                    <a:pt x="14758" y="8204"/>
                  </a:cubicBezTo>
                  <a:close/>
                  <a:moveTo>
                    <a:pt x="16644" y="8135"/>
                  </a:moveTo>
                  <a:cubicBezTo>
                    <a:pt x="16520" y="8135"/>
                    <a:pt x="16415" y="8512"/>
                    <a:pt x="16331" y="9266"/>
                  </a:cubicBezTo>
                  <a:cubicBezTo>
                    <a:pt x="16247" y="10020"/>
                    <a:pt x="16195" y="11078"/>
                    <a:pt x="16175" y="12438"/>
                  </a:cubicBezTo>
                  <a:lnTo>
                    <a:pt x="17075" y="12438"/>
                  </a:lnTo>
                  <a:lnTo>
                    <a:pt x="17075" y="12244"/>
                  </a:lnTo>
                  <a:cubicBezTo>
                    <a:pt x="17066" y="10939"/>
                    <a:pt x="17024" y="9928"/>
                    <a:pt x="16949" y="9211"/>
                  </a:cubicBezTo>
                  <a:cubicBezTo>
                    <a:pt x="16874" y="8493"/>
                    <a:pt x="16772" y="8135"/>
                    <a:pt x="16644" y="8135"/>
                  </a:cubicBezTo>
                  <a:close/>
                  <a:moveTo>
                    <a:pt x="18403" y="6302"/>
                  </a:moveTo>
                  <a:lnTo>
                    <a:pt x="18717" y="6302"/>
                  </a:lnTo>
                  <a:lnTo>
                    <a:pt x="19174" y="17838"/>
                  </a:lnTo>
                  <a:lnTo>
                    <a:pt x="19619" y="6302"/>
                  </a:lnTo>
                  <a:lnTo>
                    <a:pt x="19933" y="6302"/>
                  </a:lnTo>
                  <a:lnTo>
                    <a:pt x="19288" y="21322"/>
                  </a:lnTo>
                  <a:lnTo>
                    <a:pt x="19054" y="21322"/>
                  </a:lnTo>
                  <a:close/>
                  <a:moveTo>
                    <a:pt x="13223" y="6302"/>
                  </a:moveTo>
                  <a:lnTo>
                    <a:pt x="13531" y="6302"/>
                  </a:lnTo>
                  <a:lnTo>
                    <a:pt x="13531" y="21322"/>
                  </a:lnTo>
                  <a:lnTo>
                    <a:pt x="13223" y="21322"/>
                  </a:lnTo>
                  <a:close/>
                  <a:moveTo>
                    <a:pt x="5101" y="6302"/>
                  </a:moveTo>
                  <a:lnTo>
                    <a:pt x="5406" y="6302"/>
                  </a:lnTo>
                  <a:lnTo>
                    <a:pt x="5760" y="17547"/>
                  </a:lnTo>
                  <a:lnTo>
                    <a:pt x="6179" y="6302"/>
                  </a:lnTo>
                  <a:lnTo>
                    <a:pt x="6426" y="6302"/>
                  </a:lnTo>
                  <a:lnTo>
                    <a:pt x="6853" y="17783"/>
                  </a:lnTo>
                  <a:lnTo>
                    <a:pt x="7198" y="6302"/>
                  </a:lnTo>
                  <a:lnTo>
                    <a:pt x="7505" y="6302"/>
                  </a:lnTo>
                  <a:lnTo>
                    <a:pt x="6982" y="21322"/>
                  </a:lnTo>
                  <a:lnTo>
                    <a:pt x="6733" y="21322"/>
                  </a:lnTo>
                  <a:lnTo>
                    <a:pt x="6296" y="9939"/>
                  </a:lnTo>
                  <a:lnTo>
                    <a:pt x="5871" y="21322"/>
                  </a:lnTo>
                  <a:lnTo>
                    <a:pt x="5622" y="21322"/>
                  </a:lnTo>
                  <a:close/>
                  <a:moveTo>
                    <a:pt x="2550" y="6302"/>
                  </a:moveTo>
                  <a:lnTo>
                    <a:pt x="2856" y="6302"/>
                  </a:lnTo>
                  <a:lnTo>
                    <a:pt x="3210" y="17547"/>
                  </a:lnTo>
                  <a:lnTo>
                    <a:pt x="3628" y="6302"/>
                  </a:lnTo>
                  <a:lnTo>
                    <a:pt x="3876" y="6302"/>
                  </a:lnTo>
                  <a:lnTo>
                    <a:pt x="4302" y="17783"/>
                  </a:lnTo>
                  <a:lnTo>
                    <a:pt x="4648" y="6302"/>
                  </a:lnTo>
                  <a:lnTo>
                    <a:pt x="4955" y="6302"/>
                  </a:lnTo>
                  <a:lnTo>
                    <a:pt x="4432" y="21322"/>
                  </a:lnTo>
                  <a:lnTo>
                    <a:pt x="4183" y="21322"/>
                  </a:lnTo>
                  <a:lnTo>
                    <a:pt x="3746" y="9939"/>
                  </a:lnTo>
                  <a:lnTo>
                    <a:pt x="3321" y="21322"/>
                  </a:lnTo>
                  <a:lnTo>
                    <a:pt x="3072" y="21322"/>
                  </a:lnTo>
                  <a:close/>
                  <a:moveTo>
                    <a:pt x="0" y="6302"/>
                  </a:moveTo>
                  <a:lnTo>
                    <a:pt x="306" y="6302"/>
                  </a:lnTo>
                  <a:lnTo>
                    <a:pt x="659" y="17547"/>
                  </a:lnTo>
                  <a:lnTo>
                    <a:pt x="1078" y="6302"/>
                  </a:lnTo>
                  <a:lnTo>
                    <a:pt x="1325" y="6302"/>
                  </a:lnTo>
                  <a:lnTo>
                    <a:pt x="1752" y="17783"/>
                  </a:lnTo>
                  <a:lnTo>
                    <a:pt x="2097" y="6302"/>
                  </a:lnTo>
                  <a:lnTo>
                    <a:pt x="2404" y="6302"/>
                  </a:lnTo>
                  <a:lnTo>
                    <a:pt x="1881" y="21322"/>
                  </a:lnTo>
                  <a:lnTo>
                    <a:pt x="1632" y="21322"/>
                  </a:lnTo>
                  <a:lnTo>
                    <a:pt x="1196" y="9939"/>
                  </a:lnTo>
                  <a:lnTo>
                    <a:pt x="770" y="21322"/>
                  </a:lnTo>
                  <a:lnTo>
                    <a:pt x="521" y="21322"/>
                  </a:lnTo>
                  <a:close/>
                  <a:moveTo>
                    <a:pt x="21025" y="6025"/>
                  </a:moveTo>
                  <a:cubicBezTo>
                    <a:pt x="21405" y="6025"/>
                    <a:pt x="21597" y="7815"/>
                    <a:pt x="21600" y="11397"/>
                  </a:cubicBezTo>
                  <a:lnTo>
                    <a:pt x="21600" y="21322"/>
                  </a:lnTo>
                  <a:lnTo>
                    <a:pt x="21293" y="21322"/>
                  </a:lnTo>
                  <a:lnTo>
                    <a:pt x="21293" y="11383"/>
                  </a:lnTo>
                  <a:cubicBezTo>
                    <a:pt x="21292" y="10300"/>
                    <a:pt x="21262" y="9500"/>
                    <a:pt x="21204" y="8981"/>
                  </a:cubicBezTo>
                  <a:cubicBezTo>
                    <a:pt x="21146" y="8463"/>
                    <a:pt x="21055" y="8204"/>
                    <a:pt x="20932" y="8204"/>
                  </a:cubicBezTo>
                  <a:cubicBezTo>
                    <a:pt x="20833" y="8204"/>
                    <a:pt x="20745" y="8426"/>
                    <a:pt x="20670" y="8870"/>
                  </a:cubicBezTo>
                  <a:cubicBezTo>
                    <a:pt x="20595" y="9315"/>
                    <a:pt x="20536" y="9898"/>
                    <a:pt x="20494" y="10620"/>
                  </a:cubicBezTo>
                  <a:lnTo>
                    <a:pt x="20494" y="21322"/>
                  </a:lnTo>
                  <a:lnTo>
                    <a:pt x="20187" y="21322"/>
                  </a:lnTo>
                  <a:lnTo>
                    <a:pt x="20187" y="6302"/>
                  </a:lnTo>
                  <a:lnTo>
                    <a:pt x="20478" y="6302"/>
                  </a:lnTo>
                  <a:lnTo>
                    <a:pt x="20487" y="8190"/>
                  </a:lnTo>
                  <a:cubicBezTo>
                    <a:pt x="20625" y="6747"/>
                    <a:pt x="20804" y="6025"/>
                    <a:pt x="21025" y="6025"/>
                  </a:cubicBezTo>
                  <a:close/>
                  <a:moveTo>
                    <a:pt x="16644" y="6025"/>
                  </a:moveTo>
                  <a:cubicBezTo>
                    <a:pt x="16877" y="6025"/>
                    <a:pt x="17059" y="6668"/>
                    <a:pt x="17188" y="7954"/>
                  </a:cubicBezTo>
                  <a:cubicBezTo>
                    <a:pt x="17318" y="9241"/>
                    <a:pt x="17382" y="11082"/>
                    <a:pt x="17382" y="13479"/>
                  </a:cubicBezTo>
                  <a:lnTo>
                    <a:pt x="17382" y="14548"/>
                  </a:lnTo>
                  <a:lnTo>
                    <a:pt x="16165" y="14548"/>
                  </a:lnTo>
                  <a:cubicBezTo>
                    <a:pt x="16170" y="16029"/>
                    <a:pt x="16221" y="17225"/>
                    <a:pt x="16321" y="18136"/>
                  </a:cubicBezTo>
                  <a:cubicBezTo>
                    <a:pt x="16420" y="19048"/>
                    <a:pt x="16546" y="19504"/>
                    <a:pt x="16698" y="19504"/>
                  </a:cubicBezTo>
                  <a:cubicBezTo>
                    <a:pt x="16807" y="19504"/>
                    <a:pt x="16899" y="19319"/>
                    <a:pt x="16974" y="18949"/>
                  </a:cubicBezTo>
                  <a:cubicBezTo>
                    <a:pt x="17049" y="18578"/>
                    <a:pt x="17115" y="18088"/>
                    <a:pt x="17172" y="17477"/>
                  </a:cubicBezTo>
                  <a:lnTo>
                    <a:pt x="17359" y="18699"/>
                  </a:lnTo>
                  <a:cubicBezTo>
                    <a:pt x="17209" y="20633"/>
                    <a:pt x="16983" y="21600"/>
                    <a:pt x="16682" y="21600"/>
                  </a:cubicBezTo>
                  <a:cubicBezTo>
                    <a:pt x="16438" y="21600"/>
                    <a:pt x="16240" y="20931"/>
                    <a:pt x="16087" y="19594"/>
                  </a:cubicBezTo>
                  <a:cubicBezTo>
                    <a:pt x="15935" y="18257"/>
                    <a:pt x="15858" y="16468"/>
                    <a:pt x="15858" y="14229"/>
                  </a:cubicBezTo>
                  <a:lnTo>
                    <a:pt x="15858" y="13757"/>
                  </a:lnTo>
                  <a:cubicBezTo>
                    <a:pt x="15858" y="12267"/>
                    <a:pt x="15892" y="10936"/>
                    <a:pt x="15960" y="9766"/>
                  </a:cubicBezTo>
                  <a:cubicBezTo>
                    <a:pt x="16028" y="8595"/>
                    <a:pt x="16124" y="7679"/>
                    <a:pt x="16246" y="7017"/>
                  </a:cubicBezTo>
                  <a:cubicBezTo>
                    <a:pt x="16368" y="6356"/>
                    <a:pt x="16501" y="6025"/>
                    <a:pt x="16644" y="6025"/>
                  </a:cubicBezTo>
                  <a:close/>
                  <a:moveTo>
                    <a:pt x="11203" y="6025"/>
                  </a:moveTo>
                  <a:cubicBezTo>
                    <a:pt x="11406" y="6025"/>
                    <a:pt x="11572" y="6464"/>
                    <a:pt x="11698" y="7343"/>
                  </a:cubicBezTo>
                  <a:cubicBezTo>
                    <a:pt x="11825" y="8223"/>
                    <a:pt x="11889" y="9347"/>
                    <a:pt x="11889" y="10717"/>
                  </a:cubicBezTo>
                  <a:lnTo>
                    <a:pt x="11580" y="10717"/>
                  </a:lnTo>
                  <a:cubicBezTo>
                    <a:pt x="11580" y="10013"/>
                    <a:pt x="11544" y="9407"/>
                    <a:pt x="11473" y="8898"/>
                  </a:cubicBezTo>
                  <a:cubicBezTo>
                    <a:pt x="11401" y="8389"/>
                    <a:pt x="11311" y="8135"/>
                    <a:pt x="11203" y="8135"/>
                  </a:cubicBezTo>
                  <a:cubicBezTo>
                    <a:pt x="11091" y="8135"/>
                    <a:pt x="11003" y="8338"/>
                    <a:pt x="10940" y="8745"/>
                  </a:cubicBezTo>
                  <a:cubicBezTo>
                    <a:pt x="10877" y="9153"/>
                    <a:pt x="10846" y="9685"/>
                    <a:pt x="10846" y="10342"/>
                  </a:cubicBezTo>
                  <a:cubicBezTo>
                    <a:pt x="10846" y="10962"/>
                    <a:pt x="10875" y="11429"/>
                    <a:pt x="10934" y="11744"/>
                  </a:cubicBezTo>
                  <a:cubicBezTo>
                    <a:pt x="10992" y="12059"/>
                    <a:pt x="11098" y="12359"/>
                    <a:pt x="11252" y="12646"/>
                  </a:cubicBezTo>
                  <a:cubicBezTo>
                    <a:pt x="11405" y="12933"/>
                    <a:pt x="11529" y="13276"/>
                    <a:pt x="11625" y="13673"/>
                  </a:cubicBezTo>
                  <a:cubicBezTo>
                    <a:pt x="11720" y="14071"/>
                    <a:pt x="11790" y="14550"/>
                    <a:pt x="11836" y="15110"/>
                  </a:cubicBezTo>
                  <a:cubicBezTo>
                    <a:pt x="11882" y="15670"/>
                    <a:pt x="11905" y="16353"/>
                    <a:pt x="11905" y="17158"/>
                  </a:cubicBezTo>
                  <a:cubicBezTo>
                    <a:pt x="11905" y="18500"/>
                    <a:pt x="11841" y="19576"/>
                    <a:pt x="11713" y="20385"/>
                  </a:cubicBezTo>
                  <a:cubicBezTo>
                    <a:pt x="11584" y="21195"/>
                    <a:pt x="11418" y="21600"/>
                    <a:pt x="11213" y="21600"/>
                  </a:cubicBezTo>
                  <a:cubicBezTo>
                    <a:pt x="11069" y="21600"/>
                    <a:pt x="10942" y="21387"/>
                    <a:pt x="10831" y="20961"/>
                  </a:cubicBezTo>
                  <a:cubicBezTo>
                    <a:pt x="10720" y="20536"/>
                    <a:pt x="10633" y="19941"/>
                    <a:pt x="10571" y="19178"/>
                  </a:cubicBezTo>
                  <a:cubicBezTo>
                    <a:pt x="10508" y="18414"/>
                    <a:pt x="10477" y="17588"/>
                    <a:pt x="10477" y="16700"/>
                  </a:cubicBezTo>
                  <a:lnTo>
                    <a:pt x="10784" y="16700"/>
                  </a:lnTo>
                  <a:cubicBezTo>
                    <a:pt x="10790" y="17560"/>
                    <a:pt x="10831" y="18243"/>
                    <a:pt x="10908" y="18747"/>
                  </a:cubicBezTo>
                  <a:cubicBezTo>
                    <a:pt x="10985" y="19252"/>
                    <a:pt x="11087" y="19504"/>
                    <a:pt x="11213" y="19504"/>
                  </a:cubicBezTo>
                  <a:cubicBezTo>
                    <a:pt x="11329" y="19504"/>
                    <a:pt x="11422" y="19307"/>
                    <a:pt x="11493" y="18914"/>
                  </a:cubicBezTo>
                  <a:cubicBezTo>
                    <a:pt x="11563" y="18521"/>
                    <a:pt x="11598" y="17995"/>
                    <a:pt x="11598" y="17338"/>
                  </a:cubicBezTo>
                  <a:cubicBezTo>
                    <a:pt x="11598" y="16644"/>
                    <a:pt x="11567" y="16105"/>
                    <a:pt x="11504" y="15721"/>
                  </a:cubicBezTo>
                  <a:cubicBezTo>
                    <a:pt x="11442" y="15337"/>
                    <a:pt x="11333" y="15006"/>
                    <a:pt x="11177" y="14729"/>
                  </a:cubicBezTo>
                  <a:cubicBezTo>
                    <a:pt x="11021" y="14451"/>
                    <a:pt x="10898" y="14118"/>
                    <a:pt x="10807" y="13729"/>
                  </a:cubicBezTo>
                  <a:cubicBezTo>
                    <a:pt x="10715" y="13340"/>
                    <a:pt x="10648" y="12878"/>
                    <a:pt x="10604" y="12341"/>
                  </a:cubicBezTo>
                  <a:cubicBezTo>
                    <a:pt x="10560" y="11804"/>
                    <a:pt x="10539" y="11166"/>
                    <a:pt x="10539" y="10425"/>
                  </a:cubicBezTo>
                  <a:cubicBezTo>
                    <a:pt x="10539" y="9194"/>
                    <a:pt x="10601" y="8153"/>
                    <a:pt x="10725" y="7302"/>
                  </a:cubicBezTo>
                  <a:cubicBezTo>
                    <a:pt x="10850" y="6450"/>
                    <a:pt x="11009" y="6025"/>
                    <a:pt x="11203" y="6025"/>
                  </a:cubicBezTo>
                  <a:close/>
                  <a:moveTo>
                    <a:pt x="9347" y="2971"/>
                  </a:moveTo>
                  <a:cubicBezTo>
                    <a:pt x="9212" y="2971"/>
                    <a:pt x="9103" y="3403"/>
                    <a:pt x="9021" y="4269"/>
                  </a:cubicBezTo>
                  <a:cubicBezTo>
                    <a:pt x="8939" y="5134"/>
                    <a:pt x="8898" y="6275"/>
                    <a:pt x="8898" y="7690"/>
                  </a:cubicBezTo>
                  <a:cubicBezTo>
                    <a:pt x="8898" y="9069"/>
                    <a:pt x="8938" y="10205"/>
                    <a:pt x="9017" y="11098"/>
                  </a:cubicBezTo>
                  <a:cubicBezTo>
                    <a:pt x="9096" y="11991"/>
                    <a:pt x="9202" y="12438"/>
                    <a:pt x="9335" y="12438"/>
                  </a:cubicBezTo>
                  <a:cubicBezTo>
                    <a:pt x="9438" y="12438"/>
                    <a:pt x="9533" y="12174"/>
                    <a:pt x="9620" y="11647"/>
                  </a:cubicBezTo>
                  <a:cubicBezTo>
                    <a:pt x="9707" y="11119"/>
                    <a:pt x="9770" y="10467"/>
                    <a:pt x="9810" y="9689"/>
                  </a:cubicBezTo>
                  <a:lnTo>
                    <a:pt x="9810" y="8662"/>
                  </a:lnTo>
                  <a:cubicBezTo>
                    <a:pt x="9810" y="6978"/>
                    <a:pt x="9766" y="5608"/>
                    <a:pt x="9679" y="4553"/>
                  </a:cubicBezTo>
                  <a:cubicBezTo>
                    <a:pt x="9591" y="3498"/>
                    <a:pt x="9481" y="2971"/>
                    <a:pt x="9347" y="2971"/>
                  </a:cubicBezTo>
                  <a:close/>
                  <a:moveTo>
                    <a:pt x="13379" y="833"/>
                  </a:moveTo>
                  <a:cubicBezTo>
                    <a:pt x="13439" y="833"/>
                    <a:pt x="13485" y="976"/>
                    <a:pt x="13516" y="1263"/>
                  </a:cubicBezTo>
                  <a:cubicBezTo>
                    <a:pt x="13547" y="1550"/>
                    <a:pt x="13562" y="1902"/>
                    <a:pt x="13562" y="2318"/>
                  </a:cubicBezTo>
                  <a:cubicBezTo>
                    <a:pt x="13562" y="2735"/>
                    <a:pt x="13547" y="3082"/>
                    <a:pt x="13516" y="3359"/>
                  </a:cubicBezTo>
                  <a:cubicBezTo>
                    <a:pt x="13485" y="3637"/>
                    <a:pt x="13439" y="3776"/>
                    <a:pt x="13379" y="3776"/>
                  </a:cubicBezTo>
                  <a:cubicBezTo>
                    <a:pt x="13320" y="3776"/>
                    <a:pt x="13275" y="3637"/>
                    <a:pt x="13244" y="3359"/>
                  </a:cubicBezTo>
                  <a:cubicBezTo>
                    <a:pt x="13214" y="3082"/>
                    <a:pt x="13198" y="2735"/>
                    <a:pt x="13198" y="2318"/>
                  </a:cubicBezTo>
                  <a:cubicBezTo>
                    <a:pt x="13198" y="1902"/>
                    <a:pt x="13214" y="1550"/>
                    <a:pt x="13244" y="1263"/>
                  </a:cubicBezTo>
                  <a:cubicBezTo>
                    <a:pt x="13275" y="976"/>
                    <a:pt x="13320" y="833"/>
                    <a:pt x="13379" y="833"/>
                  </a:cubicBezTo>
                  <a:close/>
                  <a:moveTo>
                    <a:pt x="9345" y="833"/>
                  </a:moveTo>
                  <a:cubicBezTo>
                    <a:pt x="9584" y="833"/>
                    <a:pt x="9773" y="1580"/>
                    <a:pt x="9910" y="3075"/>
                  </a:cubicBezTo>
                  <a:cubicBezTo>
                    <a:pt x="10048" y="4569"/>
                    <a:pt x="10117" y="6608"/>
                    <a:pt x="10117" y="9190"/>
                  </a:cubicBezTo>
                  <a:lnTo>
                    <a:pt x="10117" y="9939"/>
                  </a:lnTo>
                  <a:cubicBezTo>
                    <a:pt x="10117" y="13872"/>
                    <a:pt x="10024" y="16744"/>
                    <a:pt x="9838" y="18553"/>
                  </a:cubicBezTo>
                  <a:cubicBezTo>
                    <a:pt x="9652" y="20362"/>
                    <a:pt x="9372" y="21290"/>
                    <a:pt x="8996" y="21336"/>
                  </a:cubicBezTo>
                  <a:lnTo>
                    <a:pt x="8937" y="21336"/>
                  </a:lnTo>
                  <a:lnTo>
                    <a:pt x="8937" y="19157"/>
                  </a:lnTo>
                  <a:lnTo>
                    <a:pt x="9001" y="19157"/>
                  </a:lnTo>
                  <a:cubicBezTo>
                    <a:pt x="9255" y="19120"/>
                    <a:pt x="9450" y="18568"/>
                    <a:pt x="9586" y="17501"/>
                  </a:cubicBezTo>
                  <a:cubicBezTo>
                    <a:pt x="9722" y="16435"/>
                    <a:pt x="9796" y="14747"/>
                    <a:pt x="9808" y="12438"/>
                  </a:cubicBezTo>
                  <a:cubicBezTo>
                    <a:pt x="9744" y="13077"/>
                    <a:pt x="9667" y="13590"/>
                    <a:pt x="9578" y="13979"/>
                  </a:cubicBezTo>
                  <a:cubicBezTo>
                    <a:pt x="9489" y="14368"/>
                    <a:pt x="9392" y="14562"/>
                    <a:pt x="9285" y="14562"/>
                  </a:cubicBezTo>
                  <a:cubicBezTo>
                    <a:pt x="9146" y="14562"/>
                    <a:pt x="9024" y="14275"/>
                    <a:pt x="8921" y="13701"/>
                  </a:cubicBezTo>
                  <a:cubicBezTo>
                    <a:pt x="8817" y="13128"/>
                    <a:pt x="8737" y="12320"/>
                    <a:pt x="8681" y="11279"/>
                  </a:cubicBezTo>
                  <a:cubicBezTo>
                    <a:pt x="8624" y="10238"/>
                    <a:pt x="8596" y="9088"/>
                    <a:pt x="8596" y="7829"/>
                  </a:cubicBezTo>
                  <a:cubicBezTo>
                    <a:pt x="8596" y="6478"/>
                    <a:pt x="8627" y="5261"/>
                    <a:pt x="8688" y="4178"/>
                  </a:cubicBezTo>
                  <a:cubicBezTo>
                    <a:pt x="8750" y="3096"/>
                    <a:pt x="8837" y="2267"/>
                    <a:pt x="8950" y="1694"/>
                  </a:cubicBezTo>
                  <a:cubicBezTo>
                    <a:pt x="9063" y="1120"/>
                    <a:pt x="9195" y="833"/>
                    <a:pt x="9345" y="833"/>
                  </a:cubicBezTo>
                  <a:close/>
                  <a:moveTo>
                    <a:pt x="15181" y="0"/>
                  </a:moveTo>
                  <a:lnTo>
                    <a:pt x="15488" y="0"/>
                  </a:lnTo>
                  <a:lnTo>
                    <a:pt x="15488" y="21322"/>
                  </a:lnTo>
                  <a:lnTo>
                    <a:pt x="15206" y="21322"/>
                  </a:lnTo>
                  <a:lnTo>
                    <a:pt x="15191" y="19712"/>
                  </a:lnTo>
                  <a:cubicBezTo>
                    <a:pt x="15068" y="20971"/>
                    <a:pt x="14897" y="21600"/>
                    <a:pt x="14678" y="21600"/>
                  </a:cubicBezTo>
                  <a:cubicBezTo>
                    <a:pt x="14470" y="21600"/>
                    <a:pt x="14300" y="20887"/>
                    <a:pt x="14169" y="19462"/>
                  </a:cubicBezTo>
                  <a:cubicBezTo>
                    <a:pt x="14038" y="18037"/>
                    <a:pt x="13972" y="16177"/>
                    <a:pt x="13972" y="13882"/>
                  </a:cubicBezTo>
                  <a:lnTo>
                    <a:pt x="13972" y="13687"/>
                  </a:lnTo>
                  <a:cubicBezTo>
                    <a:pt x="13972" y="11383"/>
                    <a:pt x="14038" y="9530"/>
                    <a:pt x="14168" y="8128"/>
                  </a:cubicBezTo>
                  <a:cubicBezTo>
                    <a:pt x="14299" y="6726"/>
                    <a:pt x="14470" y="6025"/>
                    <a:pt x="14681" y="6025"/>
                  </a:cubicBezTo>
                  <a:cubicBezTo>
                    <a:pt x="14892" y="6025"/>
                    <a:pt x="15058" y="6626"/>
                    <a:pt x="15181" y="7829"/>
                  </a:cubicBezTo>
                  <a:close/>
                  <a:moveTo>
                    <a:pt x="12373" y="0"/>
                  </a:moveTo>
                  <a:lnTo>
                    <a:pt x="12680" y="0"/>
                  </a:lnTo>
                  <a:lnTo>
                    <a:pt x="12680" y="21322"/>
                  </a:lnTo>
                  <a:lnTo>
                    <a:pt x="12373" y="21322"/>
                  </a:lnTo>
                  <a:close/>
                </a:path>
              </a:pathLst>
            </a:cu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2700">
                  <a:solidFill>
                    <a:srgbClr val="BFBFBF"/>
                  </a:solidFill>
                  <a:latin typeface="Roboto"/>
                  <a:ea typeface="Roboto"/>
                  <a:cs typeface="Roboto"/>
                  <a:sym typeface="Roboto"/>
                </a:defRPr>
              </a:pPr>
              <a:endParaRPr/>
            </a:p>
          </p:txBody>
        </p:sp>
      </p:grp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511062" y="6404292"/>
            <a:ext cx="273656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Title Text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92D6C"/>
          </a:solidFill>
          <a:uFillTx/>
          <a:latin typeface="Roboto"/>
          <a:ea typeface="Roboto"/>
          <a:cs typeface="Roboto"/>
          <a:sym typeface="Roboto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92D6C"/>
          </a:solidFill>
          <a:uFillTx/>
          <a:latin typeface="Roboto"/>
          <a:ea typeface="Roboto"/>
          <a:cs typeface="Roboto"/>
          <a:sym typeface="Roboto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92D6C"/>
          </a:solidFill>
          <a:uFillTx/>
          <a:latin typeface="Roboto"/>
          <a:ea typeface="Roboto"/>
          <a:cs typeface="Roboto"/>
          <a:sym typeface="Roboto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92D6C"/>
          </a:solidFill>
          <a:uFillTx/>
          <a:latin typeface="Roboto"/>
          <a:ea typeface="Roboto"/>
          <a:cs typeface="Roboto"/>
          <a:sym typeface="Roboto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92D6C"/>
          </a:solidFill>
          <a:uFillTx/>
          <a:latin typeface="Roboto"/>
          <a:ea typeface="Roboto"/>
          <a:cs typeface="Roboto"/>
          <a:sym typeface="Roboto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92D6C"/>
          </a:solidFill>
          <a:uFillTx/>
          <a:latin typeface="Roboto"/>
          <a:ea typeface="Roboto"/>
          <a:cs typeface="Roboto"/>
          <a:sym typeface="Roboto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92D6C"/>
          </a:solidFill>
          <a:uFillTx/>
          <a:latin typeface="Roboto"/>
          <a:ea typeface="Roboto"/>
          <a:cs typeface="Roboto"/>
          <a:sym typeface="Roboto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92D6C"/>
          </a:solidFill>
          <a:uFillTx/>
          <a:latin typeface="Roboto"/>
          <a:ea typeface="Roboto"/>
          <a:cs typeface="Roboto"/>
          <a:sym typeface="Roboto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92D6C"/>
          </a:solidFill>
          <a:uFillTx/>
          <a:latin typeface="Roboto"/>
          <a:ea typeface="Roboto"/>
          <a:cs typeface="Roboto"/>
          <a:sym typeface="Roboto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808080"/>
          </a:solidFill>
          <a:uFillTx/>
          <a:latin typeface="Roboto"/>
          <a:ea typeface="Roboto"/>
          <a:cs typeface="Roboto"/>
          <a:sym typeface="Roboto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808080"/>
          </a:solidFill>
          <a:uFillTx/>
          <a:latin typeface="Roboto"/>
          <a:ea typeface="Roboto"/>
          <a:cs typeface="Roboto"/>
          <a:sym typeface="Roboto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808080"/>
          </a:solidFill>
          <a:uFillTx/>
          <a:latin typeface="Roboto"/>
          <a:ea typeface="Roboto"/>
          <a:cs typeface="Roboto"/>
          <a:sym typeface="Roboto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808080"/>
          </a:solidFill>
          <a:uFillTx/>
          <a:latin typeface="Roboto"/>
          <a:ea typeface="Roboto"/>
          <a:cs typeface="Roboto"/>
          <a:sym typeface="Roboto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808080"/>
          </a:solidFill>
          <a:uFillTx/>
          <a:latin typeface="Roboto"/>
          <a:ea typeface="Roboto"/>
          <a:cs typeface="Roboto"/>
          <a:sym typeface="Roboto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808080"/>
          </a:solidFill>
          <a:uFillTx/>
          <a:latin typeface="Roboto"/>
          <a:ea typeface="Roboto"/>
          <a:cs typeface="Roboto"/>
          <a:sym typeface="Roboto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808080"/>
          </a:solidFill>
          <a:uFillTx/>
          <a:latin typeface="Roboto"/>
          <a:ea typeface="Roboto"/>
          <a:cs typeface="Roboto"/>
          <a:sym typeface="Roboto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808080"/>
          </a:solidFill>
          <a:uFillTx/>
          <a:latin typeface="Roboto"/>
          <a:ea typeface="Roboto"/>
          <a:cs typeface="Roboto"/>
          <a:sym typeface="Roboto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808080"/>
          </a:solidFill>
          <a:uFillTx/>
          <a:latin typeface="Roboto"/>
          <a:ea typeface="Roboto"/>
          <a:cs typeface="Roboto"/>
          <a:sym typeface="Roboto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Roboto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i.org/10.1128/mmbr.00078-15" TargetMode="Externa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3"/>
          <p:cNvSpPr txBox="1"/>
          <p:nvPr/>
        </p:nvSpPr>
        <p:spPr>
          <a:xfrm>
            <a:off x="567672" y="2203623"/>
            <a:ext cx="2305806" cy="57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3200" b="1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Module 2.1</a:t>
            </a:r>
          </a:p>
        </p:txBody>
      </p:sp>
      <p:sp>
        <p:nvSpPr>
          <p:cNvPr id="113" name="Rectangle 3"/>
          <p:cNvSpPr txBox="1"/>
          <p:nvPr/>
        </p:nvSpPr>
        <p:spPr>
          <a:xfrm>
            <a:off x="666447" y="1107846"/>
            <a:ext cx="1143076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2400" b="1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Beginner Course on Microbial Genomics: Applications &amp; Research (2026)</a:t>
            </a:r>
          </a:p>
        </p:txBody>
      </p:sp>
      <p:sp>
        <p:nvSpPr>
          <p:cNvPr id="114" name="Rectangle 3"/>
          <p:cNvSpPr txBox="1"/>
          <p:nvPr/>
        </p:nvSpPr>
        <p:spPr>
          <a:xfrm>
            <a:off x="3365875" y="5166006"/>
            <a:ext cx="3306389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PhD Student: Quynh Nguyen</a:t>
            </a:r>
          </a:p>
        </p:txBody>
      </p:sp>
      <p:sp>
        <p:nvSpPr>
          <p:cNvPr id="115" name="Rectangle 3"/>
          <p:cNvSpPr txBox="1"/>
          <p:nvPr/>
        </p:nvSpPr>
        <p:spPr>
          <a:xfrm>
            <a:off x="666447" y="5140606"/>
            <a:ext cx="1201794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2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Lecturer</a:t>
            </a:r>
          </a:p>
        </p:txBody>
      </p:sp>
      <p:sp>
        <p:nvSpPr>
          <p:cNvPr id="116" name="TextBox 20"/>
          <p:cNvSpPr txBox="1"/>
          <p:nvPr/>
        </p:nvSpPr>
        <p:spPr>
          <a:xfrm>
            <a:off x="457041" y="2962706"/>
            <a:ext cx="11193177" cy="11979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/>
          <a:p>
            <a:pPr algn="ctr">
              <a:lnSpc>
                <a:spcPct val="91000"/>
              </a:lnSpc>
              <a:spcBef>
                <a:spcPts val="600"/>
              </a:spcBef>
              <a:defRPr sz="3600" spc="80"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t>Post Assembly Profiling</a:t>
            </a:r>
            <a:br/>
            <a:r>
              <a:rPr sz="4000" spc="79"/>
              <a:t>Quality Assessment &amp; Gene Content Analysis</a:t>
            </a:r>
          </a:p>
        </p:txBody>
      </p:sp>
      <p:sp>
        <p:nvSpPr>
          <p:cNvPr id="117" name="Straight Connector 21"/>
          <p:cNvSpPr/>
          <p:nvPr/>
        </p:nvSpPr>
        <p:spPr>
          <a:xfrm>
            <a:off x="637132" y="2750993"/>
            <a:ext cx="2080188" cy="1"/>
          </a:xfrm>
          <a:prstGeom prst="line">
            <a:avLst/>
          </a:prstGeom>
          <a:ln w="22225">
            <a:solidFill>
              <a:srgbClr val="000000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125" name="Group 38"/>
          <p:cNvGrpSpPr/>
          <p:nvPr/>
        </p:nvGrpSpPr>
        <p:grpSpPr>
          <a:xfrm>
            <a:off x="413022" y="309062"/>
            <a:ext cx="11291298" cy="625379"/>
            <a:chOff x="0" y="0"/>
            <a:chExt cx="11291297" cy="625378"/>
          </a:xfrm>
        </p:grpSpPr>
        <p:grpSp>
          <p:nvGrpSpPr>
            <p:cNvPr id="120" name="Group 15"/>
            <p:cNvGrpSpPr/>
            <p:nvPr/>
          </p:nvGrpSpPr>
          <p:grpSpPr>
            <a:xfrm>
              <a:off x="10216489" y="58094"/>
              <a:ext cx="1074809" cy="447185"/>
              <a:chOff x="0" y="0"/>
              <a:chExt cx="1074807" cy="447184"/>
            </a:xfrm>
          </p:grpSpPr>
          <p:pic>
            <p:nvPicPr>
              <p:cNvPr id="118" name="Picture 18" descr="Picture 1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7622" y="0"/>
                <a:ext cx="447186" cy="44718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119" name="Picture 19" descr="Picture 1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" y="0"/>
                <a:ext cx="447187" cy="44718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grpSp>
          <p:nvGrpSpPr>
            <p:cNvPr id="123" name="Group 22"/>
            <p:cNvGrpSpPr/>
            <p:nvPr/>
          </p:nvGrpSpPr>
          <p:grpSpPr>
            <a:xfrm>
              <a:off x="0" y="0"/>
              <a:ext cx="1667576" cy="625379"/>
              <a:chOff x="0" y="0"/>
              <a:chExt cx="1667574" cy="625378"/>
            </a:xfrm>
          </p:grpSpPr>
          <p:pic>
            <p:nvPicPr>
              <p:cNvPr id="121" name="Picture 23" descr="Picture 2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" y="0"/>
                <a:ext cx="625379" cy="625379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122" name="Picture 25" descr="Picture 25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1071" y="58094"/>
                <a:ext cx="926504" cy="495989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124" name="Picture 30" descr="Picture 30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96738" y="56824"/>
              <a:ext cx="1499991" cy="44226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26" name="Rectangle 3"/>
          <p:cNvSpPr txBox="1"/>
          <p:nvPr/>
        </p:nvSpPr>
        <p:spPr>
          <a:xfrm>
            <a:off x="649977" y="5669167"/>
            <a:ext cx="2555037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2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Teaching assistant</a:t>
            </a:r>
          </a:p>
        </p:txBody>
      </p:sp>
      <p:sp>
        <p:nvSpPr>
          <p:cNvPr id="127" name="Rectangle 3"/>
          <p:cNvSpPr txBox="1"/>
          <p:nvPr/>
        </p:nvSpPr>
        <p:spPr>
          <a:xfrm>
            <a:off x="3365875" y="5689735"/>
            <a:ext cx="2864697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Mr: Ton Ngoc Minh Quan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22"/>
          <p:cNvSpPr txBox="1"/>
          <p:nvPr/>
        </p:nvSpPr>
        <p:spPr>
          <a:xfrm>
            <a:off x="442343" y="289559"/>
            <a:ext cx="3387667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4000" b="1" spc="79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Our journeys</a:t>
            </a:r>
          </a:p>
        </p:txBody>
      </p:sp>
      <p:sp>
        <p:nvSpPr>
          <p:cNvPr id="130" name="Graphic 14"/>
          <p:cNvSpPr/>
          <p:nvPr/>
        </p:nvSpPr>
        <p:spPr>
          <a:xfrm>
            <a:off x="2937162" y="2792845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1" name="Graphic 15"/>
          <p:cNvSpPr/>
          <p:nvPr/>
        </p:nvSpPr>
        <p:spPr>
          <a:xfrm>
            <a:off x="886401" y="3790084"/>
            <a:ext cx="459511" cy="45835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2" name="Graphic 18"/>
          <p:cNvSpPr/>
          <p:nvPr/>
        </p:nvSpPr>
        <p:spPr>
          <a:xfrm>
            <a:off x="10717355" y="5250582"/>
            <a:ext cx="459511" cy="45835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tangle 3"/>
          <p:cNvSpPr txBox="1"/>
          <p:nvPr/>
        </p:nvSpPr>
        <p:spPr>
          <a:xfrm>
            <a:off x="441066" y="3400047"/>
            <a:ext cx="1501309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Raw sequences</a:t>
            </a:r>
          </a:p>
        </p:txBody>
      </p:sp>
      <p:sp>
        <p:nvSpPr>
          <p:cNvPr id="134" name="Graphic 23"/>
          <p:cNvSpPr/>
          <p:nvPr/>
        </p:nvSpPr>
        <p:spPr>
          <a:xfrm>
            <a:off x="10238219" y="811355"/>
            <a:ext cx="459511" cy="45835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5" name="Rectangle 3"/>
          <p:cNvSpPr txBox="1"/>
          <p:nvPr/>
        </p:nvSpPr>
        <p:spPr>
          <a:xfrm>
            <a:off x="9570353" y="501207"/>
            <a:ext cx="18683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Annotated genomes</a:t>
            </a:r>
          </a:p>
        </p:txBody>
      </p:sp>
      <p:sp>
        <p:nvSpPr>
          <p:cNvPr id="136" name="Rectangle 3"/>
          <p:cNvSpPr txBox="1"/>
          <p:nvPr/>
        </p:nvSpPr>
        <p:spPr>
          <a:xfrm>
            <a:off x="10456964" y="4945252"/>
            <a:ext cx="1025893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Phylogeny</a:t>
            </a:r>
          </a:p>
        </p:txBody>
      </p:sp>
      <p:sp>
        <p:nvSpPr>
          <p:cNvPr id="137" name="Graphic 26"/>
          <p:cNvSpPr/>
          <p:nvPr/>
        </p:nvSpPr>
        <p:spPr>
          <a:xfrm>
            <a:off x="1610367" y="3763779"/>
            <a:ext cx="550720" cy="49876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8" name="Rectangle 3"/>
          <p:cNvSpPr txBox="1"/>
          <p:nvPr/>
        </p:nvSpPr>
        <p:spPr>
          <a:xfrm>
            <a:off x="1708832" y="4300777"/>
            <a:ext cx="391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QC</a:t>
            </a:r>
          </a:p>
        </p:txBody>
      </p:sp>
      <p:sp>
        <p:nvSpPr>
          <p:cNvPr id="139" name="Rectangle 3"/>
          <p:cNvSpPr txBox="1"/>
          <p:nvPr/>
        </p:nvSpPr>
        <p:spPr>
          <a:xfrm>
            <a:off x="2909931" y="3267523"/>
            <a:ext cx="1144836" cy="577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pPr>
            <a:r>
              <a:t>Assembled </a:t>
            </a:r>
          </a:p>
          <a:p>
            <a: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pPr>
            <a:r>
              <a:t>genome</a:t>
            </a:r>
          </a:p>
        </p:txBody>
      </p:sp>
      <p:sp>
        <p:nvSpPr>
          <p:cNvPr id="140" name="Graphic 33"/>
          <p:cNvSpPr/>
          <p:nvPr/>
        </p:nvSpPr>
        <p:spPr>
          <a:xfrm>
            <a:off x="8399094" y="1661202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1" name="Graphic 34"/>
          <p:cNvSpPr/>
          <p:nvPr/>
        </p:nvSpPr>
        <p:spPr>
          <a:xfrm>
            <a:off x="5415141" y="2033914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2" name="Graphic 1"/>
          <p:cNvSpPr/>
          <p:nvPr/>
        </p:nvSpPr>
        <p:spPr>
          <a:xfrm>
            <a:off x="9708573" y="5430982"/>
            <a:ext cx="914401" cy="914401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3" name="Graphic 2"/>
          <p:cNvSpPr/>
          <p:nvPr/>
        </p:nvSpPr>
        <p:spPr>
          <a:xfrm>
            <a:off x="10948265" y="5885582"/>
            <a:ext cx="360219" cy="41217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4" name="Graphic 3"/>
          <p:cNvSpPr/>
          <p:nvPr/>
        </p:nvSpPr>
        <p:spPr>
          <a:xfrm>
            <a:off x="10508095" y="5716732"/>
            <a:ext cx="648856" cy="550720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5" name="Graphic 4"/>
          <p:cNvSpPr/>
          <p:nvPr/>
        </p:nvSpPr>
        <p:spPr>
          <a:xfrm rot="660000" flipH="1">
            <a:off x="11101243" y="5692197"/>
            <a:ext cx="412175" cy="360220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6" name="Graphic 5"/>
          <p:cNvSpPr/>
          <p:nvPr/>
        </p:nvSpPr>
        <p:spPr>
          <a:xfrm>
            <a:off x="10118435" y="951346"/>
            <a:ext cx="579584" cy="637310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7" name="Graphic 6"/>
          <p:cNvSpPr/>
          <p:nvPr/>
        </p:nvSpPr>
        <p:spPr>
          <a:xfrm>
            <a:off x="3048891" y="5484983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8" name="Graphic 7"/>
          <p:cNvSpPr/>
          <p:nvPr/>
        </p:nvSpPr>
        <p:spPr>
          <a:xfrm>
            <a:off x="7226299" y="5026888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49" name="Straight Arrow Connector 8"/>
          <p:cNvSpPr/>
          <p:nvPr/>
        </p:nvSpPr>
        <p:spPr>
          <a:xfrm flipV="1">
            <a:off x="1499755" y="3257717"/>
            <a:ext cx="1543628" cy="608483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0" name="Straight Arrow Connector 9"/>
          <p:cNvSpPr/>
          <p:nvPr/>
        </p:nvSpPr>
        <p:spPr>
          <a:xfrm>
            <a:off x="1141846" y="4259118"/>
            <a:ext cx="302490" cy="781629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1" name="Straight Arrow Connector 12"/>
          <p:cNvSpPr/>
          <p:nvPr/>
        </p:nvSpPr>
        <p:spPr>
          <a:xfrm>
            <a:off x="1464373" y="5042533"/>
            <a:ext cx="683490" cy="640291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2" name="Straight Arrow Connector 13"/>
          <p:cNvSpPr/>
          <p:nvPr/>
        </p:nvSpPr>
        <p:spPr>
          <a:xfrm>
            <a:off x="2177212" y="5687774"/>
            <a:ext cx="966165" cy="21627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3" name="Straight Arrow Connector 16"/>
          <p:cNvSpPr/>
          <p:nvPr/>
        </p:nvSpPr>
        <p:spPr>
          <a:xfrm>
            <a:off x="3172727" y="5865984"/>
            <a:ext cx="363941" cy="296163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4" name="Straight Arrow Connector 17"/>
          <p:cNvSpPr/>
          <p:nvPr/>
        </p:nvSpPr>
        <p:spPr>
          <a:xfrm flipV="1">
            <a:off x="3535291" y="6057678"/>
            <a:ext cx="425393" cy="84838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5" name="Straight Arrow Connector 19"/>
          <p:cNvSpPr/>
          <p:nvPr/>
        </p:nvSpPr>
        <p:spPr>
          <a:xfrm flipV="1">
            <a:off x="3897856" y="5670534"/>
            <a:ext cx="996891" cy="404385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6" name="Straight Arrow Connector 21"/>
          <p:cNvSpPr/>
          <p:nvPr/>
        </p:nvSpPr>
        <p:spPr>
          <a:xfrm>
            <a:off x="4899516" y="5675481"/>
            <a:ext cx="953876" cy="1197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7" name="Straight Arrow Connector 27"/>
          <p:cNvSpPr/>
          <p:nvPr/>
        </p:nvSpPr>
        <p:spPr>
          <a:xfrm flipV="1">
            <a:off x="5870451" y="5418580"/>
            <a:ext cx="665054" cy="244611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Straight Arrow Connector 31"/>
          <p:cNvSpPr/>
          <p:nvPr/>
        </p:nvSpPr>
        <p:spPr>
          <a:xfrm flipV="1">
            <a:off x="6552562" y="5418580"/>
            <a:ext cx="775667" cy="17241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9" name="Straight Arrow Connector 35"/>
          <p:cNvSpPr/>
          <p:nvPr/>
        </p:nvSpPr>
        <p:spPr>
          <a:xfrm>
            <a:off x="7345287" y="5454254"/>
            <a:ext cx="652764" cy="240858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0" name="Straight Arrow Connector 36"/>
          <p:cNvSpPr/>
          <p:nvPr/>
        </p:nvSpPr>
        <p:spPr>
          <a:xfrm>
            <a:off x="8039690" y="5693916"/>
            <a:ext cx="204166" cy="351470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1" name="Straight Arrow Connector 37"/>
          <p:cNvSpPr/>
          <p:nvPr/>
        </p:nvSpPr>
        <p:spPr>
          <a:xfrm flipV="1">
            <a:off x="8273206" y="6014659"/>
            <a:ext cx="1341021" cy="1109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2" name="Straight Arrow Connector 38"/>
          <p:cNvSpPr/>
          <p:nvPr/>
        </p:nvSpPr>
        <p:spPr>
          <a:xfrm flipV="1">
            <a:off x="1181693" y="3870002"/>
            <a:ext cx="320926" cy="35522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3" name="Straight Arrow Connector 39"/>
          <p:cNvSpPr/>
          <p:nvPr/>
        </p:nvSpPr>
        <p:spPr>
          <a:xfrm flipV="1">
            <a:off x="3066770" y="2519994"/>
            <a:ext cx="1001454" cy="751524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Straight Arrow Connector 41"/>
          <p:cNvSpPr/>
          <p:nvPr/>
        </p:nvSpPr>
        <p:spPr>
          <a:xfrm flipV="1">
            <a:off x="4099158" y="2421975"/>
            <a:ext cx="2238028" cy="11072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5" name="Straight Arrow Connector 42"/>
          <p:cNvSpPr/>
          <p:nvPr/>
        </p:nvSpPr>
        <p:spPr>
          <a:xfrm flipV="1">
            <a:off x="6333100" y="2101732"/>
            <a:ext cx="2164286" cy="325808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6" name="Straight Arrow Connector 43"/>
          <p:cNvSpPr/>
          <p:nvPr/>
        </p:nvSpPr>
        <p:spPr>
          <a:xfrm flipV="1">
            <a:off x="8563337" y="1451597"/>
            <a:ext cx="1589436" cy="63250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7" name="Rectangle 3"/>
          <p:cNvSpPr txBox="1"/>
          <p:nvPr/>
        </p:nvSpPr>
        <p:spPr>
          <a:xfrm>
            <a:off x="2936206" y="5114583"/>
            <a:ext cx="907595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Mapping</a:t>
            </a:r>
          </a:p>
        </p:txBody>
      </p:sp>
      <p:sp>
        <p:nvSpPr>
          <p:cNvPr id="168" name="Rectangle 3"/>
          <p:cNvSpPr txBox="1"/>
          <p:nvPr/>
        </p:nvSpPr>
        <p:spPr>
          <a:xfrm>
            <a:off x="6409875" y="4683789"/>
            <a:ext cx="1942862" cy="501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Variant calling and filtering</a:t>
            </a:r>
          </a:p>
        </p:txBody>
      </p:sp>
      <p:sp>
        <p:nvSpPr>
          <p:cNvPr id="169" name="Graphic 10"/>
          <p:cNvSpPr/>
          <p:nvPr/>
        </p:nvSpPr>
        <p:spPr>
          <a:xfrm>
            <a:off x="4825250" y="2541129"/>
            <a:ext cx="550720" cy="49876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70" name="Rectangle 3"/>
          <p:cNvSpPr txBox="1"/>
          <p:nvPr/>
        </p:nvSpPr>
        <p:spPr>
          <a:xfrm>
            <a:off x="4205411" y="3092672"/>
            <a:ext cx="3166417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QC &amp; Post-Assembly Profiling</a:t>
            </a:r>
          </a:p>
        </p:txBody>
      </p:sp>
      <p:sp>
        <p:nvSpPr>
          <p:cNvPr id="171" name="Rectangle 3"/>
          <p:cNvSpPr txBox="1"/>
          <p:nvPr/>
        </p:nvSpPr>
        <p:spPr>
          <a:xfrm>
            <a:off x="7826793" y="2692811"/>
            <a:ext cx="1580665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Hybrid Assembly</a:t>
            </a:r>
          </a:p>
        </p:txBody>
      </p:sp>
      <p:sp>
        <p:nvSpPr>
          <p:cNvPr id="172" name="Graphic 48"/>
          <p:cNvSpPr/>
          <p:nvPr/>
        </p:nvSpPr>
        <p:spPr>
          <a:xfrm>
            <a:off x="5601077" y="2519127"/>
            <a:ext cx="672976" cy="57489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73" name="Graphic 49"/>
          <p:cNvSpPr/>
          <p:nvPr/>
        </p:nvSpPr>
        <p:spPr>
          <a:xfrm>
            <a:off x="8234125" y="2156986"/>
            <a:ext cx="627710" cy="559808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74" name="Rectangle 30"/>
          <p:cNvSpPr/>
          <p:nvPr/>
        </p:nvSpPr>
        <p:spPr>
          <a:xfrm>
            <a:off x="222738" y="4768605"/>
            <a:ext cx="3842572" cy="1894411"/>
          </a:xfrm>
          <a:prstGeom prst="rect">
            <a:avLst/>
          </a:prstGeom>
          <a:solidFill>
            <a:srgbClr val="FFFFFF">
              <a:alpha val="7882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5" name="Rectangle 32"/>
          <p:cNvSpPr/>
          <p:nvPr/>
        </p:nvSpPr>
        <p:spPr>
          <a:xfrm>
            <a:off x="4114217" y="253331"/>
            <a:ext cx="7359221" cy="3146681"/>
          </a:xfrm>
          <a:prstGeom prst="rect">
            <a:avLst/>
          </a:prstGeom>
          <a:solidFill>
            <a:srgbClr val="FFFFFF">
              <a:alpha val="7882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" name="Rectangle 40"/>
          <p:cNvSpPr/>
          <p:nvPr/>
        </p:nvSpPr>
        <p:spPr>
          <a:xfrm rot="5400000">
            <a:off x="6306444" y="1501606"/>
            <a:ext cx="3015320" cy="7459790"/>
          </a:xfrm>
          <a:prstGeom prst="rect">
            <a:avLst/>
          </a:prstGeom>
          <a:solidFill>
            <a:srgbClr val="FFFFFF">
              <a:alpha val="7882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" name="Rectangle 46"/>
          <p:cNvSpPr/>
          <p:nvPr/>
        </p:nvSpPr>
        <p:spPr>
          <a:xfrm>
            <a:off x="450062" y="4248439"/>
            <a:ext cx="1014313" cy="522405"/>
          </a:xfrm>
          <a:prstGeom prst="rect">
            <a:avLst/>
          </a:prstGeom>
          <a:solidFill>
            <a:srgbClr val="FFFFFF">
              <a:alpha val="7882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Graphic 2" descr="Flag with solid fill">
            <a:extLst>
              <a:ext uri="{FF2B5EF4-FFF2-40B4-BE49-F238E27FC236}">
                <a16:creationId xmlns:a16="http://schemas.microsoft.com/office/drawing/2014/main" id="{AE19B4C3-046A-F545-C5DF-C527F71D25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32260" y="2726595"/>
            <a:ext cx="574897" cy="574897"/>
          </a:xfrm>
          <a:prstGeom prst="rect">
            <a:avLst/>
          </a:prstGeom>
        </p:spPr>
      </p:pic>
      <p:pic>
        <p:nvPicPr>
          <p:cNvPr id="4" name="Graphic 3" descr="Flag with solid fill">
            <a:extLst>
              <a:ext uri="{FF2B5EF4-FFF2-40B4-BE49-F238E27FC236}">
                <a16:creationId xmlns:a16="http://schemas.microsoft.com/office/drawing/2014/main" id="{02C01DD2-DC92-C0CD-DC4F-B389803B01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642" y="3734268"/>
            <a:ext cx="574897" cy="574897"/>
          </a:xfrm>
          <a:prstGeom prst="rect">
            <a:avLst/>
          </a:prstGeom>
        </p:spPr>
      </p:pic>
      <p:pic>
        <p:nvPicPr>
          <p:cNvPr id="6" name="Graphic 5" descr="Flag with solid fill">
            <a:extLst>
              <a:ext uri="{FF2B5EF4-FFF2-40B4-BE49-F238E27FC236}">
                <a16:creationId xmlns:a16="http://schemas.microsoft.com/office/drawing/2014/main" id="{18427CC7-B7FC-7F18-EF1A-66ECBE1C19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31349" y="2006728"/>
            <a:ext cx="574897" cy="57489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Box 22"/>
          <p:cNvSpPr txBox="1"/>
          <p:nvPr/>
        </p:nvSpPr>
        <p:spPr>
          <a:xfrm>
            <a:off x="442343" y="289559"/>
            <a:ext cx="3387667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4000" b="1" spc="79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Our journeys</a:t>
            </a:r>
          </a:p>
        </p:txBody>
      </p:sp>
      <p:sp>
        <p:nvSpPr>
          <p:cNvPr id="180" name="Graphic 14"/>
          <p:cNvSpPr/>
          <p:nvPr/>
        </p:nvSpPr>
        <p:spPr>
          <a:xfrm>
            <a:off x="2937162" y="2792845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81" name="Graphic 15"/>
          <p:cNvSpPr/>
          <p:nvPr/>
        </p:nvSpPr>
        <p:spPr>
          <a:xfrm>
            <a:off x="886401" y="3790084"/>
            <a:ext cx="459511" cy="45835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82" name="Graphic 18"/>
          <p:cNvSpPr/>
          <p:nvPr/>
        </p:nvSpPr>
        <p:spPr>
          <a:xfrm>
            <a:off x="10717355" y="5250582"/>
            <a:ext cx="459511" cy="45835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83" name="Rectangle 3"/>
          <p:cNvSpPr txBox="1"/>
          <p:nvPr/>
        </p:nvSpPr>
        <p:spPr>
          <a:xfrm>
            <a:off x="441066" y="3400047"/>
            <a:ext cx="1501309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Raw sequences</a:t>
            </a:r>
          </a:p>
        </p:txBody>
      </p:sp>
      <p:sp>
        <p:nvSpPr>
          <p:cNvPr id="184" name="Graphic 23"/>
          <p:cNvSpPr/>
          <p:nvPr/>
        </p:nvSpPr>
        <p:spPr>
          <a:xfrm>
            <a:off x="10238219" y="811355"/>
            <a:ext cx="459511" cy="45835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85" name="Rectangle 3"/>
          <p:cNvSpPr txBox="1"/>
          <p:nvPr/>
        </p:nvSpPr>
        <p:spPr>
          <a:xfrm>
            <a:off x="9570353" y="501207"/>
            <a:ext cx="18683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Annotated genomes</a:t>
            </a:r>
          </a:p>
        </p:txBody>
      </p:sp>
      <p:sp>
        <p:nvSpPr>
          <p:cNvPr id="186" name="Rectangle 3"/>
          <p:cNvSpPr txBox="1"/>
          <p:nvPr/>
        </p:nvSpPr>
        <p:spPr>
          <a:xfrm>
            <a:off x="10456964" y="4945252"/>
            <a:ext cx="1025893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Phylogeny</a:t>
            </a:r>
          </a:p>
        </p:txBody>
      </p:sp>
      <p:sp>
        <p:nvSpPr>
          <p:cNvPr id="187" name="Graphic 26"/>
          <p:cNvSpPr/>
          <p:nvPr/>
        </p:nvSpPr>
        <p:spPr>
          <a:xfrm>
            <a:off x="1610367" y="3763779"/>
            <a:ext cx="550720" cy="49876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88" name="Rectangle 3"/>
          <p:cNvSpPr txBox="1"/>
          <p:nvPr/>
        </p:nvSpPr>
        <p:spPr>
          <a:xfrm>
            <a:off x="1708832" y="4300777"/>
            <a:ext cx="39116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QC</a:t>
            </a:r>
          </a:p>
        </p:txBody>
      </p:sp>
      <p:sp>
        <p:nvSpPr>
          <p:cNvPr id="189" name="Rectangle 3"/>
          <p:cNvSpPr txBox="1"/>
          <p:nvPr/>
        </p:nvSpPr>
        <p:spPr>
          <a:xfrm>
            <a:off x="2909931" y="3267523"/>
            <a:ext cx="1144836" cy="5778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pPr>
            <a:r>
              <a:t>Assembled </a:t>
            </a:r>
          </a:p>
          <a:p>
            <a: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pPr>
            <a:r>
              <a:t>genome</a:t>
            </a:r>
          </a:p>
        </p:txBody>
      </p:sp>
      <p:sp>
        <p:nvSpPr>
          <p:cNvPr id="190" name="Graphic 33"/>
          <p:cNvSpPr/>
          <p:nvPr/>
        </p:nvSpPr>
        <p:spPr>
          <a:xfrm>
            <a:off x="8399094" y="1661202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Graphic 34"/>
          <p:cNvSpPr/>
          <p:nvPr/>
        </p:nvSpPr>
        <p:spPr>
          <a:xfrm>
            <a:off x="5415141" y="2033914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2" name="Graphic 1"/>
          <p:cNvSpPr/>
          <p:nvPr/>
        </p:nvSpPr>
        <p:spPr>
          <a:xfrm>
            <a:off x="9708573" y="5430982"/>
            <a:ext cx="914401" cy="914401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3" name="Graphic 2"/>
          <p:cNvSpPr/>
          <p:nvPr/>
        </p:nvSpPr>
        <p:spPr>
          <a:xfrm>
            <a:off x="10948265" y="5885582"/>
            <a:ext cx="360219" cy="412176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4" name="Graphic 3"/>
          <p:cNvSpPr/>
          <p:nvPr/>
        </p:nvSpPr>
        <p:spPr>
          <a:xfrm>
            <a:off x="10508095" y="5716732"/>
            <a:ext cx="648856" cy="550720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5" name="Graphic 4"/>
          <p:cNvSpPr/>
          <p:nvPr/>
        </p:nvSpPr>
        <p:spPr>
          <a:xfrm rot="660000" flipH="1">
            <a:off x="11101243" y="5692197"/>
            <a:ext cx="412175" cy="360220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6" name="Graphic 5"/>
          <p:cNvSpPr/>
          <p:nvPr/>
        </p:nvSpPr>
        <p:spPr>
          <a:xfrm>
            <a:off x="10118435" y="951346"/>
            <a:ext cx="579584" cy="637310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7" name="Graphic 6"/>
          <p:cNvSpPr/>
          <p:nvPr/>
        </p:nvSpPr>
        <p:spPr>
          <a:xfrm>
            <a:off x="3048891" y="5484983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8" name="Graphic 7"/>
          <p:cNvSpPr/>
          <p:nvPr/>
        </p:nvSpPr>
        <p:spPr>
          <a:xfrm>
            <a:off x="7226299" y="5026888"/>
            <a:ext cx="446811" cy="452583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9" name="Straight Arrow Connector 8"/>
          <p:cNvSpPr/>
          <p:nvPr/>
        </p:nvSpPr>
        <p:spPr>
          <a:xfrm flipV="1">
            <a:off x="1499755" y="3257717"/>
            <a:ext cx="1543628" cy="608483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0" name="Straight Arrow Connector 9"/>
          <p:cNvSpPr/>
          <p:nvPr/>
        </p:nvSpPr>
        <p:spPr>
          <a:xfrm>
            <a:off x="1141846" y="4259118"/>
            <a:ext cx="302490" cy="781629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1" name="Straight Arrow Connector 12"/>
          <p:cNvSpPr/>
          <p:nvPr/>
        </p:nvSpPr>
        <p:spPr>
          <a:xfrm>
            <a:off x="1464373" y="5042533"/>
            <a:ext cx="683490" cy="640291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2" name="Straight Arrow Connector 13"/>
          <p:cNvSpPr/>
          <p:nvPr/>
        </p:nvSpPr>
        <p:spPr>
          <a:xfrm>
            <a:off x="2177212" y="5687774"/>
            <a:ext cx="966165" cy="21627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16"/>
          <p:cNvSpPr/>
          <p:nvPr/>
        </p:nvSpPr>
        <p:spPr>
          <a:xfrm>
            <a:off x="3172727" y="5865984"/>
            <a:ext cx="363941" cy="296163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Straight Arrow Connector 17"/>
          <p:cNvSpPr/>
          <p:nvPr/>
        </p:nvSpPr>
        <p:spPr>
          <a:xfrm flipV="1">
            <a:off x="3535291" y="6057678"/>
            <a:ext cx="425393" cy="84838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5" name="Straight Arrow Connector 19"/>
          <p:cNvSpPr/>
          <p:nvPr/>
        </p:nvSpPr>
        <p:spPr>
          <a:xfrm flipV="1">
            <a:off x="3897856" y="5670534"/>
            <a:ext cx="996891" cy="404385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6" name="Straight Arrow Connector 21"/>
          <p:cNvSpPr/>
          <p:nvPr/>
        </p:nvSpPr>
        <p:spPr>
          <a:xfrm>
            <a:off x="4899516" y="5675481"/>
            <a:ext cx="953876" cy="1197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7" name="Straight Arrow Connector 27"/>
          <p:cNvSpPr/>
          <p:nvPr/>
        </p:nvSpPr>
        <p:spPr>
          <a:xfrm flipV="1">
            <a:off x="5870451" y="5418580"/>
            <a:ext cx="665054" cy="244611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8" name="Straight Arrow Connector 31"/>
          <p:cNvSpPr/>
          <p:nvPr/>
        </p:nvSpPr>
        <p:spPr>
          <a:xfrm flipV="1">
            <a:off x="6552562" y="5418580"/>
            <a:ext cx="775667" cy="17241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9" name="Straight Arrow Connector 35"/>
          <p:cNvSpPr/>
          <p:nvPr/>
        </p:nvSpPr>
        <p:spPr>
          <a:xfrm>
            <a:off x="7345287" y="5454254"/>
            <a:ext cx="652764" cy="240858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0" name="Straight Arrow Connector 36"/>
          <p:cNvSpPr/>
          <p:nvPr/>
        </p:nvSpPr>
        <p:spPr>
          <a:xfrm>
            <a:off x="8039690" y="5693916"/>
            <a:ext cx="204166" cy="351470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1" name="Straight Arrow Connector 37"/>
          <p:cNvSpPr/>
          <p:nvPr/>
        </p:nvSpPr>
        <p:spPr>
          <a:xfrm flipV="1">
            <a:off x="8273206" y="6014659"/>
            <a:ext cx="1341021" cy="1109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2" name="Straight Arrow Connector 38"/>
          <p:cNvSpPr/>
          <p:nvPr/>
        </p:nvSpPr>
        <p:spPr>
          <a:xfrm flipV="1">
            <a:off x="1181693" y="3870002"/>
            <a:ext cx="320926" cy="35522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3" name="Straight Arrow Connector 39"/>
          <p:cNvSpPr/>
          <p:nvPr/>
        </p:nvSpPr>
        <p:spPr>
          <a:xfrm flipV="1">
            <a:off x="3066770" y="2519994"/>
            <a:ext cx="1001454" cy="751524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4" name="Straight Arrow Connector 41"/>
          <p:cNvSpPr/>
          <p:nvPr/>
        </p:nvSpPr>
        <p:spPr>
          <a:xfrm flipV="1">
            <a:off x="4099158" y="2421975"/>
            <a:ext cx="2238028" cy="11072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5" name="Straight Arrow Connector 42"/>
          <p:cNvSpPr/>
          <p:nvPr/>
        </p:nvSpPr>
        <p:spPr>
          <a:xfrm flipV="1">
            <a:off x="6333100" y="2101732"/>
            <a:ext cx="2164286" cy="325808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6" name="Straight Arrow Connector 43"/>
          <p:cNvSpPr/>
          <p:nvPr/>
        </p:nvSpPr>
        <p:spPr>
          <a:xfrm flipV="1">
            <a:off x="8563337" y="1451597"/>
            <a:ext cx="1589436" cy="632506"/>
          </a:xfrm>
          <a:prstGeom prst="line">
            <a:avLst/>
          </a:prstGeom>
          <a:ln w="12700">
            <a:solidFill>
              <a:srgbClr val="000000"/>
            </a:solidFill>
            <a:prstDash val="dash"/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17" name="Rectangle 3"/>
          <p:cNvSpPr txBox="1"/>
          <p:nvPr/>
        </p:nvSpPr>
        <p:spPr>
          <a:xfrm>
            <a:off x="2936206" y="5114583"/>
            <a:ext cx="907595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Mapping</a:t>
            </a:r>
          </a:p>
        </p:txBody>
      </p:sp>
      <p:sp>
        <p:nvSpPr>
          <p:cNvPr id="218" name="Rectangle 3"/>
          <p:cNvSpPr txBox="1"/>
          <p:nvPr/>
        </p:nvSpPr>
        <p:spPr>
          <a:xfrm>
            <a:off x="6409875" y="4683789"/>
            <a:ext cx="1942862" cy="5016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Variant calling and filtering</a:t>
            </a:r>
          </a:p>
        </p:txBody>
      </p:sp>
      <p:sp>
        <p:nvSpPr>
          <p:cNvPr id="219" name="Graphic 10"/>
          <p:cNvSpPr/>
          <p:nvPr/>
        </p:nvSpPr>
        <p:spPr>
          <a:xfrm>
            <a:off x="4825250" y="2541129"/>
            <a:ext cx="550720" cy="49876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0" name="Rectangle 3"/>
          <p:cNvSpPr txBox="1"/>
          <p:nvPr/>
        </p:nvSpPr>
        <p:spPr>
          <a:xfrm>
            <a:off x="4205411" y="3092672"/>
            <a:ext cx="3166417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QC &amp; Post-Assembly Profiling</a:t>
            </a:r>
          </a:p>
        </p:txBody>
      </p:sp>
      <p:sp>
        <p:nvSpPr>
          <p:cNvPr id="221" name="Rectangle 3"/>
          <p:cNvSpPr txBox="1"/>
          <p:nvPr/>
        </p:nvSpPr>
        <p:spPr>
          <a:xfrm>
            <a:off x="7826793" y="2692811"/>
            <a:ext cx="1580665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1400" spc="8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Hybrid Assembly</a:t>
            </a:r>
          </a:p>
        </p:txBody>
      </p:sp>
      <p:sp>
        <p:nvSpPr>
          <p:cNvPr id="222" name="Graphic 48"/>
          <p:cNvSpPr/>
          <p:nvPr/>
        </p:nvSpPr>
        <p:spPr>
          <a:xfrm>
            <a:off x="5601077" y="2519127"/>
            <a:ext cx="672976" cy="574897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3" name="Graphic 49"/>
          <p:cNvSpPr/>
          <p:nvPr/>
        </p:nvSpPr>
        <p:spPr>
          <a:xfrm>
            <a:off x="8234125" y="2156986"/>
            <a:ext cx="627710" cy="559808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4" name="Rectangle 30"/>
          <p:cNvSpPr/>
          <p:nvPr/>
        </p:nvSpPr>
        <p:spPr>
          <a:xfrm>
            <a:off x="222738" y="4768605"/>
            <a:ext cx="3842572" cy="1894411"/>
          </a:xfrm>
          <a:prstGeom prst="rect">
            <a:avLst/>
          </a:prstGeom>
          <a:solidFill>
            <a:srgbClr val="FFFFFF">
              <a:alpha val="7882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Rectangle 32"/>
          <p:cNvSpPr/>
          <p:nvPr/>
        </p:nvSpPr>
        <p:spPr>
          <a:xfrm>
            <a:off x="6908821" y="253331"/>
            <a:ext cx="4564617" cy="3146681"/>
          </a:xfrm>
          <a:prstGeom prst="rect">
            <a:avLst/>
          </a:prstGeom>
          <a:solidFill>
            <a:srgbClr val="FFFFFF">
              <a:alpha val="7882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6" name="Rectangle 40"/>
          <p:cNvSpPr/>
          <p:nvPr/>
        </p:nvSpPr>
        <p:spPr>
          <a:xfrm rot="5400000">
            <a:off x="6306444" y="1501606"/>
            <a:ext cx="3015320" cy="7459790"/>
          </a:xfrm>
          <a:prstGeom prst="rect">
            <a:avLst/>
          </a:prstGeom>
          <a:solidFill>
            <a:srgbClr val="FFFFFF">
              <a:alpha val="7882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7" name="Rectangle 46"/>
          <p:cNvSpPr/>
          <p:nvPr/>
        </p:nvSpPr>
        <p:spPr>
          <a:xfrm>
            <a:off x="450062" y="4248439"/>
            <a:ext cx="1014313" cy="522405"/>
          </a:xfrm>
          <a:prstGeom prst="rect">
            <a:avLst/>
          </a:prstGeom>
          <a:solidFill>
            <a:srgbClr val="FFFFFF">
              <a:alpha val="78824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" name="Graphic 1" descr="Flag with solid fill">
            <a:extLst>
              <a:ext uri="{FF2B5EF4-FFF2-40B4-BE49-F238E27FC236}">
                <a16:creationId xmlns:a16="http://schemas.microsoft.com/office/drawing/2014/main" id="{4A5CE828-E905-81DB-5D96-1A08FC4D9C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2083" y="3726424"/>
            <a:ext cx="574897" cy="574897"/>
          </a:xfrm>
          <a:prstGeom prst="rect">
            <a:avLst/>
          </a:prstGeom>
        </p:spPr>
      </p:pic>
      <p:pic>
        <p:nvPicPr>
          <p:cNvPr id="3" name="Graphic 2" descr="Flag with solid fill">
            <a:extLst>
              <a:ext uri="{FF2B5EF4-FFF2-40B4-BE49-F238E27FC236}">
                <a16:creationId xmlns:a16="http://schemas.microsoft.com/office/drawing/2014/main" id="{CC58A183-A1FE-5A35-D44E-1C9147ED7F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36206" y="2728781"/>
            <a:ext cx="574897" cy="574897"/>
          </a:xfrm>
          <a:prstGeom prst="rect">
            <a:avLst/>
          </a:prstGeom>
        </p:spPr>
      </p:pic>
      <p:pic>
        <p:nvPicPr>
          <p:cNvPr id="4" name="Graphic 3" descr="Flag with solid fill">
            <a:extLst>
              <a:ext uri="{FF2B5EF4-FFF2-40B4-BE49-F238E27FC236}">
                <a16:creationId xmlns:a16="http://schemas.microsoft.com/office/drawing/2014/main" id="{68FF99B8-A121-09C0-CD84-3ABCFFF6DB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31349" y="2006728"/>
            <a:ext cx="574897" cy="574897"/>
          </a:xfrm>
          <a:prstGeom prst="rect">
            <a:avLst/>
          </a:prstGeom>
        </p:spPr>
      </p:pic>
      <p:pic>
        <p:nvPicPr>
          <p:cNvPr id="5" name="Graphic 4" descr="Flag with solid fill">
            <a:extLst>
              <a:ext uri="{FF2B5EF4-FFF2-40B4-BE49-F238E27FC236}">
                <a16:creationId xmlns:a16="http://schemas.microsoft.com/office/drawing/2014/main" id="{076D6491-5B11-F1DE-20A5-EA461C9919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53332" y="1819433"/>
            <a:ext cx="574897" cy="57489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Footer Placeholder 65"/>
          <p:cNvSpPr txBox="1"/>
          <p:nvPr/>
        </p:nvSpPr>
        <p:spPr>
          <a:xfrm>
            <a:off x="453002" y="6584879"/>
            <a:ext cx="2732148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230" name="TextBox 22"/>
          <p:cNvSpPr txBox="1"/>
          <p:nvPr/>
        </p:nvSpPr>
        <p:spPr>
          <a:xfrm>
            <a:off x="567065" y="263680"/>
            <a:ext cx="2027933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4000" b="1" spc="79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Agenda</a:t>
            </a:r>
          </a:p>
        </p:txBody>
      </p:sp>
      <p:sp>
        <p:nvSpPr>
          <p:cNvPr id="231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95820" y="6540817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b="1"/>
            </a:lvl1pPr>
          </a:lstStyle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232" name="TextBox 3"/>
          <p:cNvSpPr txBox="1"/>
          <p:nvPr/>
        </p:nvSpPr>
        <p:spPr>
          <a:xfrm>
            <a:off x="454060" y="1408111"/>
            <a:ext cx="6106798" cy="46371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marL="514350" indent="-514350" algn="just">
              <a:lnSpc>
                <a:spcPct val="150000"/>
              </a:lnSpc>
              <a:spcBef>
                <a:spcPts val="600"/>
              </a:spcBef>
              <a:buSzPct val="100000"/>
              <a:buAutoNum type="romanUcPeriod"/>
              <a:defRPr sz="2200" b="1">
                <a:latin typeface="Roboto"/>
                <a:ea typeface="Roboto"/>
                <a:cs typeface="Roboto"/>
                <a:sym typeface="Roboto"/>
              </a:defRPr>
            </a:pPr>
            <a:r>
              <a:rPr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Theory</a:t>
            </a:r>
          </a:p>
          <a:p>
            <a:pPr marL="971550" lvl="1" indent="-514350" algn="just">
              <a:lnSpc>
                <a:spcPct val="150000"/>
              </a:lnSpc>
              <a:spcBef>
                <a:spcPts val="600"/>
              </a:spcBef>
              <a:buSzPct val="100000"/>
              <a:buAutoNum type="arabicPeriod"/>
              <a:defRPr sz="2200">
                <a:latin typeface="Roboto"/>
                <a:ea typeface="Roboto"/>
                <a:cs typeface="Roboto"/>
                <a:sym typeface="Roboto"/>
              </a:defRPr>
            </a:pPr>
            <a:r>
              <a:rPr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Quality/Contamination Assessment</a:t>
            </a:r>
          </a:p>
          <a:p>
            <a:pPr marL="1371600" lvl="2" indent="-457200" algn="just">
              <a:lnSpc>
                <a:spcPct val="150000"/>
              </a:lnSpc>
              <a:spcBef>
                <a:spcPts val="600"/>
              </a:spcBef>
              <a:buSzPct val="100000"/>
              <a:buAutoNum type="alphaLcParenR"/>
              <a:defRPr sz="2200">
                <a:latin typeface="Roboto"/>
                <a:ea typeface="Roboto"/>
                <a:cs typeface="Roboto"/>
                <a:sym typeface="Roboto"/>
              </a:defRPr>
            </a:pPr>
            <a:r>
              <a:rPr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Contiguity</a:t>
            </a:r>
          </a:p>
          <a:p>
            <a:pPr marL="1371600" lvl="2" indent="-457200" algn="just">
              <a:lnSpc>
                <a:spcPct val="150000"/>
              </a:lnSpc>
              <a:spcBef>
                <a:spcPts val="600"/>
              </a:spcBef>
              <a:buSzPct val="100000"/>
              <a:buAutoNum type="alphaLcParenR"/>
              <a:defRPr sz="2200">
                <a:latin typeface="Roboto"/>
                <a:ea typeface="Roboto"/>
                <a:cs typeface="Roboto"/>
                <a:sym typeface="Roboto"/>
              </a:defRPr>
            </a:pPr>
            <a:r>
              <a:rPr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Completeness</a:t>
            </a:r>
          </a:p>
          <a:p>
            <a:pPr marL="1371600" lvl="2" indent="-457200" algn="just">
              <a:lnSpc>
                <a:spcPct val="150000"/>
              </a:lnSpc>
              <a:spcBef>
                <a:spcPts val="600"/>
              </a:spcBef>
              <a:buSzPct val="100000"/>
              <a:buAutoNum type="alphaLcParenR"/>
              <a:defRPr sz="2200">
                <a:latin typeface="Roboto"/>
                <a:ea typeface="Roboto"/>
                <a:cs typeface="Roboto"/>
                <a:sym typeface="Roboto"/>
              </a:defRPr>
            </a:pPr>
            <a:r>
              <a:rPr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Contamination</a:t>
            </a:r>
          </a:p>
          <a:p>
            <a:pPr marL="971550" lvl="1" indent="-514350" algn="just">
              <a:lnSpc>
                <a:spcPct val="150000"/>
              </a:lnSpc>
              <a:spcBef>
                <a:spcPts val="600"/>
              </a:spcBef>
              <a:buSzPct val="100000"/>
              <a:buAutoNum type="arabicPeriod"/>
              <a:defRPr sz="2200"/>
            </a:pPr>
            <a:r>
              <a:rPr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Downstream Analysis Steps</a:t>
            </a:r>
          </a:p>
          <a:p>
            <a:pPr marL="1428750" lvl="2" indent="-514350" algn="just">
              <a:lnSpc>
                <a:spcPct val="150000"/>
              </a:lnSpc>
              <a:spcBef>
                <a:spcPts val="600"/>
              </a:spcBef>
              <a:buSzPct val="100000"/>
              <a:buAutoNum type="alphaLcParenR"/>
              <a:defRPr sz="2200">
                <a:latin typeface="Roboto"/>
                <a:ea typeface="Roboto"/>
                <a:cs typeface="Roboto"/>
                <a:sym typeface="Roboto"/>
              </a:defRPr>
            </a:pPr>
            <a:r>
              <a:rPr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Multilocus</a:t>
            </a:r>
            <a:r>
              <a:rPr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Sequence Typing (MLST)</a:t>
            </a:r>
          </a:p>
          <a:p>
            <a:pPr marL="1428750" lvl="2" indent="-514350" algn="just">
              <a:lnSpc>
                <a:spcPct val="150000"/>
              </a:lnSpc>
              <a:spcBef>
                <a:spcPts val="600"/>
              </a:spcBef>
              <a:buSzPct val="100000"/>
              <a:buAutoNum type="alphaLcParenR"/>
              <a:defRPr sz="2200">
                <a:latin typeface="Roboto"/>
                <a:ea typeface="Roboto"/>
                <a:cs typeface="Roboto"/>
                <a:sym typeface="Roboto"/>
              </a:defRPr>
            </a:pPr>
            <a:r>
              <a:rPr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AMR / Virulence genes identification</a:t>
            </a:r>
          </a:p>
        </p:txBody>
      </p:sp>
      <p:sp>
        <p:nvSpPr>
          <p:cNvPr id="233" name="TextBox 4"/>
          <p:cNvSpPr txBox="1"/>
          <p:nvPr/>
        </p:nvSpPr>
        <p:spPr>
          <a:xfrm>
            <a:off x="6529131" y="1408110"/>
            <a:ext cx="5209867" cy="3202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marL="514350" indent="-514350" algn="just">
              <a:lnSpc>
                <a:spcPct val="150000"/>
              </a:lnSpc>
              <a:spcBef>
                <a:spcPts val="600"/>
              </a:spcBef>
              <a:buSzPct val="100000"/>
              <a:buAutoNum type="romanUcPeriod" startAt="2"/>
              <a:defRPr sz="2200" b="1">
                <a:latin typeface="Roboto"/>
                <a:ea typeface="Roboto"/>
                <a:cs typeface="Roboto"/>
                <a:sym typeface="Roboto"/>
              </a:defRPr>
            </a:pPr>
            <a:r>
              <a:rPr dirty="0"/>
              <a:t>Practical Command-line (CLI)</a:t>
            </a:r>
          </a:p>
          <a:p>
            <a:pPr marL="971550" lvl="1" indent="-514350" algn="just">
              <a:lnSpc>
                <a:spcPct val="150000"/>
              </a:lnSpc>
              <a:spcBef>
                <a:spcPts val="600"/>
              </a:spcBef>
              <a:buSzPct val="100000"/>
              <a:buAutoNum type="arabicPeriod"/>
              <a:defRPr sz="2200">
                <a:latin typeface="Roboto"/>
                <a:ea typeface="Roboto"/>
                <a:cs typeface="Roboto"/>
                <a:sym typeface="Roboto"/>
              </a:defRPr>
            </a:pPr>
            <a:r>
              <a:rPr dirty="0"/>
              <a:t>checkm2</a:t>
            </a:r>
          </a:p>
          <a:p>
            <a:pPr marL="971550" lvl="1" indent="-514350" algn="just">
              <a:lnSpc>
                <a:spcPct val="150000"/>
              </a:lnSpc>
              <a:spcBef>
                <a:spcPts val="600"/>
              </a:spcBef>
              <a:buSzPct val="100000"/>
              <a:buAutoNum type="arabicPeriod"/>
              <a:defRPr sz="2200">
                <a:latin typeface="Roboto"/>
                <a:ea typeface="Roboto"/>
                <a:cs typeface="Roboto"/>
                <a:sym typeface="Roboto"/>
              </a:defRPr>
            </a:pPr>
            <a:r>
              <a:rPr dirty="0" err="1"/>
              <a:t>Kleborate</a:t>
            </a:r>
            <a:endParaRPr dirty="0"/>
          </a:p>
          <a:p>
            <a:pPr lvl="1" algn="just">
              <a:lnSpc>
                <a:spcPct val="150000"/>
              </a:lnSpc>
              <a:spcBef>
                <a:spcPts val="600"/>
              </a:spcBef>
              <a:defRPr sz="2200" b="1">
                <a:latin typeface="Roboto"/>
                <a:ea typeface="Roboto"/>
                <a:cs typeface="Roboto"/>
                <a:sym typeface="Roboto"/>
              </a:defRPr>
            </a:pPr>
            <a:endParaRPr dirty="0"/>
          </a:p>
          <a:p>
            <a:pPr marL="514350" indent="-514350" algn="just">
              <a:lnSpc>
                <a:spcPct val="150000"/>
              </a:lnSpc>
              <a:spcBef>
                <a:spcPts val="600"/>
              </a:spcBef>
              <a:buSzPct val="100000"/>
              <a:buAutoNum type="romanUcPeriod" startAt="2"/>
              <a:defRPr sz="2200" b="1">
                <a:latin typeface="Roboto"/>
                <a:ea typeface="Roboto"/>
                <a:cs typeface="Roboto"/>
                <a:sym typeface="Roboto"/>
              </a:defRPr>
            </a:pPr>
            <a:r>
              <a:rPr dirty="0"/>
              <a:t>Data Visualization and Manipulation with Bandage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236" name="TextBox 22"/>
          <p:cNvSpPr txBox="1"/>
          <p:nvPr/>
        </p:nvSpPr>
        <p:spPr>
          <a:xfrm>
            <a:off x="4777083" y="2960434"/>
            <a:ext cx="2716015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 marL="857250" indent="-857250">
              <a:lnSpc>
                <a:spcPct val="105999"/>
              </a:lnSpc>
              <a:spcBef>
                <a:spcPts val="600"/>
              </a:spcBef>
              <a:buSzPct val="100000"/>
              <a:buAutoNum type="romanUcPeriod"/>
              <a:defRPr sz="4000" b="1" spc="79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Theory</a:t>
            </a:r>
          </a:p>
        </p:txBody>
      </p:sp>
      <p:sp>
        <p:nvSpPr>
          <p:cNvPr id="237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95820" y="6540817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b="1"/>
            </a:lvl1pPr>
          </a:lstStyle>
          <a:p>
            <a:fld id="{86CB4B4D-7CA3-9044-876B-883B54F8677D}" type="slidenum">
              <a:rPr/>
              <a:t>5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240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95820" y="6540817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241" name="TextBox 11"/>
          <p:cNvSpPr txBox="1"/>
          <p:nvPr/>
        </p:nvSpPr>
        <p:spPr>
          <a:xfrm>
            <a:off x="980049" y="2100579"/>
            <a:ext cx="11166231" cy="2656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342900" indent="-342900">
              <a:lnSpc>
                <a:spcPct val="200000"/>
              </a:lnSpc>
              <a:spcBef>
                <a:spcPts val="600"/>
              </a:spcBef>
              <a:buSzPct val="100000"/>
              <a:buChar char="▪"/>
              <a:defRPr sz="3200">
                <a:latin typeface="Roboto"/>
                <a:ea typeface="Roboto"/>
                <a:cs typeface="Roboto"/>
                <a:sym typeface="Roboto"/>
              </a:defRPr>
            </a:pPr>
            <a:r>
              <a:rPr dirty="0"/>
              <a:t>Contiguity : N50, Number of Contigs</a:t>
            </a:r>
          </a:p>
          <a:p>
            <a:pPr marL="342900" indent="-342900">
              <a:lnSpc>
                <a:spcPct val="200000"/>
              </a:lnSpc>
              <a:spcBef>
                <a:spcPts val="600"/>
              </a:spcBef>
              <a:buSzPct val="100000"/>
              <a:buChar char="▪"/>
              <a:defRPr sz="3200">
                <a:latin typeface="Roboto"/>
                <a:ea typeface="Roboto"/>
                <a:cs typeface="Roboto"/>
                <a:sym typeface="Roboto"/>
              </a:defRPr>
            </a:pPr>
            <a:r>
              <a:rPr dirty="0"/>
              <a:t>Completeness: Estimated Genome Size</a:t>
            </a:r>
          </a:p>
          <a:p>
            <a:pPr marL="342900" indent="-342900">
              <a:lnSpc>
                <a:spcPct val="200000"/>
              </a:lnSpc>
              <a:spcBef>
                <a:spcPts val="600"/>
              </a:spcBef>
              <a:buSzPct val="100000"/>
              <a:buChar char="▪"/>
              <a:defRPr sz="3200">
                <a:latin typeface="Roboto"/>
                <a:ea typeface="Roboto"/>
                <a:cs typeface="Roboto"/>
                <a:sym typeface="Roboto"/>
              </a:defRPr>
            </a:pPr>
            <a:r>
              <a:rPr dirty="0"/>
              <a:t>Contamination: SH index</a:t>
            </a:r>
          </a:p>
        </p:txBody>
      </p:sp>
      <p:sp>
        <p:nvSpPr>
          <p:cNvPr id="242" name="TextBox 14"/>
          <p:cNvSpPr txBox="1"/>
          <p:nvPr/>
        </p:nvSpPr>
        <p:spPr>
          <a:xfrm>
            <a:off x="424995" y="234672"/>
            <a:ext cx="1047738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2200" b="1" spc="79">
                <a:solidFill>
                  <a:srgbClr val="5F8FB3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Theory</a:t>
            </a:r>
          </a:p>
        </p:txBody>
      </p:sp>
      <p:sp>
        <p:nvSpPr>
          <p:cNvPr id="243" name="TextBox 15"/>
          <p:cNvSpPr txBox="1"/>
          <p:nvPr/>
        </p:nvSpPr>
        <p:spPr>
          <a:xfrm>
            <a:off x="420988" y="566323"/>
            <a:ext cx="9728945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81000"/>
              </a:lnSpc>
              <a:spcBef>
                <a:spcPts val="600"/>
              </a:spcBef>
              <a:defRPr sz="4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Quality/Contamination Assessment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1" grpId="1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246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95820" y="6540817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sp>
        <p:nvSpPr>
          <p:cNvPr id="247" name="TextBox 11"/>
          <p:cNvSpPr txBox="1"/>
          <p:nvPr/>
        </p:nvSpPr>
        <p:spPr>
          <a:xfrm>
            <a:off x="588721" y="1601148"/>
            <a:ext cx="11150277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  <a:defRPr sz="2000" b="1">
                <a:latin typeface="Roboto"/>
                <a:ea typeface="Roboto"/>
                <a:cs typeface="Roboto"/>
                <a:sym typeface="Roboto"/>
              </a:defRPr>
            </a:pPr>
            <a:r>
              <a:t>Definition</a:t>
            </a:r>
            <a:r>
              <a:rPr b="0"/>
              <a:t>: 50% of the total assembly size is contained in contigs of that length or longer</a:t>
            </a:r>
          </a:p>
        </p:txBody>
      </p:sp>
      <p:sp>
        <p:nvSpPr>
          <p:cNvPr id="248" name="TextBox 14"/>
          <p:cNvSpPr txBox="1"/>
          <p:nvPr/>
        </p:nvSpPr>
        <p:spPr>
          <a:xfrm>
            <a:off x="424995" y="241022"/>
            <a:ext cx="1047738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2200" b="1" spc="79">
                <a:solidFill>
                  <a:srgbClr val="5F8FB3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Quality/Contamination Assessment</a:t>
            </a:r>
          </a:p>
        </p:txBody>
      </p:sp>
      <p:sp>
        <p:nvSpPr>
          <p:cNvPr id="249" name="TextBox 15"/>
          <p:cNvSpPr txBox="1"/>
          <p:nvPr/>
        </p:nvSpPr>
        <p:spPr>
          <a:xfrm>
            <a:off x="420988" y="572673"/>
            <a:ext cx="9728945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50000"/>
              </a:lnSpc>
              <a:spcBef>
                <a:spcPts val="600"/>
              </a:spcBef>
              <a:defRPr sz="4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Contiguity: N50 value</a:t>
            </a:r>
          </a:p>
        </p:txBody>
      </p:sp>
      <p:sp>
        <p:nvSpPr>
          <p:cNvPr id="250" name="TextBox 5"/>
          <p:cNvSpPr txBox="1"/>
          <p:nvPr/>
        </p:nvSpPr>
        <p:spPr>
          <a:xfrm>
            <a:off x="3216373" y="4581566"/>
            <a:ext cx="5779425" cy="3133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600" b="1">
                <a:latin typeface="Arial"/>
                <a:ea typeface="Arial"/>
                <a:cs typeface="Arial"/>
                <a:sym typeface="Arial"/>
              </a:defRPr>
            </a:pPr>
            <a:r>
              <a:t> N50 value </a:t>
            </a:r>
            <a:r>
              <a:rPr b="0" i="1"/>
              <a:t>(10.1371/journal.pcbi.1010752)  </a:t>
            </a:r>
          </a:p>
        </p:txBody>
      </p:sp>
      <p:pic>
        <p:nvPicPr>
          <p:cNvPr id="251" name="Content Placeholder 5" descr="Content Placeholder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40" y="2697844"/>
            <a:ext cx="10515601" cy="1741187"/>
          </a:xfrm>
          <a:prstGeom prst="rect">
            <a:avLst/>
          </a:prstGeom>
          <a:ln w="12700">
            <a:miter lim="400000"/>
          </a:ln>
        </p:spPr>
      </p:pic>
      <p:sp>
        <p:nvSpPr>
          <p:cNvPr id="252" name="Title 1"/>
          <p:cNvSpPr txBox="1"/>
          <p:nvPr/>
        </p:nvSpPr>
        <p:spPr>
          <a:xfrm>
            <a:off x="745760" y="5120030"/>
            <a:ext cx="1085428" cy="561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>
            <a:lvl1pPr>
              <a:lnSpc>
                <a:spcPct val="90000"/>
              </a:lnSpc>
              <a:defRPr sz="2000" b="1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N50 = 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7" grpId="1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255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95820" y="6540817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256" name="TextBox 11"/>
          <p:cNvSpPr txBox="1"/>
          <p:nvPr/>
        </p:nvSpPr>
        <p:spPr>
          <a:xfrm>
            <a:off x="588721" y="1601148"/>
            <a:ext cx="11150277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  <a:defRPr sz="2000" b="1">
                <a:latin typeface="Roboto"/>
                <a:ea typeface="Roboto"/>
                <a:cs typeface="Roboto"/>
                <a:sym typeface="Roboto"/>
              </a:defRPr>
            </a:pPr>
            <a:r>
              <a:t>Definition</a:t>
            </a:r>
            <a:r>
              <a:rPr b="0"/>
              <a:t>: 50% of the total assembly size is contained in contigs of that length or longer</a:t>
            </a:r>
          </a:p>
        </p:txBody>
      </p:sp>
      <p:sp>
        <p:nvSpPr>
          <p:cNvPr id="257" name="TextBox 14"/>
          <p:cNvSpPr txBox="1"/>
          <p:nvPr/>
        </p:nvSpPr>
        <p:spPr>
          <a:xfrm>
            <a:off x="424995" y="241022"/>
            <a:ext cx="1047738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2200" b="1" spc="79">
                <a:solidFill>
                  <a:srgbClr val="5F8FB3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Quality/Contamination Assessment</a:t>
            </a:r>
          </a:p>
        </p:txBody>
      </p:sp>
      <p:sp>
        <p:nvSpPr>
          <p:cNvPr id="258" name="TextBox 15"/>
          <p:cNvSpPr txBox="1"/>
          <p:nvPr/>
        </p:nvSpPr>
        <p:spPr>
          <a:xfrm>
            <a:off x="420988" y="572673"/>
            <a:ext cx="9728945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50000"/>
              </a:lnSpc>
              <a:spcBef>
                <a:spcPts val="600"/>
              </a:spcBef>
              <a:defRPr sz="4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Contiguity: N50 value</a:t>
            </a:r>
          </a:p>
        </p:txBody>
      </p:sp>
      <p:sp>
        <p:nvSpPr>
          <p:cNvPr id="259" name="Title 1"/>
          <p:cNvSpPr txBox="1"/>
          <p:nvPr/>
        </p:nvSpPr>
        <p:spPr>
          <a:xfrm>
            <a:off x="769901" y="4680015"/>
            <a:ext cx="6311848" cy="591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pPr>
              <a:lnSpc>
                <a:spcPct val="90000"/>
              </a:lnSpc>
              <a:defRPr sz="2000">
                <a:latin typeface="Roboto"/>
                <a:ea typeface="Roboto"/>
                <a:cs typeface="Roboto"/>
                <a:sym typeface="Roboto"/>
              </a:defRPr>
            </a:pPr>
            <a:r>
              <a:t>Total length: 10 + 20 + 20 + 30 + 50 + 70 + 120 = </a:t>
            </a:r>
            <a:r>
              <a:rPr b="1"/>
              <a:t>320</a:t>
            </a:r>
          </a:p>
        </p:txBody>
      </p:sp>
      <p:sp>
        <p:nvSpPr>
          <p:cNvPr id="260" name="TextBox 35"/>
          <p:cNvSpPr txBox="1"/>
          <p:nvPr/>
        </p:nvSpPr>
        <p:spPr>
          <a:xfrm>
            <a:off x="775018" y="5369695"/>
            <a:ext cx="1490815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000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50% = 160</a:t>
            </a:r>
          </a:p>
        </p:txBody>
      </p:sp>
      <p:sp>
        <p:nvSpPr>
          <p:cNvPr id="261" name="TextBox 36"/>
          <p:cNvSpPr txBox="1"/>
          <p:nvPr/>
        </p:nvSpPr>
        <p:spPr>
          <a:xfrm>
            <a:off x="775018" y="5994301"/>
            <a:ext cx="4897773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000" b="1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What is the N50 value of Strain A?</a:t>
            </a:r>
          </a:p>
        </p:txBody>
      </p:sp>
      <p:grpSp>
        <p:nvGrpSpPr>
          <p:cNvPr id="264" name="Group 65"/>
          <p:cNvGrpSpPr/>
          <p:nvPr/>
        </p:nvGrpSpPr>
        <p:grpSpPr>
          <a:xfrm>
            <a:off x="2096174" y="2345243"/>
            <a:ext cx="5477343" cy="565893"/>
            <a:chOff x="0" y="0"/>
            <a:chExt cx="5477342" cy="565892"/>
          </a:xfrm>
        </p:grpSpPr>
        <p:sp>
          <p:nvSpPr>
            <p:cNvPr id="262" name="Right Bracket 57"/>
            <p:cNvSpPr/>
            <p:nvPr/>
          </p:nvSpPr>
          <p:spPr>
            <a:xfrm rot="5400000" flipH="1">
              <a:off x="2685264" y="-2226187"/>
              <a:ext cx="106815" cy="547734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cubicBezTo>
                    <a:pt x="11929" y="0"/>
                    <a:pt x="21600" y="16"/>
                    <a:pt x="21600" y="35"/>
                  </a:cubicBezTo>
                  <a:lnTo>
                    <a:pt x="21600" y="21565"/>
                  </a:lnTo>
                  <a:cubicBezTo>
                    <a:pt x="21600" y="21584"/>
                    <a:pt x="11929" y="21600"/>
                    <a:pt x="0" y="21600"/>
                  </a:cubicBezTo>
                </a:path>
              </a:pathLst>
            </a:custGeom>
            <a:noFill/>
            <a:ln w="1905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63" name="TextBox 58"/>
            <p:cNvSpPr txBox="1"/>
            <p:nvPr/>
          </p:nvSpPr>
          <p:spPr>
            <a:xfrm>
              <a:off x="1493609" y="0"/>
              <a:ext cx="254727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>
                <a:defRPr sz="1600">
                  <a:latin typeface="Roboto"/>
                  <a:ea typeface="Roboto"/>
                  <a:cs typeface="Roboto"/>
                  <a:sym typeface="Roboto"/>
                </a:defRPr>
              </a:pPr>
              <a:r>
                <a:t>Length = 200 </a:t>
              </a:r>
              <a:r>
                <a:rPr>
                  <a:latin typeface="Wingdings"/>
                  <a:ea typeface="Wingdings"/>
                  <a:cs typeface="Wingdings"/>
                  <a:sym typeface="Wingdings"/>
                </a:rPr>
                <a:t></a:t>
              </a:r>
              <a:r>
                <a:rPr b="1"/>
                <a:t> N50 = 70</a:t>
              </a:r>
            </a:p>
          </p:txBody>
        </p:sp>
      </p:grpSp>
      <p:grpSp>
        <p:nvGrpSpPr>
          <p:cNvPr id="281" name="Group 64"/>
          <p:cNvGrpSpPr/>
          <p:nvPr/>
        </p:nvGrpSpPr>
        <p:grpSpPr>
          <a:xfrm>
            <a:off x="835268" y="2851604"/>
            <a:ext cx="10143912" cy="591044"/>
            <a:chOff x="0" y="0"/>
            <a:chExt cx="10143911" cy="591042"/>
          </a:xfrm>
        </p:grpSpPr>
        <p:sp>
          <p:nvSpPr>
            <p:cNvPr id="265" name="Rounded Rectangle 6"/>
            <p:cNvSpPr/>
            <p:nvPr/>
          </p:nvSpPr>
          <p:spPr>
            <a:xfrm>
              <a:off x="1124856" y="94108"/>
              <a:ext cx="272101" cy="31014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6" name="Rounded Rectangle 16"/>
            <p:cNvSpPr/>
            <p:nvPr/>
          </p:nvSpPr>
          <p:spPr>
            <a:xfrm>
              <a:off x="7922807" y="117098"/>
              <a:ext cx="2221105" cy="310142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7" name="Rounded Rectangle 18"/>
            <p:cNvSpPr/>
            <p:nvPr/>
          </p:nvSpPr>
          <p:spPr>
            <a:xfrm>
              <a:off x="1630036" y="94108"/>
              <a:ext cx="544201" cy="31014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8" name="Rounded Rectangle 19"/>
            <p:cNvSpPr/>
            <p:nvPr/>
          </p:nvSpPr>
          <p:spPr>
            <a:xfrm>
              <a:off x="3167585" y="110344"/>
              <a:ext cx="816301" cy="31014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69" name="Rounded Rectangle 20"/>
            <p:cNvSpPr/>
            <p:nvPr/>
          </p:nvSpPr>
          <p:spPr>
            <a:xfrm>
              <a:off x="2398810" y="89364"/>
              <a:ext cx="544201" cy="310141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0" name="Rounded Rectangle 21"/>
            <p:cNvSpPr/>
            <p:nvPr/>
          </p:nvSpPr>
          <p:spPr>
            <a:xfrm>
              <a:off x="4208459" y="110343"/>
              <a:ext cx="1360501" cy="31014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71" name="Rounded Rectangle 24"/>
            <p:cNvSpPr/>
            <p:nvPr/>
          </p:nvSpPr>
          <p:spPr>
            <a:xfrm>
              <a:off x="5793533" y="112214"/>
              <a:ext cx="1904701" cy="310141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80" name="Group 63"/>
            <p:cNvGrpSpPr/>
            <p:nvPr/>
          </p:nvGrpSpPr>
          <p:grpSpPr>
            <a:xfrm>
              <a:off x="-1" y="0"/>
              <a:ext cx="9346357" cy="591043"/>
              <a:chOff x="0" y="0"/>
              <a:chExt cx="9346355" cy="591042"/>
            </a:xfrm>
          </p:grpSpPr>
          <p:sp>
            <p:nvSpPr>
              <p:cNvPr id="272" name="Title 1"/>
              <p:cNvSpPr txBox="1"/>
              <p:nvPr/>
            </p:nvSpPr>
            <p:spPr>
              <a:xfrm>
                <a:off x="1072058" y="153503"/>
                <a:ext cx="420166" cy="3101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normAutofit/>
              </a:bodyPr>
              <a:lstStyle>
                <a:lvl1pPr defTabSz="749808">
                  <a:lnSpc>
                    <a:spcPct val="72000"/>
                  </a:lnSpc>
                  <a:defRPr sz="1476" b="1">
                    <a:latin typeface="Roboto"/>
                    <a:ea typeface="Roboto"/>
                    <a:cs typeface="Roboto"/>
                    <a:sym typeface="Roboto"/>
                  </a:defRPr>
                </a:lvl1pPr>
              </a:lstStyle>
              <a:p>
                <a:r>
                  <a:t>10</a:t>
                </a:r>
              </a:p>
            </p:txBody>
          </p:sp>
          <p:sp>
            <p:nvSpPr>
              <p:cNvPr id="273" name="Title 1"/>
              <p:cNvSpPr txBox="1"/>
              <p:nvPr/>
            </p:nvSpPr>
            <p:spPr>
              <a:xfrm>
                <a:off x="1712248" y="155939"/>
                <a:ext cx="420166" cy="3101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normAutofit/>
              </a:bodyPr>
              <a:lstStyle>
                <a:lvl1pPr defTabSz="749808">
                  <a:lnSpc>
                    <a:spcPct val="72000"/>
                  </a:lnSpc>
                  <a:defRPr sz="1476" b="1">
                    <a:latin typeface="Roboto"/>
                    <a:ea typeface="Roboto"/>
                    <a:cs typeface="Roboto"/>
                    <a:sym typeface="Roboto"/>
                  </a:defRPr>
                </a:lvl1pPr>
              </a:lstStyle>
              <a:p>
                <a:r>
                  <a:t>20</a:t>
                </a:r>
              </a:p>
            </p:txBody>
          </p:sp>
          <p:sp>
            <p:nvSpPr>
              <p:cNvPr id="274" name="Title 1"/>
              <p:cNvSpPr txBox="1"/>
              <p:nvPr/>
            </p:nvSpPr>
            <p:spPr>
              <a:xfrm>
                <a:off x="2467711" y="155939"/>
                <a:ext cx="420166" cy="3101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normAutofit/>
              </a:bodyPr>
              <a:lstStyle>
                <a:lvl1pPr defTabSz="749808">
                  <a:lnSpc>
                    <a:spcPct val="72000"/>
                  </a:lnSpc>
                  <a:defRPr sz="1476" b="1">
                    <a:latin typeface="Roboto"/>
                    <a:ea typeface="Roboto"/>
                    <a:cs typeface="Roboto"/>
                    <a:sym typeface="Roboto"/>
                  </a:defRPr>
                </a:lvl1pPr>
              </a:lstStyle>
              <a:p>
                <a:r>
                  <a:t>20</a:t>
                </a:r>
              </a:p>
            </p:txBody>
          </p:sp>
          <p:sp>
            <p:nvSpPr>
              <p:cNvPr id="275" name="Title 1"/>
              <p:cNvSpPr txBox="1"/>
              <p:nvPr/>
            </p:nvSpPr>
            <p:spPr>
              <a:xfrm>
                <a:off x="3358186" y="155939"/>
                <a:ext cx="420166" cy="3101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normAutofit/>
              </a:bodyPr>
              <a:lstStyle>
                <a:lvl1pPr defTabSz="749808">
                  <a:lnSpc>
                    <a:spcPct val="72000"/>
                  </a:lnSpc>
                  <a:defRPr sz="1476" b="1">
                    <a:latin typeface="Roboto"/>
                    <a:ea typeface="Roboto"/>
                    <a:cs typeface="Roboto"/>
                    <a:sym typeface="Roboto"/>
                  </a:defRPr>
                </a:lvl1pPr>
              </a:lstStyle>
              <a:p>
                <a:r>
                  <a:t>30</a:t>
                </a:r>
              </a:p>
            </p:txBody>
          </p:sp>
          <p:sp>
            <p:nvSpPr>
              <p:cNvPr id="276" name="Title 1"/>
              <p:cNvSpPr txBox="1"/>
              <p:nvPr/>
            </p:nvSpPr>
            <p:spPr>
              <a:xfrm>
                <a:off x="4678626" y="153503"/>
                <a:ext cx="420166" cy="3101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normAutofit/>
              </a:bodyPr>
              <a:lstStyle>
                <a:lvl1pPr defTabSz="749808">
                  <a:lnSpc>
                    <a:spcPct val="72000"/>
                  </a:lnSpc>
                  <a:defRPr sz="1476" b="1">
                    <a:latin typeface="Roboto"/>
                    <a:ea typeface="Roboto"/>
                    <a:cs typeface="Roboto"/>
                    <a:sym typeface="Roboto"/>
                  </a:defRPr>
                </a:lvl1pPr>
              </a:lstStyle>
              <a:p>
                <a:r>
                  <a:t>50</a:t>
                </a:r>
              </a:p>
            </p:txBody>
          </p:sp>
          <p:sp>
            <p:nvSpPr>
              <p:cNvPr id="277" name="Title 1"/>
              <p:cNvSpPr txBox="1"/>
              <p:nvPr/>
            </p:nvSpPr>
            <p:spPr>
              <a:xfrm>
                <a:off x="6535800" y="153503"/>
                <a:ext cx="420166" cy="3101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normAutofit/>
              </a:bodyPr>
              <a:lstStyle>
                <a:lvl1pPr defTabSz="749808">
                  <a:lnSpc>
                    <a:spcPct val="72000"/>
                  </a:lnSpc>
                  <a:defRPr sz="1476" b="1">
                    <a:latin typeface="Roboto"/>
                    <a:ea typeface="Roboto"/>
                    <a:cs typeface="Roboto"/>
                    <a:sym typeface="Roboto"/>
                  </a:defRPr>
                </a:lvl1pPr>
              </a:lstStyle>
              <a:p>
                <a:r>
                  <a:t>70</a:t>
                </a:r>
              </a:p>
            </p:txBody>
          </p:sp>
          <p:sp>
            <p:nvSpPr>
              <p:cNvPr id="278" name="Title 1"/>
              <p:cNvSpPr txBox="1"/>
              <p:nvPr/>
            </p:nvSpPr>
            <p:spPr>
              <a:xfrm>
                <a:off x="8741247" y="117098"/>
                <a:ext cx="605109" cy="346546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normAutofit/>
              </a:bodyPr>
              <a:lstStyle>
                <a:lvl1pPr defTabSz="886968">
                  <a:lnSpc>
                    <a:spcPct val="81000"/>
                  </a:lnSpc>
                  <a:defRPr sz="1746" b="1">
                    <a:latin typeface="Roboto"/>
                    <a:ea typeface="Roboto"/>
                    <a:cs typeface="Roboto"/>
                    <a:sym typeface="Roboto"/>
                  </a:defRPr>
                </a:lvl1pPr>
              </a:lstStyle>
              <a:p>
                <a:r>
                  <a:t>120</a:t>
                </a:r>
              </a:p>
            </p:txBody>
          </p:sp>
          <p:sp>
            <p:nvSpPr>
              <p:cNvPr id="279" name="Title 1"/>
              <p:cNvSpPr txBox="1"/>
              <p:nvPr/>
            </p:nvSpPr>
            <p:spPr>
              <a:xfrm>
                <a:off x="0" y="0"/>
                <a:ext cx="1490815" cy="59104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normAutofit/>
              </a:bodyPr>
              <a:lstStyle>
                <a:lvl1pPr>
                  <a:lnSpc>
                    <a:spcPct val="90000"/>
                  </a:lnSpc>
                  <a:defRPr>
                    <a:latin typeface="Roboto"/>
                    <a:ea typeface="Roboto"/>
                    <a:cs typeface="Roboto"/>
                    <a:sym typeface="Roboto"/>
                  </a:defRPr>
                </a:lvl1pPr>
              </a:lstStyle>
              <a:p>
                <a:r>
                  <a:t>Strain A</a:t>
                </a:r>
              </a:p>
            </p:txBody>
          </p:sp>
        </p:grpSp>
      </p:grpSp>
      <p:grpSp>
        <p:nvGrpSpPr>
          <p:cNvPr id="284" name="Group 70"/>
          <p:cNvGrpSpPr/>
          <p:nvPr/>
        </p:nvGrpSpPr>
        <p:grpSpPr>
          <a:xfrm>
            <a:off x="2096174" y="4081865"/>
            <a:ext cx="5477343" cy="493699"/>
            <a:chOff x="0" y="0"/>
            <a:chExt cx="5477342" cy="493698"/>
          </a:xfrm>
        </p:grpSpPr>
        <p:sp>
          <p:nvSpPr>
            <p:cNvPr id="282" name="Right Bracket 61"/>
            <p:cNvSpPr/>
            <p:nvPr/>
          </p:nvSpPr>
          <p:spPr>
            <a:xfrm rot="16200000" flipH="1">
              <a:off x="2685264" y="-2685265"/>
              <a:ext cx="106815" cy="547734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cubicBezTo>
                    <a:pt x="11929" y="0"/>
                    <a:pt x="21600" y="16"/>
                    <a:pt x="21600" y="35"/>
                  </a:cubicBezTo>
                  <a:lnTo>
                    <a:pt x="21600" y="21565"/>
                  </a:lnTo>
                  <a:cubicBezTo>
                    <a:pt x="21600" y="21584"/>
                    <a:pt x="11929" y="21600"/>
                    <a:pt x="0" y="21600"/>
                  </a:cubicBezTo>
                </a:path>
              </a:pathLst>
            </a:custGeom>
            <a:noFill/>
            <a:ln w="1905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83" name="TextBox 62"/>
            <p:cNvSpPr txBox="1"/>
            <p:nvPr/>
          </p:nvSpPr>
          <p:spPr>
            <a:xfrm>
              <a:off x="1513847" y="160958"/>
              <a:ext cx="254727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>
                <a:defRPr sz="1600">
                  <a:latin typeface="Roboto"/>
                  <a:ea typeface="Roboto"/>
                  <a:cs typeface="Roboto"/>
                  <a:sym typeface="Roboto"/>
                </a:defRPr>
              </a:pPr>
              <a:r>
                <a:t>Length = 170 </a:t>
              </a:r>
              <a:r>
                <a:rPr>
                  <a:latin typeface="Wingdings"/>
                  <a:ea typeface="Wingdings"/>
                  <a:cs typeface="Wingdings"/>
                  <a:sym typeface="Wingdings"/>
                </a:rPr>
                <a:t></a:t>
              </a:r>
              <a:r>
                <a:rPr b="1"/>
                <a:t> N50 = 30</a:t>
              </a:r>
            </a:p>
          </p:txBody>
        </p:sp>
      </p:grpSp>
      <p:grpSp>
        <p:nvGrpSpPr>
          <p:cNvPr id="302" name="Group 68"/>
          <p:cNvGrpSpPr/>
          <p:nvPr/>
        </p:nvGrpSpPr>
        <p:grpSpPr>
          <a:xfrm>
            <a:off x="852588" y="3624962"/>
            <a:ext cx="10126592" cy="591044"/>
            <a:chOff x="0" y="0"/>
            <a:chExt cx="10126591" cy="591042"/>
          </a:xfrm>
        </p:grpSpPr>
        <p:sp>
          <p:nvSpPr>
            <p:cNvPr id="285" name="Rounded Rectangle 37"/>
            <p:cNvSpPr/>
            <p:nvPr/>
          </p:nvSpPr>
          <p:spPr>
            <a:xfrm>
              <a:off x="1107536" y="120239"/>
              <a:ext cx="272101" cy="31014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6" name="Rounded Rectangle 38"/>
            <p:cNvSpPr/>
            <p:nvPr/>
          </p:nvSpPr>
          <p:spPr>
            <a:xfrm>
              <a:off x="7154934" y="129798"/>
              <a:ext cx="2971658" cy="310142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7" name="Rounded Rectangle 39"/>
            <p:cNvSpPr/>
            <p:nvPr/>
          </p:nvSpPr>
          <p:spPr>
            <a:xfrm>
              <a:off x="1612717" y="110562"/>
              <a:ext cx="544201" cy="31014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8" name="Rounded Rectangle 40"/>
            <p:cNvSpPr/>
            <p:nvPr/>
          </p:nvSpPr>
          <p:spPr>
            <a:xfrm>
              <a:off x="3165957" y="119691"/>
              <a:ext cx="816301" cy="31014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89" name="Rounded Rectangle 41"/>
            <p:cNvSpPr/>
            <p:nvPr/>
          </p:nvSpPr>
          <p:spPr>
            <a:xfrm>
              <a:off x="2388374" y="110561"/>
              <a:ext cx="544201" cy="310141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0" name="Title 1"/>
            <p:cNvSpPr txBox="1"/>
            <p:nvPr/>
          </p:nvSpPr>
          <p:spPr>
            <a:xfrm>
              <a:off x="1054739" y="158654"/>
              <a:ext cx="420165" cy="310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/>
            </a:bodyPr>
            <a:lstStyle>
              <a:lvl1pPr defTabSz="749808">
                <a:lnSpc>
                  <a:spcPct val="72000"/>
                </a:lnSpc>
                <a:defRPr sz="1476" b="1">
                  <a:latin typeface="Roboto"/>
                  <a:ea typeface="Roboto"/>
                  <a:cs typeface="Roboto"/>
                  <a:sym typeface="Roboto"/>
                </a:defRPr>
              </a:lvl1pPr>
            </a:lstStyle>
            <a:p>
              <a:r>
                <a:t>10</a:t>
              </a:r>
            </a:p>
          </p:txBody>
        </p:sp>
        <p:sp>
          <p:nvSpPr>
            <p:cNvPr id="291" name="Rounded Rectangle 51"/>
            <p:cNvSpPr/>
            <p:nvPr/>
          </p:nvSpPr>
          <p:spPr>
            <a:xfrm>
              <a:off x="4184495" y="129799"/>
              <a:ext cx="816301" cy="310141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2" name="Rounded Rectangle 52"/>
            <p:cNvSpPr/>
            <p:nvPr/>
          </p:nvSpPr>
          <p:spPr>
            <a:xfrm>
              <a:off x="5177843" y="126096"/>
              <a:ext cx="816301" cy="310141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3" name="Rounded Rectangle 53"/>
            <p:cNvSpPr/>
            <p:nvPr/>
          </p:nvSpPr>
          <p:spPr>
            <a:xfrm>
              <a:off x="6171191" y="122393"/>
              <a:ext cx="816301" cy="31014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4" name="Title 1"/>
            <p:cNvSpPr txBox="1"/>
            <p:nvPr/>
          </p:nvSpPr>
          <p:spPr>
            <a:xfrm>
              <a:off x="0" y="0"/>
              <a:ext cx="1490814" cy="5910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/>
            </a:bodyPr>
            <a:lstStyle>
              <a:lvl1pPr>
                <a:lnSpc>
                  <a:spcPct val="90000"/>
                </a:lnSpc>
                <a:defRPr>
                  <a:latin typeface="Roboto"/>
                  <a:ea typeface="Roboto"/>
                  <a:cs typeface="Roboto"/>
                  <a:sym typeface="Roboto"/>
                </a:defRPr>
              </a:lvl1pPr>
            </a:lstStyle>
            <a:p>
              <a:r>
                <a:t>Strain B</a:t>
              </a:r>
            </a:p>
          </p:txBody>
        </p:sp>
        <p:sp>
          <p:nvSpPr>
            <p:cNvPr id="295" name="Title 1"/>
            <p:cNvSpPr txBox="1"/>
            <p:nvPr/>
          </p:nvSpPr>
          <p:spPr>
            <a:xfrm>
              <a:off x="1690416" y="159879"/>
              <a:ext cx="420165" cy="310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/>
            </a:bodyPr>
            <a:lstStyle>
              <a:lvl1pPr defTabSz="749808">
                <a:lnSpc>
                  <a:spcPct val="72000"/>
                </a:lnSpc>
                <a:defRPr sz="1476" b="1">
                  <a:latin typeface="Roboto"/>
                  <a:ea typeface="Roboto"/>
                  <a:cs typeface="Roboto"/>
                  <a:sym typeface="Roboto"/>
                </a:defRPr>
              </a:lvl1pPr>
            </a:lstStyle>
            <a:p>
              <a:r>
                <a:t>20</a:t>
              </a:r>
            </a:p>
          </p:txBody>
        </p:sp>
        <p:sp>
          <p:nvSpPr>
            <p:cNvPr id="296" name="Title 1"/>
            <p:cNvSpPr txBox="1"/>
            <p:nvPr/>
          </p:nvSpPr>
          <p:spPr>
            <a:xfrm>
              <a:off x="2445879" y="159879"/>
              <a:ext cx="420165" cy="310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/>
            </a:bodyPr>
            <a:lstStyle>
              <a:lvl1pPr defTabSz="749808">
                <a:lnSpc>
                  <a:spcPct val="72000"/>
                </a:lnSpc>
                <a:defRPr sz="1476" b="1">
                  <a:latin typeface="Roboto"/>
                  <a:ea typeface="Roboto"/>
                  <a:cs typeface="Roboto"/>
                  <a:sym typeface="Roboto"/>
                </a:defRPr>
              </a:lvl1pPr>
            </a:lstStyle>
            <a:p>
              <a:r>
                <a:t>20</a:t>
              </a:r>
            </a:p>
          </p:txBody>
        </p:sp>
        <p:sp>
          <p:nvSpPr>
            <p:cNvPr id="297" name="Title 1"/>
            <p:cNvSpPr txBox="1"/>
            <p:nvPr/>
          </p:nvSpPr>
          <p:spPr>
            <a:xfrm>
              <a:off x="3324712" y="153167"/>
              <a:ext cx="420165" cy="310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/>
            </a:bodyPr>
            <a:lstStyle>
              <a:lvl1pPr defTabSz="749808">
                <a:lnSpc>
                  <a:spcPct val="72000"/>
                </a:lnSpc>
                <a:defRPr sz="1476" b="1">
                  <a:latin typeface="Roboto"/>
                  <a:ea typeface="Roboto"/>
                  <a:cs typeface="Roboto"/>
                  <a:sym typeface="Roboto"/>
                </a:defRPr>
              </a:lvl1pPr>
            </a:lstStyle>
            <a:p>
              <a:r>
                <a:t>30</a:t>
              </a:r>
            </a:p>
          </p:txBody>
        </p:sp>
        <p:sp>
          <p:nvSpPr>
            <p:cNvPr id="298" name="Title 1"/>
            <p:cNvSpPr txBox="1"/>
            <p:nvPr/>
          </p:nvSpPr>
          <p:spPr>
            <a:xfrm>
              <a:off x="4395205" y="167741"/>
              <a:ext cx="420165" cy="310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/>
            </a:bodyPr>
            <a:lstStyle>
              <a:lvl1pPr defTabSz="749808">
                <a:lnSpc>
                  <a:spcPct val="72000"/>
                </a:lnSpc>
                <a:defRPr sz="1476" b="1">
                  <a:latin typeface="Roboto"/>
                  <a:ea typeface="Roboto"/>
                  <a:cs typeface="Roboto"/>
                  <a:sym typeface="Roboto"/>
                </a:defRPr>
              </a:lvl1pPr>
            </a:lstStyle>
            <a:p>
              <a:r>
                <a:t>30</a:t>
              </a:r>
            </a:p>
          </p:txBody>
        </p:sp>
        <p:sp>
          <p:nvSpPr>
            <p:cNvPr id="299" name="Title 1"/>
            <p:cNvSpPr txBox="1"/>
            <p:nvPr/>
          </p:nvSpPr>
          <p:spPr>
            <a:xfrm>
              <a:off x="5371108" y="167741"/>
              <a:ext cx="420165" cy="310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/>
            </a:bodyPr>
            <a:lstStyle>
              <a:lvl1pPr defTabSz="749808">
                <a:lnSpc>
                  <a:spcPct val="72000"/>
                </a:lnSpc>
                <a:defRPr sz="1476" b="1">
                  <a:latin typeface="Roboto"/>
                  <a:ea typeface="Roboto"/>
                  <a:cs typeface="Roboto"/>
                  <a:sym typeface="Roboto"/>
                </a:defRPr>
              </a:lvl1pPr>
            </a:lstStyle>
            <a:p>
              <a:r>
                <a:t>30</a:t>
              </a:r>
            </a:p>
          </p:txBody>
        </p:sp>
        <p:sp>
          <p:nvSpPr>
            <p:cNvPr id="300" name="Title 1"/>
            <p:cNvSpPr txBox="1"/>
            <p:nvPr/>
          </p:nvSpPr>
          <p:spPr>
            <a:xfrm>
              <a:off x="6402588" y="167741"/>
              <a:ext cx="420165" cy="3101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/>
            </a:bodyPr>
            <a:lstStyle>
              <a:lvl1pPr defTabSz="749808">
                <a:lnSpc>
                  <a:spcPct val="72000"/>
                </a:lnSpc>
                <a:defRPr sz="1476" b="1">
                  <a:latin typeface="Roboto"/>
                  <a:ea typeface="Roboto"/>
                  <a:cs typeface="Roboto"/>
                  <a:sym typeface="Roboto"/>
                </a:defRPr>
              </a:lvl1pPr>
            </a:lstStyle>
            <a:p>
              <a:r>
                <a:t>30</a:t>
              </a:r>
            </a:p>
          </p:txBody>
        </p:sp>
        <p:sp>
          <p:nvSpPr>
            <p:cNvPr id="301" name="Title 1"/>
            <p:cNvSpPr txBox="1"/>
            <p:nvPr/>
          </p:nvSpPr>
          <p:spPr>
            <a:xfrm>
              <a:off x="8338208" y="134964"/>
              <a:ext cx="605108" cy="3465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/>
            </a:bodyPr>
            <a:lstStyle>
              <a:lvl1pPr defTabSz="886968">
                <a:lnSpc>
                  <a:spcPct val="81000"/>
                </a:lnSpc>
                <a:defRPr sz="1746" b="1">
                  <a:latin typeface="Roboto"/>
                  <a:ea typeface="Roboto"/>
                  <a:cs typeface="Roboto"/>
                  <a:sym typeface="Roboto"/>
                </a:defRPr>
              </a:lvl1pPr>
            </a:lstStyle>
            <a:p>
              <a:r>
                <a:t>150</a:t>
              </a:r>
            </a:p>
          </p:txBody>
        </p:sp>
      </p:grpSp>
      <p:sp>
        <p:nvSpPr>
          <p:cNvPr id="303" name="TextBox 71"/>
          <p:cNvSpPr txBox="1"/>
          <p:nvPr/>
        </p:nvSpPr>
        <p:spPr>
          <a:xfrm>
            <a:off x="5733930" y="5994301"/>
            <a:ext cx="4897773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000" b="1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Which strain has better assembly quality?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" grpId="1" animBg="1" advAuto="0"/>
      <p:bldP spid="259" grpId="3" animBg="1" advAuto="0"/>
      <p:bldP spid="260" grpId="4" animBg="1" advAuto="0"/>
      <p:bldP spid="261" grpId="5" animBg="1" advAuto="0"/>
      <p:bldP spid="264" grpId="6" animBg="1" advAuto="0"/>
      <p:bldP spid="281" grpId="2" animBg="1" advAuto="0"/>
      <p:bldP spid="284" grpId="8" animBg="1" advAuto="0"/>
      <p:bldP spid="302" grpId="7" animBg="1" advAuto="0"/>
      <p:bldP spid="303" grpId="9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306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95820" y="6540817"/>
            <a:ext cx="188898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307" name="TextBox 3"/>
          <p:cNvSpPr txBox="1"/>
          <p:nvPr/>
        </p:nvSpPr>
        <p:spPr>
          <a:xfrm>
            <a:off x="424995" y="234672"/>
            <a:ext cx="1047738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2200" b="1" spc="79">
                <a:solidFill>
                  <a:srgbClr val="5F8FB3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Quality/Contamination Assessment</a:t>
            </a:r>
          </a:p>
        </p:txBody>
      </p:sp>
      <p:sp>
        <p:nvSpPr>
          <p:cNvPr id="308" name="TextBox 4"/>
          <p:cNvSpPr txBox="1"/>
          <p:nvPr/>
        </p:nvSpPr>
        <p:spPr>
          <a:xfrm>
            <a:off x="420988" y="566323"/>
            <a:ext cx="10952141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81000"/>
              </a:lnSpc>
              <a:spcBef>
                <a:spcPts val="600"/>
              </a:spcBef>
              <a:defRPr sz="4000" b="1" spc="79">
                <a:solidFill>
                  <a:srgbClr val="020D26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Completeness: Estimated Genome Size (%)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9" name="TextBox 9"/>
              <p:cNvSpPr txBox="1"/>
              <p:nvPr/>
            </p:nvSpPr>
            <p:spPr>
              <a:xfrm>
                <a:off x="8573636" y="3994741"/>
                <a:ext cx="2711420" cy="597409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latinLnBrk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𝐀𝐬𝐬𝐞𝐦𝐛𝐥𝐞𝐝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𝐠𝐞𝐧𝐨𝐦𝐞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𝐬𝐢𝐳𝐞</m:t>
                          </m:r>
                        </m:num>
                        <m:den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𝐄𝐬𝐭𝐢𝐦𝐚𝐭𝐞𝐝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𝐠𝐞𝐧𝐨𝐦𝐞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𝐬𝐢𝐳𝐞</m:t>
                          </m:r>
                        </m:den>
                      </m:f>
                    </m:oMath>
                  </m:oMathPara>
                </a14:m>
                <a:endParaRPr sz="2000"/>
              </a:p>
            </p:txBody>
          </p:sp>
        </mc:Choice>
        <mc:Fallback xmlns="">
          <p:sp>
            <p:nvSpPr>
              <p:cNvPr id="309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3636" y="3994741"/>
                <a:ext cx="2711420" cy="597409"/>
              </a:xfrm>
              <a:prstGeom prst="rect">
                <a:avLst/>
              </a:prstGeom>
              <a:blipFill>
                <a:blip r:embed="rId2"/>
                <a:stretch>
                  <a:fillRect l="-3256" t="-8333" r="-7907" b="-27083"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0" name="TextBox 12"/>
          <p:cNvSpPr txBox="1"/>
          <p:nvPr/>
        </p:nvSpPr>
        <p:spPr>
          <a:xfrm>
            <a:off x="588721" y="1601148"/>
            <a:ext cx="11150277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000" b="1"/>
            </a:pPr>
            <a:r>
              <a:t>Definition</a:t>
            </a:r>
            <a:r>
              <a:rPr b="0"/>
              <a:t>: </a:t>
            </a:r>
            <a:r>
              <a:rPr b="0">
                <a:latin typeface="Roboto"/>
                <a:ea typeface="Roboto"/>
                <a:cs typeface="Roboto"/>
                <a:sym typeface="Roboto"/>
              </a:rPr>
              <a:t>percentage</a:t>
            </a:r>
            <a:r>
              <a:rPr b="0"/>
              <a:t> of the organism’s total genome that is present in the assembly</a:t>
            </a:r>
          </a:p>
        </p:txBody>
      </p:sp>
      <p:pic>
        <p:nvPicPr>
          <p:cNvPr id="311" name="Picture 24" descr="Picture 24"/>
          <p:cNvPicPr>
            <a:picLocks noChangeAspect="1"/>
          </p:cNvPicPr>
          <p:nvPr/>
        </p:nvPicPr>
        <p:blipFill>
          <a:blip r:embed="rId3"/>
          <a:srcRect t="11825" b="20740"/>
          <a:stretch>
            <a:fillRect/>
          </a:stretch>
        </p:blipFill>
        <p:spPr>
          <a:xfrm>
            <a:off x="593801" y="2491167"/>
            <a:ext cx="7772401" cy="2858874"/>
          </a:xfrm>
          <a:prstGeom prst="rect">
            <a:avLst/>
          </a:prstGeom>
          <a:ln w="12700">
            <a:miter lim="400000"/>
          </a:ln>
        </p:spPr>
      </p:pic>
      <p:sp>
        <p:nvSpPr>
          <p:cNvPr id="312" name="TextBox 25"/>
          <p:cNvSpPr txBox="1"/>
          <p:nvPr/>
        </p:nvSpPr>
        <p:spPr>
          <a:xfrm>
            <a:off x="639520" y="5682455"/>
            <a:ext cx="7680960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sz="2000"/>
            </a:pPr>
            <a:r>
              <a:t>Recommend Quality Threshold - </a:t>
            </a:r>
            <a:r>
              <a:rPr b="1"/>
              <a:t>Completeness: &gt; 90%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0" grpId="1" animBg="1" advAuto="0"/>
      <p:bldP spid="312" grpId="2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315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11062" y="6540817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316" name="TextBox 1"/>
          <p:cNvSpPr txBox="1"/>
          <p:nvPr/>
        </p:nvSpPr>
        <p:spPr>
          <a:xfrm>
            <a:off x="424995" y="241022"/>
            <a:ext cx="1047738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2200" b="1" spc="79">
                <a:solidFill>
                  <a:srgbClr val="5F8FB3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Quality/Contamination Assessment</a:t>
            </a:r>
          </a:p>
        </p:txBody>
      </p:sp>
      <p:sp>
        <p:nvSpPr>
          <p:cNvPr id="317" name="TextBox 5"/>
          <p:cNvSpPr txBox="1"/>
          <p:nvPr/>
        </p:nvSpPr>
        <p:spPr>
          <a:xfrm>
            <a:off x="420988" y="572674"/>
            <a:ext cx="9728945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81000"/>
              </a:lnSpc>
              <a:spcBef>
                <a:spcPts val="600"/>
              </a:spcBef>
              <a:defRPr sz="4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Contamination</a:t>
            </a:r>
          </a:p>
        </p:txBody>
      </p:sp>
      <p:sp>
        <p:nvSpPr>
          <p:cNvPr id="318" name="TextBox 7"/>
          <p:cNvSpPr txBox="1"/>
          <p:nvPr/>
        </p:nvSpPr>
        <p:spPr>
          <a:xfrm>
            <a:off x="588722" y="1430667"/>
            <a:ext cx="11150277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000" b="1">
                <a:latin typeface="Roboto"/>
                <a:ea typeface="Roboto"/>
                <a:cs typeface="Roboto"/>
                <a:sym typeface="Roboto"/>
              </a:defRPr>
            </a:pPr>
            <a:r>
              <a:t>Definition</a:t>
            </a:r>
            <a:r>
              <a:rPr b="0"/>
              <a:t>: percentage of sequences that originate from organisms other than the target genome</a:t>
            </a:r>
          </a:p>
        </p:txBody>
      </p:sp>
      <p:pic>
        <p:nvPicPr>
          <p:cNvPr id="319" name="Picture 11" descr="Picture 11"/>
          <p:cNvPicPr>
            <a:picLocks noChangeAspect="1"/>
          </p:cNvPicPr>
          <p:nvPr/>
        </p:nvPicPr>
        <p:blipFill>
          <a:blip r:embed="rId2"/>
          <a:srcRect t="12919"/>
          <a:stretch>
            <a:fillRect/>
          </a:stretch>
        </p:blipFill>
        <p:spPr>
          <a:xfrm>
            <a:off x="543002" y="2041718"/>
            <a:ext cx="7772401" cy="3682864"/>
          </a:xfrm>
          <a:prstGeom prst="rect">
            <a:avLst/>
          </a:prstGeom>
          <a:ln w="12700">
            <a:miter lim="400000"/>
          </a:ln>
        </p:spPr>
      </p:pic>
      <p:sp>
        <p:nvSpPr>
          <p:cNvPr id="320" name="TextBox 12"/>
          <p:cNvSpPr txBox="1"/>
          <p:nvPr/>
        </p:nvSpPr>
        <p:spPr>
          <a:xfrm>
            <a:off x="588723" y="5824170"/>
            <a:ext cx="6859177" cy="853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defRPr sz="2000"/>
            </a:pPr>
            <a:r>
              <a:t>Recommend Quality Threshold - </a:t>
            </a:r>
            <a:r>
              <a:rPr b="1"/>
              <a:t>Contamination: &lt; 5%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" grpId="1" animBg="1" advAuto="0"/>
      <p:bldP spid="320" grpId="2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323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22299" y="6540817"/>
            <a:ext cx="262419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sp>
        <p:nvSpPr>
          <p:cNvPr id="324" name="TextBox 11"/>
          <p:cNvSpPr txBox="1"/>
          <p:nvPr/>
        </p:nvSpPr>
        <p:spPr>
          <a:xfrm>
            <a:off x="888610" y="1795779"/>
            <a:ext cx="5698957" cy="326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342900" indent="-342900">
              <a:lnSpc>
                <a:spcPct val="200000"/>
              </a:lnSpc>
              <a:spcBef>
                <a:spcPts val="600"/>
              </a:spcBef>
              <a:buSzPct val="100000"/>
              <a:buChar char="▪"/>
              <a:defRPr sz="2800">
                <a:latin typeface="Roboto"/>
                <a:ea typeface="Roboto"/>
                <a:cs typeface="Roboto"/>
                <a:sym typeface="Roboto"/>
              </a:defRPr>
            </a:pPr>
            <a:r>
              <a:t>MLST Typing</a:t>
            </a:r>
          </a:p>
          <a:p>
            <a:pPr marL="342900" indent="-342900">
              <a:lnSpc>
                <a:spcPct val="200000"/>
              </a:lnSpc>
              <a:spcBef>
                <a:spcPts val="600"/>
              </a:spcBef>
              <a:buSzPct val="100000"/>
              <a:buChar char="▪"/>
              <a:defRPr sz="2800">
                <a:latin typeface="Roboto"/>
                <a:ea typeface="Roboto"/>
                <a:cs typeface="Roboto"/>
                <a:sym typeface="Roboto"/>
              </a:defRPr>
            </a:pPr>
            <a:r>
              <a:t>Gene Content Identification (AMR/Virulence genes,…)</a:t>
            </a:r>
          </a:p>
          <a:p>
            <a:pPr marL="342900" indent="-342900">
              <a:lnSpc>
                <a:spcPct val="200000"/>
              </a:lnSpc>
              <a:spcBef>
                <a:spcPts val="600"/>
              </a:spcBef>
              <a:buSzPct val="100000"/>
              <a:buChar char="▪"/>
              <a:defRPr sz="2800">
                <a:latin typeface="Roboto"/>
                <a:ea typeface="Roboto"/>
                <a:cs typeface="Roboto"/>
                <a:sym typeface="Roboto"/>
              </a:defRPr>
            </a:pPr>
            <a:r>
              <a:t>Genome Annotation</a:t>
            </a:r>
          </a:p>
        </p:txBody>
      </p:sp>
      <p:sp>
        <p:nvSpPr>
          <p:cNvPr id="325" name="TextBox 14"/>
          <p:cNvSpPr txBox="1"/>
          <p:nvPr/>
        </p:nvSpPr>
        <p:spPr>
          <a:xfrm>
            <a:off x="424995" y="234672"/>
            <a:ext cx="1047738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2200" b="1" spc="79">
                <a:solidFill>
                  <a:srgbClr val="5F8FB3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Theory</a:t>
            </a:r>
          </a:p>
        </p:txBody>
      </p:sp>
      <p:sp>
        <p:nvSpPr>
          <p:cNvPr id="326" name="TextBox 15"/>
          <p:cNvSpPr txBox="1"/>
          <p:nvPr/>
        </p:nvSpPr>
        <p:spPr>
          <a:xfrm>
            <a:off x="420988" y="566324"/>
            <a:ext cx="9728945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4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Downstream Analysis Steps</a:t>
            </a:r>
          </a:p>
        </p:txBody>
      </p:sp>
      <p:pic>
        <p:nvPicPr>
          <p:cNvPr id="327" name="Picture 4" descr="Picture 4"/>
          <p:cNvPicPr>
            <a:picLocks noChangeAspect="1"/>
          </p:cNvPicPr>
          <p:nvPr/>
        </p:nvPicPr>
        <p:blipFill>
          <a:blip r:embed="rId2"/>
          <a:srcRect t="23338" b="18700"/>
          <a:stretch>
            <a:fillRect/>
          </a:stretch>
        </p:blipFill>
        <p:spPr>
          <a:xfrm>
            <a:off x="6633287" y="1615543"/>
            <a:ext cx="4600938" cy="397509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4" grpId="1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330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11062" y="6540817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  <p:sp>
        <p:nvSpPr>
          <p:cNvPr id="331" name="TextBox 11"/>
          <p:cNvSpPr txBox="1"/>
          <p:nvPr/>
        </p:nvSpPr>
        <p:spPr>
          <a:xfrm>
            <a:off x="588721" y="1601148"/>
            <a:ext cx="11150277" cy="1310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  <a:defRPr sz="2000" b="1">
                <a:latin typeface="Roboto"/>
                <a:ea typeface="Roboto"/>
                <a:cs typeface="Roboto"/>
                <a:sym typeface="Roboto"/>
              </a:defRPr>
            </a:pPr>
            <a:r>
              <a:t>Definition</a:t>
            </a:r>
            <a:r>
              <a:rPr b="0"/>
              <a:t>: </a:t>
            </a:r>
            <a:r>
              <a:rPr>
                <a:solidFill>
                  <a:srgbClr val="1D6F5A"/>
                </a:solidFill>
              </a:rPr>
              <a:t>A housekeeping gene</a:t>
            </a:r>
            <a:r>
              <a:rPr b="0"/>
              <a:t> is a gene that is always expressed on in bacterial cell, provides essential functions. </a:t>
            </a:r>
            <a:r>
              <a:rPr>
                <a:solidFill>
                  <a:srgbClr val="FF0000"/>
                </a:solidFill>
              </a:rPr>
              <a:t>MLST</a:t>
            </a:r>
            <a:r>
              <a:rPr b="0"/>
              <a:t> identifies a bacterial sequence type (ST) by analyzing the allelic profiles of several housekeeping genes.</a:t>
            </a:r>
          </a:p>
        </p:txBody>
      </p:sp>
      <p:sp>
        <p:nvSpPr>
          <p:cNvPr id="332" name="TextBox 14"/>
          <p:cNvSpPr txBox="1"/>
          <p:nvPr/>
        </p:nvSpPr>
        <p:spPr>
          <a:xfrm>
            <a:off x="424995" y="241022"/>
            <a:ext cx="1047738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2200" b="1" spc="79">
                <a:solidFill>
                  <a:srgbClr val="5F8FB3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Theory</a:t>
            </a:r>
          </a:p>
        </p:txBody>
      </p:sp>
      <p:sp>
        <p:nvSpPr>
          <p:cNvPr id="333" name="TextBox 15"/>
          <p:cNvSpPr txBox="1"/>
          <p:nvPr/>
        </p:nvSpPr>
        <p:spPr>
          <a:xfrm>
            <a:off x="420988" y="572673"/>
            <a:ext cx="9728945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50000"/>
              </a:lnSpc>
              <a:spcBef>
                <a:spcPts val="600"/>
              </a:spcBef>
              <a:defRPr sz="4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MLST typing</a:t>
            </a:r>
          </a:p>
        </p:txBody>
      </p:sp>
      <p:sp>
        <p:nvSpPr>
          <p:cNvPr id="334" name="TextBox 5"/>
          <p:cNvSpPr txBox="1"/>
          <p:nvPr/>
        </p:nvSpPr>
        <p:spPr>
          <a:xfrm>
            <a:off x="45719" y="5727362"/>
            <a:ext cx="5779425" cy="3133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600" b="1">
                <a:latin typeface="Arial"/>
                <a:ea typeface="Arial"/>
                <a:cs typeface="Arial"/>
                <a:sym typeface="Arial"/>
              </a:defRPr>
            </a:pPr>
            <a:r>
              <a:t> N50 value </a:t>
            </a:r>
            <a:r>
              <a:rPr b="0" i="1"/>
              <a:t>(10.1371/journal.pcbi.1010752)  </a:t>
            </a:r>
          </a:p>
        </p:txBody>
      </p:sp>
      <p:pic>
        <p:nvPicPr>
          <p:cNvPr id="335" name="Picture 8" descr="Picture 8"/>
          <p:cNvPicPr>
            <a:picLocks noChangeAspect="1"/>
          </p:cNvPicPr>
          <p:nvPr/>
        </p:nvPicPr>
        <p:blipFill>
          <a:blip r:embed="rId2"/>
          <a:srcRect l="10900"/>
          <a:stretch>
            <a:fillRect/>
          </a:stretch>
        </p:blipFill>
        <p:spPr>
          <a:xfrm>
            <a:off x="773705" y="3168674"/>
            <a:ext cx="6925201" cy="3182706"/>
          </a:xfrm>
          <a:prstGeom prst="rect">
            <a:avLst/>
          </a:prstGeom>
          <a:ln w="12700">
            <a:miter lim="400000"/>
          </a:ln>
        </p:spPr>
      </p:pic>
      <p:pic>
        <p:nvPicPr>
          <p:cNvPr id="336" name="Picture 12" descr="Picture 12"/>
          <p:cNvPicPr>
            <a:picLocks noChangeAspect="1"/>
          </p:cNvPicPr>
          <p:nvPr/>
        </p:nvPicPr>
        <p:blipFill>
          <a:blip r:embed="rId3"/>
          <a:srcRect l="19279" t="23992" r="8851" b="36663"/>
          <a:stretch>
            <a:fillRect/>
          </a:stretch>
        </p:blipFill>
        <p:spPr>
          <a:xfrm>
            <a:off x="8190617" y="3166841"/>
            <a:ext cx="3227679" cy="1327959"/>
          </a:xfrm>
          <a:prstGeom prst="rect">
            <a:avLst/>
          </a:prstGeom>
          <a:ln w="12700">
            <a:miter lim="400000"/>
          </a:ln>
        </p:spPr>
      </p:pic>
      <p:pic>
        <p:nvPicPr>
          <p:cNvPr id="337" name="Picture 13" descr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0617" y="5007068"/>
            <a:ext cx="3227679" cy="1327959"/>
          </a:xfrm>
          <a:prstGeom prst="rect">
            <a:avLst/>
          </a:prstGeom>
          <a:ln w="12700">
            <a:miter lim="400000"/>
          </a:ln>
        </p:spPr>
      </p:pic>
      <p:sp>
        <p:nvSpPr>
          <p:cNvPr id="338" name="TextBox 17"/>
          <p:cNvSpPr txBox="1"/>
          <p:nvPr/>
        </p:nvSpPr>
        <p:spPr>
          <a:xfrm>
            <a:off x="8927338" y="4575361"/>
            <a:ext cx="1754236" cy="650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MLST Schemes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1" grpId="1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341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11062" y="6540817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342" name="TextBox 14"/>
          <p:cNvSpPr txBox="1"/>
          <p:nvPr/>
        </p:nvSpPr>
        <p:spPr>
          <a:xfrm>
            <a:off x="424995" y="241022"/>
            <a:ext cx="1047738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2200" b="1" spc="79">
                <a:solidFill>
                  <a:srgbClr val="5F8FB3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Theory</a:t>
            </a:r>
          </a:p>
        </p:txBody>
      </p:sp>
      <p:sp>
        <p:nvSpPr>
          <p:cNvPr id="343" name="TextBox 15"/>
          <p:cNvSpPr txBox="1"/>
          <p:nvPr/>
        </p:nvSpPr>
        <p:spPr>
          <a:xfrm>
            <a:off x="420988" y="572673"/>
            <a:ext cx="9728945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50000"/>
              </a:lnSpc>
              <a:spcBef>
                <a:spcPts val="600"/>
              </a:spcBef>
              <a:defRPr sz="4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Gene Content Identification</a:t>
            </a:r>
          </a:p>
        </p:txBody>
      </p:sp>
      <p:sp>
        <p:nvSpPr>
          <p:cNvPr id="344" name="TextBox 5"/>
          <p:cNvSpPr txBox="1"/>
          <p:nvPr/>
        </p:nvSpPr>
        <p:spPr>
          <a:xfrm>
            <a:off x="356302" y="4824610"/>
            <a:ext cx="5779425" cy="541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600" b="1">
                <a:latin typeface="Arial"/>
                <a:ea typeface="Arial"/>
                <a:cs typeface="Arial"/>
                <a:sym typeface="Arial"/>
              </a:defRPr>
            </a:pPr>
            <a:r>
              <a:t> AMR genes in Enterobacteriaceae </a:t>
            </a:r>
            <a:r>
              <a:rPr b="0" i="1"/>
              <a:t>(https://microbenotes.com/)  </a:t>
            </a:r>
          </a:p>
        </p:txBody>
      </p:sp>
      <p:sp>
        <p:nvSpPr>
          <p:cNvPr id="345" name="Title 1"/>
          <p:cNvSpPr txBox="1"/>
          <p:nvPr/>
        </p:nvSpPr>
        <p:spPr>
          <a:xfrm>
            <a:off x="2821932" y="1412993"/>
            <a:ext cx="848168" cy="5613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>
            <a:lvl1pPr>
              <a:lnSpc>
                <a:spcPct val="90000"/>
              </a:lnSpc>
              <a:defRPr sz="2500" b="1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AMR</a:t>
            </a:r>
          </a:p>
        </p:txBody>
      </p:sp>
      <p:sp>
        <p:nvSpPr>
          <p:cNvPr id="346" name="Title 1"/>
          <p:cNvSpPr txBox="1"/>
          <p:nvPr/>
        </p:nvSpPr>
        <p:spPr>
          <a:xfrm>
            <a:off x="8113545" y="1412993"/>
            <a:ext cx="2036388" cy="5613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>
            <a:lvl1pPr>
              <a:lnSpc>
                <a:spcPct val="90000"/>
              </a:lnSpc>
              <a:defRPr sz="2800" b="1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Virulence</a:t>
            </a:r>
          </a:p>
        </p:txBody>
      </p:sp>
      <p:pic>
        <p:nvPicPr>
          <p:cNvPr id="347" name="Picture 7" descr="Picture 7"/>
          <p:cNvPicPr>
            <a:picLocks noChangeAspect="1"/>
          </p:cNvPicPr>
          <p:nvPr/>
        </p:nvPicPr>
        <p:blipFill>
          <a:blip r:embed="rId2"/>
          <a:srcRect t="12116"/>
          <a:stretch>
            <a:fillRect/>
          </a:stretch>
        </p:blipFill>
        <p:spPr>
          <a:xfrm>
            <a:off x="514538" y="2024044"/>
            <a:ext cx="5469169" cy="2515062"/>
          </a:xfrm>
          <a:prstGeom prst="rect">
            <a:avLst/>
          </a:prstGeom>
          <a:ln w="12700">
            <a:miter lim="400000"/>
          </a:ln>
        </p:spPr>
      </p:pic>
      <p:pic>
        <p:nvPicPr>
          <p:cNvPr id="3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194" y="2024045"/>
            <a:ext cx="4167187" cy="2701206"/>
          </a:xfrm>
          <a:prstGeom prst="rect">
            <a:avLst/>
          </a:prstGeom>
          <a:ln w="12700">
            <a:miter lim="400000"/>
          </a:ln>
        </p:spPr>
      </p:pic>
      <p:pic>
        <p:nvPicPr>
          <p:cNvPr id="349" name="Picture 10" descr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378" y="5535016"/>
            <a:ext cx="5197983" cy="797937"/>
          </a:xfrm>
          <a:prstGeom prst="rect">
            <a:avLst/>
          </a:prstGeom>
          <a:ln w="12700">
            <a:miter lim="400000"/>
          </a:ln>
        </p:spPr>
      </p:pic>
      <p:pic>
        <p:nvPicPr>
          <p:cNvPr id="350" name="Picture 13" descr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2100" y="5569187"/>
            <a:ext cx="2127829" cy="797937"/>
          </a:xfrm>
          <a:prstGeom prst="rect">
            <a:avLst/>
          </a:prstGeom>
          <a:ln w="12700">
            <a:miter lim="400000"/>
          </a:ln>
        </p:spPr>
      </p:pic>
      <p:sp>
        <p:nvSpPr>
          <p:cNvPr id="351" name="TextBox 16"/>
          <p:cNvSpPr txBox="1"/>
          <p:nvPr/>
        </p:nvSpPr>
        <p:spPr>
          <a:xfrm>
            <a:off x="5991657" y="4774929"/>
            <a:ext cx="5779425" cy="541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600" b="1">
                <a:latin typeface="Arial"/>
                <a:ea typeface="Arial"/>
                <a:cs typeface="Arial"/>
                <a:sym typeface="Arial"/>
              </a:defRPr>
            </a:pPr>
            <a:r>
              <a:t> Virulence factors in classical and hypervirulent Kp </a:t>
            </a:r>
            <a:r>
              <a:rPr b="0" i="1"/>
              <a:t>(</a:t>
            </a:r>
            <a:r>
              <a:rPr b="0" i="1" u="sng">
                <a:solidFill>
                  <a:srgbClr val="5D9CEC"/>
                </a:solidFill>
                <a:uFill>
                  <a:solidFill>
                    <a:srgbClr val="5D9CEC"/>
                  </a:solidFill>
                </a:uFill>
                <a:hlinkClick r:id="rId6"/>
              </a:rPr>
              <a:t>10.1128/MMBR.00078-15</a:t>
            </a:r>
            <a:r>
              <a:rPr b="0" i="1"/>
              <a:t>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354" name="TextBox 22"/>
          <p:cNvSpPr txBox="1"/>
          <p:nvPr/>
        </p:nvSpPr>
        <p:spPr>
          <a:xfrm>
            <a:off x="2059352" y="3082929"/>
            <a:ext cx="8330833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 marL="857250" indent="-857250">
              <a:lnSpc>
                <a:spcPct val="105999"/>
              </a:lnSpc>
              <a:spcBef>
                <a:spcPts val="600"/>
              </a:spcBef>
              <a:buSzPct val="100000"/>
              <a:buAutoNum type="romanUcPeriod" startAt="2"/>
              <a:defRPr sz="4000" b="1" spc="79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Practical Command-line (CLI)</a:t>
            </a:r>
          </a:p>
        </p:txBody>
      </p:sp>
      <p:sp>
        <p:nvSpPr>
          <p:cNvPr id="355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11062" y="6540817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b="1"/>
            </a:lvl1pPr>
          </a:lstStyle>
          <a:p>
            <a:fld id="{86CB4B4D-7CA3-9044-876B-883B54F8677D}" type="slidenum">
              <a:rPr/>
              <a:t>14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358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11062" y="6540817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  <p:sp>
        <p:nvSpPr>
          <p:cNvPr id="359" name="TextBox 14"/>
          <p:cNvSpPr txBox="1"/>
          <p:nvPr/>
        </p:nvSpPr>
        <p:spPr>
          <a:xfrm>
            <a:off x="424995" y="241022"/>
            <a:ext cx="10477384" cy="421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>
              <a:lnSpc>
                <a:spcPct val="105999"/>
              </a:lnSpc>
              <a:spcBef>
                <a:spcPts val="600"/>
              </a:spcBef>
              <a:defRPr sz="2200" b="1" spc="79">
                <a:solidFill>
                  <a:srgbClr val="5F8FB3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Practical Command-line (CLI)</a:t>
            </a:r>
          </a:p>
        </p:txBody>
      </p:sp>
      <p:sp>
        <p:nvSpPr>
          <p:cNvPr id="360" name="TextBox 15"/>
          <p:cNvSpPr txBox="1"/>
          <p:nvPr/>
        </p:nvSpPr>
        <p:spPr>
          <a:xfrm>
            <a:off x="420988" y="759674"/>
            <a:ext cx="12165560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  <a:defRPr sz="4000" b="1" spc="79">
                <a:latin typeface="Roboto"/>
                <a:ea typeface="Roboto"/>
                <a:cs typeface="Roboto"/>
                <a:sym typeface="Roboto"/>
              </a:defRPr>
            </a:pPr>
            <a:r>
              <a:t>Quality/Contamination Assessment – </a:t>
            </a:r>
            <a:r>
              <a:rPr>
                <a:solidFill>
                  <a:srgbClr val="116B8B"/>
                </a:solidFill>
              </a:rPr>
              <a:t>checkm2</a:t>
            </a:r>
          </a:p>
        </p:txBody>
      </p:sp>
      <p:sp>
        <p:nvSpPr>
          <p:cNvPr id="361" name="TextBox 9"/>
          <p:cNvSpPr txBox="1"/>
          <p:nvPr/>
        </p:nvSpPr>
        <p:spPr>
          <a:xfrm>
            <a:off x="833837" y="2338439"/>
            <a:ext cx="8202329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u="sng"/>
            </a:pPr>
            <a:r>
              <a:t>https://</a:t>
            </a:r>
            <a:r>
              <a:rPr>
                <a:solidFill>
                  <a:srgbClr val="FF0000"/>
                </a:solidFill>
              </a:rPr>
              <a:t>github.com</a:t>
            </a:r>
            <a:r>
              <a:t>/chklovski/CheckM2</a:t>
            </a:r>
          </a:p>
        </p:txBody>
      </p:sp>
      <p:pic>
        <p:nvPicPr>
          <p:cNvPr id="362" name="Picture 12" descr="Pictur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867" y="1652511"/>
            <a:ext cx="4522251" cy="1741188"/>
          </a:xfrm>
          <a:prstGeom prst="rect">
            <a:avLst/>
          </a:prstGeom>
          <a:ln w="12700">
            <a:miter lim="400000"/>
          </a:ln>
        </p:spPr>
      </p:pic>
      <p:sp>
        <p:nvSpPr>
          <p:cNvPr id="363" name="TextBox 13"/>
          <p:cNvSpPr txBox="1"/>
          <p:nvPr/>
        </p:nvSpPr>
        <p:spPr>
          <a:xfrm>
            <a:off x="420988" y="3765389"/>
            <a:ext cx="12165560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  <a:defRPr sz="4000" b="1" spc="79">
                <a:latin typeface="Roboto"/>
                <a:ea typeface="Roboto"/>
                <a:cs typeface="Roboto"/>
                <a:sym typeface="Roboto"/>
              </a:defRPr>
            </a:pPr>
            <a:r>
              <a:t>Gene Content Indentification– </a:t>
            </a:r>
            <a:r>
              <a:rPr>
                <a:solidFill>
                  <a:srgbClr val="116B8B"/>
                </a:solidFill>
              </a:rPr>
              <a:t>kleborate</a:t>
            </a:r>
          </a:p>
        </p:txBody>
      </p:sp>
      <p:sp>
        <p:nvSpPr>
          <p:cNvPr id="364" name="TextBox 17"/>
          <p:cNvSpPr txBox="1"/>
          <p:nvPr/>
        </p:nvSpPr>
        <p:spPr>
          <a:xfrm>
            <a:off x="793469" y="5127352"/>
            <a:ext cx="8202329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u="sng"/>
            </a:pPr>
            <a:r>
              <a:t>https://</a:t>
            </a:r>
            <a:r>
              <a:rPr>
                <a:solidFill>
                  <a:srgbClr val="FF0000"/>
                </a:solidFill>
              </a:rPr>
              <a:t>github.com</a:t>
            </a:r>
            <a:r>
              <a:t>/klebgenomics/Kleborate</a:t>
            </a:r>
          </a:p>
        </p:txBody>
      </p:sp>
      <p:pic>
        <p:nvPicPr>
          <p:cNvPr id="365" name="Picture 19" descr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867" y="4625721"/>
            <a:ext cx="4654110" cy="17265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Footer Placeholder 65"/>
          <p:cNvSpPr txBox="1"/>
          <p:nvPr/>
        </p:nvSpPr>
        <p:spPr>
          <a:xfrm>
            <a:off x="379428" y="6515417"/>
            <a:ext cx="2732149" cy="269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ctr">
            <a:spAutoFit/>
          </a:bodyPr>
          <a:lstStyle/>
          <a:p>
            <a:pPr>
              <a:defRPr sz="1200" b="1">
                <a:solidFill>
                  <a:srgbClr val="06193E"/>
                </a:solidFill>
                <a:latin typeface="Roboto"/>
                <a:ea typeface="Roboto"/>
                <a:cs typeface="Roboto"/>
                <a:sym typeface="Roboto"/>
              </a:defRPr>
            </a:pPr>
            <a:r>
              <a:t>Module 2.1: </a:t>
            </a:r>
            <a:r>
              <a:rPr>
                <a:solidFill>
                  <a:srgbClr val="000000"/>
                </a:solidFill>
              </a:rPr>
              <a:t>Post Assembly Profiling</a:t>
            </a:r>
          </a:p>
        </p:txBody>
      </p:sp>
      <p:sp>
        <p:nvSpPr>
          <p:cNvPr id="368" name="TextBox 22"/>
          <p:cNvSpPr txBox="1"/>
          <p:nvPr/>
        </p:nvSpPr>
        <p:spPr>
          <a:xfrm>
            <a:off x="1307218" y="2580120"/>
            <a:ext cx="10839062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 marL="571500" indent="-571500" algn="just">
              <a:lnSpc>
                <a:spcPct val="150000"/>
              </a:lnSpc>
              <a:spcBef>
                <a:spcPts val="600"/>
              </a:spcBef>
              <a:buSzPct val="100000"/>
              <a:buAutoNum type="romanUcPeriod" startAt="3"/>
              <a:defRPr sz="4000" b="1" spc="79"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   Data Visualization and Manipulation</a:t>
            </a:r>
          </a:p>
        </p:txBody>
      </p:sp>
      <p:sp>
        <p:nvSpPr>
          <p:cNvPr id="369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511062" y="6540817"/>
            <a:ext cx="273656" cy="26924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b="1"/>
            </a:lvl1pPr>
          </a:lstStyle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370" name="TextBox 5"/>
          <p:cNvSpPr txBox="1"/>
          <p:nvPr/>
        </p:nvSpPr>
        <p:spPr>
          <a:xfrm>
            <a:off x="3454306" y="3641029"/>
            <a:ext cx="6095707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spAutoFit/>
          </a:bodyPr>
          <a:lstStyle>
            <a:lvl1pPr algn="just">
              <a:lnSpc>
                <a:spcPct val="150000"/>
              </a:lnSpc>
              <a:spcBef>
                <a:spcPts val="600"/>
              </a:spcBef>
              <a:defRPr sz="4000" b="1">
                <a:solidFill>
                  <a:srgbClr val="A26900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Bandage / BandageNG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FE1E7">
            <a:alpha val="85098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traight Connector 6"/>
          <p:cNvSpPr/>
          <p:nvPr/>
        </p:nvSpPr>
        <p:spPr>
          <a:xfrm>
            <a:off x="4170983" y="5786306"/>
            <a:ext cx="4043916" cy="1"/>
          </a:xfrm>
          <a:prstGeom prst="line">
            <a:avLst/>
          </a:prstGeom>
          <a:ln w="22225">
            <a:solidFill>
              <a:srgbClr val="081D3E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73" name="Rectangle 3"/>
          <p:cNvSpPr txBox="1"/>
          <p:nvPr/>
        </p:nvSpPr>
        <p:spPr>
          <a:xfrm>
            <a:off x="4905821" y="700263"/>
            <a:ext cx="2556253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4000" b="1" spc="79">
                <a:solidFill>
                  <a:srgbClr val="081D3E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THE END.</a:t>
            </a:r>
          </a:p>
        </p:txBody>
      </p:sp>
      <p:sp>
        <p:nvSpPr>
          <p:cNvPr id="374" name="Rectangle 3"/>
          <p:cNvSpPr txBox="1"/>
          <p:nvPr/>
        </p:nvSpPr>
        <p:spPr>
          <a:xfrm>
            <a:off x="3434046" y="5855653"/>
            <a:ext cx="5715756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 anchor="b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2400" b="1" spc="80">
                <a:solidFill>
                  <a:srgbClr val="081D3E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Module 2.1: Post Assembly Profiling</a:t>
            </a:r>
          </a:p>
        </p:txBody>
      </p:sp>
      <p:sp>
        <p:nvSpPr>
          <p:cNvPr id="375" name="TextBox 38"/>
          <p:cNvSpPr txBox="1"/>
          <p:nvPr/>
        </p:nvSpPr>
        <p:spPr>
          <a:xfrm>
            <a:off x="3710409" y="1397053"/>
            <a:ext cx="4887552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2800" i="1" spc="100">
                <a:solidFill>
                  <a:srgbClr val="081D3E"/>
                </a:solidFill>
                <a:latin typeface="Roboto"/>
                <a:ea typeface="Roboto"/>
                <a:cs typeface="Roboto"/>
                <a:sym typeface="Roboto"/>
              </a:defRPr>
            </a:lvl1pPr>
          </a:lstStyle>
          <a:p>
            <a:r>
              <a:t>Thank you for your attention</a:t>
            </a:r>
          </a:p>
        </p:txBody>
      </p:sp>
      <p:pic>
        <p:nvPicPr>
          <p:cNvPr id="376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5" y="2028267"/>
            <a:ext cx="4435312" cy="2494864"/>
          </a:xfrm>
          <a:prstGeom prst="rect">
            <a:avLst/>
          </a:prstGeom>
          <a:ln w="12700">
            <a:miter lim="400000"/>
          </a:ln>
        </p:spPr>
      </p:pic>
      <p:pic>
        <p:nvPicPr>
          <p:cNvPr id="377" name="Google Shape;337;g252bd68d1d4_1_421" descr="Google Shape;337;g252bd68d1d4_1_421"/>
          <p:cNvPicPr>
            <a:picLocks noChangeAspect="1"/>
          </p:cNvPicPr>
          <p:nvPr/>
        </p:nvPicPr>
        <p:blipFill>
          <a:blip r:embed="rId3"/>
          <a:srcRect t="74133"/>
          <a:stretch>
            <a:fillRect/>
          </a:stretch>
        </p:blipFill>
        <p:spPr>
          <a:xfrm flipH="1">
            <a:off x="3388326" y="4037699"/>
            <a:ext cx="5028699" cy="1300766"/>
          </a:xfrm>
          <a:prstGeom prst="rect">
            <a:avLst/>
          </a:prstGeom>
          <a:ln w="12700">
            <a:miter lim="400000"/>
          </a:ln>
        </p:spPr>
      </p:pic>
      <p:pic>
        <p:nvPicPr>
          <p:cNvPr id="378" name="Picture 2" descr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400" y="480962"/>
            <a:ext cx="1711255" cy="916092"/>
          </a:xfrm>
          <a:prstGeom prst="rect">
            <a:avLst/>
          </a:prstGeom>
          <a:ln w="12700">
            <a:miter lim="400000"/>
          </a:ln>
        </p:spPr>
      </p:pic>
      <p:pic>
        <p:nvPicPr>
          <p:cNvPr id="379" name="Picture 3" descr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3421" y="286281"/>
            <a:ext cx="1305450" cy="130545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:fade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4_Office Theme">
  <a:themeElements>
    <a:clrScheme name="4_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C1E9"/>
      </a:accent1>
      <a:accent2>
        <a:srgbClr val="48CFAD"/>
      </a:accent2>
      <a:accent3>
        <a:srgbClr val="A0D468"/>
      </a:accent3>
      <a:accent4>
        <a:srgbClr val="FFBD45"/>
      </a:accent4>
      <a:accent5>
        <a:srgbClr val="FC6E51"/>
      </a:accent5>
      <a:accent6>
        <a:srgbClr val="ED5565"/>
      </a:accent6>
      <a:hlink>
        <a:srgbClr val="0000FF"/>
      </a:hlink>
      <a:folHlink>
        <a:srgbClr val="FF00FF"/>
      </a:folHlink>
    </a:clrScheme>
    <a:fontScheme name="4_Office Theme">
      <a:majorFont>
        <a:latin typeface="Helvetica"/>
        <a:ea typeface="Helvetica"/>
        <a:cs typeface="Helvetica"/>
      </a:majorFont>
      <a:minorFont>
        <a:latin typeface="Aptos Display"/>
        <a:ea typeface="Aptos Display"/>
        <a:cs typeface="Aptos Display"/>
      </a:minorFont>
    </a:fontScheme>
    <a:fmtScheme name="4_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#9Slide02 Noi dung dai"/>
            <a:ea typeface="#9Slide02 Noi dung dai"/>
            <a:cs typeface="#9Slide02 Noi dung dai"/>
            <a:sym typeface="#9Slide02 Noi dung da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#9Slide02 Noi dung dai"/>
            <a:ea typeface="#9Slide02 Noi dung dai"/>
            <a:cs typeface="#9Slide02 Noi dung dai"/>
            <a:sym typeface="#9Slide02 Noi dung da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4_Office Theme">
  <a:themeElements>
    <a:clrScheme name="4_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C1E9"/>
      </a:accent1>
      <a:accent2>
        <a:srgbClr val="48CFAD"/>
      </a:accent2>
      <a:accent3>
        <a:srgbClr val="A0D468"/>
      </a:accent3>
      <a:accent4>
        <a:srgbClr val="FFBD45"/>
      </a:accent4>
      <a:accent5>
        <a:srgbClr val="FC6E51"/>
      </a:accent5>
      <a:accent6>
        <a:srgbClr val="ED5565"/>
      </a:accent6>
      <a:hlink>
        <a:srgbClr val="0000FF"/>
      </a:hlink>
      <a:folHlink>
        <a:srgbClr val="FF00FF"/>
      </a:folHlink>
    </a:clrScheme>
    <a:fontScheme name="4_Office Theme">
      <a:majorFont>
        <a:latin typeface="Helvetica"/>
        <a:ea typeface="Helvetica"/>
        <a:cs typeface="Helvetica"/>
      </a:majorFont>
      <a:minorFont>
        <a:latin typeface="Aptos Display"/>
        <a:ea typeface="Aptos Display"/>
        <a:cs typeface="Aptos Display"/>
      </a:minorFont>
    </a:fontScheme>
    <a:fmtScheme name="4_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#9Slide02 Noi dung dai"/>
            <a:ea typeface="#9Slide02 Noi dung dai"/>
            <a:cs typeface="#9Slide02 Noi dung dai"/>
            <a:sym typeface="#9Slide02 Noi dung da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#9Slide02 Noi dung dai"/>
            <a:ea typeface="#9Slide02 Noi dung dai"/>
            <a:cs typeface="#9Slide02 Noi dung dai"/>
            <a:sym typeface="#9Slide02 Noi dung da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597</Words>
  <Application>Microsoft Macintosh PowerPoint</Application>
  <PresentationFormat>Widescreen</PresentationFormat>
  <Paragraphs>142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#9Slide02 Noi dung dai</vt:lpstr>
      <vt:lpstr>Aptos Display</vt:lpstr>
      <vt:lpstr>Arial</vt:lpstr>
      <vt:lpstr>Cambria Math</vt:lpstr>
      <vt:lpstr>Roboto</vt:lpstr>
      <vt:lpstr>Wingdings</vt:lpstr>
      <vt:lpstr>4_Office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Quynh Nguyen</cp:lastModifiedBy>
  <cp:revision>2</cp:revision>
  <dcterms:modified xsi:type="dcterms:W3CDTF">2026-05-12T19:00:54Z</dcterms:modified>
</cp:coreProperties>
</file>