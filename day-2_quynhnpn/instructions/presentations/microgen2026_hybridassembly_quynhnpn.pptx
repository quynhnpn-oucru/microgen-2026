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73" r:id="rId3"/>
    <p:sldId id="274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#9Slide02 Noi dung dai"/>
        <a:ea typeface="#9Slide02 Noi dung dai"/>
        <a:cs typeface="#9Slide02 Noi dung dai"/>
        <a:sym typeface="#9Slide02 Noi dung da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#9Slide02 Noi dung dai"/>
        <a:ea typeface="#9Slide02 Noi dung dai"/>
        <a:cs typeface="#9Slide02 Noi dung dai"/>
        <a:sym typeface="#9Slide02 Noi dung da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#9Slide02 Noi dung dai"/>
        <a:ea typeface="#9Slide02 Noi dung dai"/>
        <a:cs typeface="#9Slide02 Noi dung dai"/>
        <a:sym typeface="#9Slide02 Noi dung da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#9Slide02 Noi dung dai"/>
        <a:ea typeface="#9Slide02 Noi dung dai"/>
        <a:cs typeface="#9Slide02 Noi dung dai"/>
        <a:sym typeface="#9Slide02 Noi dung da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#9Slide02 Noi dung dai"/>
        <a:ea typeface="#9Slide02 Noi dung dai"/>
        <a:cs typeface="#9Slide02 Noi dung dai"/>
        <a:sym typeface="#9Slide02 Noi dung da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#9Slide02 Noi dung dai"/>
        <a:ea typeface="#9Slide02 Noi dung dai"/>
        <a:cs typeface="#9Slide02 Noi dung dai"/>
        <a:sym typeface="#9Slide02 Noi dung da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#9Slide02 Noi dung dai"/>
        <a:ea typeface="#9Slide02 Noi dung dai"/>
        <a:cs typeface="#9Slide02 Noi dung dai"/>
        <a:sym typeface="#9Slide02 Noi dung da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#9Slide02 Noi dung dai"/>
        <a:ea typeface="#9Slide02 Noi dung dai"/>
        <a:cs typeface="#9Slide02 Noi dung dai"/>
        <a:sym typeface="#9Slide02 Noi dung da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#9Slide02 Noi dung dai"/>
        <a:ea typeface="#9Slide02 Noi dung dai"/>
        <a:cs typeface="#9Slide02 Noi dung dai"/>
        <a:sym typeface="#9Slide02 Noi dung da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9F6"/>
          </a:solidFill>
        </a:fill>
      </a:tcStyle>
    </a:wholeTbl>
    <a:band2H>
      <a:tcTxStyle/>
      <a:tcStyle>
        <a:tcBdr/>
        <a:fill>
          <a:solidFill>
            <a:srgbClr val="E8F4FB"/>
          </a:solidFill>
        </a:fill>
      </a:tcStyle>
    </a:band2H>
    <a:firstCol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EFD2"/>
          </a:solidFill>
        </a:fill>
      </a:tcStyle>
    </a:wholeTbl>
    <a:band2H>
      <a:tcTxStyle/>
      <a:tcStyle>
        <a:tcBdr/>
        <a:fill>
          <a:solidFill>
            <a:srgbClr val="F0F7EA"/>
          </a:solidFill>
        </a:fill>
      </a:tcStyle>
    </a:band2H>
    <a:firstCol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D0D2"/>
          </a:solidFill>
        </a:fill>
      </a:tcStyle>
    </a:wholeTbl>
    <a:band2H>
      <a:tcTxStyle/>
      <a:tcStyle>
        <a:tcBdr/>
        <a:fill>
          <a:solidFill>
            <a:srgbClr val="FCE9EA"/>
          </a:solidFill>
        </a:fill>
      </a:tcStyle>
    </a:band2H>
    <a:firstCol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#9Slide02 Noi dung dai"/>
          <a:ea typeface="#9Slide02 Noi dung dai"/>
          <a:cs typeface="#9Slide02 Noi dung da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#9Slide02 Noi dung dai"/>
          <a:ea typeface="#9Slide02 Noi dung dai"/>
          <a:cs typeface="#9Slide02 Noi dung da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3677"/>
  </p:normalViewPr>
  <p:slideViewPr>
    <p:cSldViewPr snapToGrid="0">
      <p:cViewPr varScale="1">
        <p:scale>
          <a:sx n="63" d="100"/>
          <a:sy n="63" d="100"/>
        </p:scale>
        <p:origin x="184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 Display"/>
      </a:defRPr>
    </a:lvl1pPr>
    <a:lvl2pPr indent="228600" latinLnBrk="0">
      <a:defRPr sz="1200">
        <a:latin typeface="+mn-lt"/>
        <a:ea typeface="+mn-ea"/>
        <a:cs typeface="+mn-cs"/>
        <a:sym typeface="Aptos Display"/>
      </a:defRPr>
    </a:lvl2pPr>
    <a:lvl3pPr indent="457200" latinLnBrk="0">
      <a:defRPr sz="1200">
        <a:latin typeface="+mn-lt"/>
        <a:ea typeface="+mn-ea"/>
        <a:cs typeface="+mn-cs"/>
        <a:sym typeface="Aptos Display"/>
      </a:defRPr>
    </a:lvl3pPr>
    <a:lvl4pPr indent="685800" latinLnBrk="0">
      <a:defRPr sz="1200">
        <a:latin typeface="+mn-lt"/>
        <a:ea typeface="+mn-ea"/>
        <a:cs typeface="+mn-cs"/>
        <a:sym typeface="Aptos Display"/>
      </a:defRPr>
    </a:lvl4pPr>
    <a:lvl5pPr indent="914400" latinLnBrk="0">
      <a:defRPr sz="1200">
        <a:latin typeface="+mn-lt"/>
        <a:ea typeface="+mn-ea"/>
        <a:cs typeface="+mn-cs"/>
        <a:sym typeface="Aptos Display"/>
      </a:defRPr>
    </a:lvl5pPr>
    <a:lvl6pPr indent="1143000" latinLnBrk="0">
      <a:defRPr sz="1200">
        <a:latin typeface="+mn-lt"/>
        <a:ea typeface="+mn-ea"/>
        <a:cs typeface="+mn-cs"/>
        <a:sym typeface="Aptos Display"/>
      </a:defRPr>
    </a:lvl6pPr>
    <a:lvl7pPr indent="1371600" latinLnBrk="0">
      <a:defRPr sz="1200">
        <a:latin typeface="+mn-lt"/>
        <a:ea typeface="+mn-ea"/>
        <a:cs typeface="+mn-cs"/>
        <a:sym typeface="Aptos Display"/>
      </a:defRPr>
    </a:lvl7pPr>
    <a:lvl8pPr indent="1600200" latinLnBrk="0">
      <a:defRPr sz="1200">
        <a:latin typeface="+mn-lt"/>
        <a:ea typeface="+mn-ea"/>
        <a:cs typeface="+mn-cs"/>
        <a:sym typeface="Aptos Display"/>
      </a:defRPr>
    </a:lvl8pPr>
    <a:lvl9pPr indent="1828800" latinLnBrk="0">
      <a:defRPr sz="1200">
        <a:latin typeface="+mn-lt"/>
        <a:ea typeface="+mn-ea"/>
        <a:cs typeface="+mn-cs"/>
        <a:sym typeface="Aptos Display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5" name="Shape 3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Abricate (optional)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hape 32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9" name="Shape 32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Abricate (optional)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8002" y="6404292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8002" y="6404292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8002" y="6404292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0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8002" y="6404292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8002" y="6404292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8002" y="6404292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8002" y="6404292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8002" y="6404292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448002" y="6404292"/>
            <a:ext cx="273657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9Slide.vn - 2019"/>
          <p:cNvSpPr txBox="1"/>
          <p:nvPr/>
        </p:nvSpPr>
        <p:spPr>
          <a:xfrm>
            <a:off x="5123978" y="-1512333"/>
            <a:ext cx="1944044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2400">
                <a:solidFill>
                  <a:srgbClr val="CFCFCF"/>
                </a:solidFill>
              </a:defRPr>
            </a:lvl1pPr>
          </a:lstStyle>
          <a:p>
            <a:r>
              <a:t>www.9slide.vn</a:t>
            </a:r>
          </a:p>
        </p:txBody>
      </p:sp>
      <p:grpSp>
        <p:nvGrpSpPr>
          <p:cNvPr id="5" name="Group 10"/>
          <p:cNvGrpSpPr/>
          <p:nvPr/>
        </p:nvGrpSpPr>
        <p:grpSpPr>
          <a:xfrm>
            <a:off x="4851539" y="8494776"/>
            <a:ext cx="2488920" cy="565325"/>
            <a:chOff x="0" y="0"/>
            <a:chExt cx="2488919" cy="565324"/>
          </a:xfrm>
        </p:grpSpPr>
        <p:sp>
          <p:nvSpPr>
            <p:cNvPr id="3" name="Rectangle 11"/>
            <p:cNvSpPr/>
            <p:nvPr/>
          </p:nvSpPr>
          <p:spPr>
            <a:xfrm>
              <a:off x="0" y="0"/>
              <a:ext cx="2488920" cy="565325"/>
            </a:xfrm>
            <a:prstGeom prst="rect">
              <a:avLst/>
            </a:prstGeom>
            <a:noFill/>
            <a:ln w="21590" cap="flat">
              <a:solidFill>
                <a:srgbClr val="BFBFBF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latin typeface="Roboto"/>
                  <a:ea typeface="Roboto"/>
                  <a:cs typeface="Roboto"/>
                  <a:sym typeface="Roboto"/>
                </a:defRPr>
              </a:pPr>
              <a:endParaRPr/>
            </a:p>
          </p:txBody>
        </p:sp>
        <p:sp>
          <p:nvSpPr>
            <p:cNvPr id="4" name="TextBox 12"/>
            <p:cNvSpPr/>
            <p:nvPr/>
          </p:nvSpPr>
          <p:spPr>
            <a:xfrm>
              <a:off x="155448" y="152400"/>
              <a:ext cx="2178025" cy="2605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927" y="18421"/>
                  </a:moveTo>
                  <a:cubicBezTo>
                    <a:pt x="17990" y="18421"/>
                    <a:pt x="18038" y="18569"/>
                    <a:pt x="18071" y="18865"/>
                  </a:cubicBezTo>
                  <a:cubicBezTo>
                    <a:pt x="18103" y="19161"/>
                    <a:pt x="18119" y="19532"/>
                    <a:pt x="18119" y="19976"/>
                  </a:cubicBezTo>
                  <a:cubicBezTo>
                    <a:pt x="18119" y="20402"/>
                    <a:pt x="18103" y="20758"/>
                    <a:pt x="18071" y="21045"/>
                  </a:cubicBezTo>
                  <a:cubicBezTo>
                    <a:pt x="18038" y="21332"/>
                    <a:pt x="17990" y="21475"/>
                    <a:pt x="17927" y="21475"/>
                  </a:cubicBezTo>
                  <a:cubicBezTo>
                    <a:pt x="17864" y="21475"/>
                    <a:pt x="17816" y="21332"/>
                    <a:pt x="17785" y="21045"/>
                  </a:cubicBezTo>
                  <a:cubicBezTo>
                    <a:pt x="17753" y="20758"/>
                    <a:pt x="17738" y="20402"/>
                    <a:pt x="17738" y="19976"/>
                  </a:cubicBezTo>
                  <a:cubicBezTo>
                    <a:pt x="17738" y="19532"/>
                    <a:pt x="17753" y="19161"/>
                    <a:pt x="17785" y="18865"/>
                  </a:cubicBezTo>
                  <a:cubicBezTo>
                    <a:pt x="17816" y="18569"/>
                    <a:pt x="17864" y="18421"/>
                    <a:pt x="17927" y="18421"/>
                  </a:cubicBezTo>
                  <a:close/>
                  <a:moveTo>
                    <a:pt x="8008" y="18421"/>
                  </a:moveTo>
                  <a:cubicBezTo>
                    <a:pt x="8071" y="18421"/>
                    <a:pt x="8119" y="18569"/>
                    <a:pt x="8152" y="18865"/>
                  </a:cubicBezTo>
                  <a:cubicBezTo>
                    <a:pt x="8185" y="19161"/>
                    <a:pt x="8201" y="19532"/>
                    <a:pt x="8201" y="19976"/>
                  </a:cubicBezTo>
                  <a:cubicBezTo>
                    <a:pt x="8201" y="20402"/>
                    <a:pt x="8185" y="20758"/>
                    <a:pt x="8152" y="21045"/>
                  </a:cubicBezTo>
                  <a:cubicBezTo>
                    <a:pt x="8119" y="21332"/>
                    <a:pt x="8071" y="21475"/>
                    <a:pt x="8008" y="21475"/>
                  </a:cubicBezTo>
                  <a:cubicBezTo>
                    <a:pt x="7945" y="21475"/>
                    <a:pt x="7898" y="21332"/>
                    <a:pt x="7866" y="21045"/>
                  </a:cubicBezTo>
                  <a:cubicBezTo>
                    <a:pt x="7835" y="20758"/>
                    <a:pt x="7819" y="20402"/>
                    <a:pt x="7819" y="19976"/>
                  </a:cubicBezTo>
                  <a:cubicBezTo>
                    <a:pt x="7819" y="19532"/>
                    <a:pt x="7835" y="19161"/>
                    <a:pt x="7866" y="18865"/>
                  </a:cubicBezTo>
                  <a:cubicBezTo>
                    <a:pt x="7898" y="18569"/>
                    <a:pt x="7945" y="18421"/>
                    <a:pt x="8008" y="18421"/>
                  </a:cubicBezTo>
                  <a:close/>
                  <a:moveTo>
                    <a:pt x="14758" y="8204"/>
                  </a:moveTo>
                  <a:cubicBezTo>
                    <a:pt x="14607" y="8204"/>
                    <a:pt x="14490" y="8690"/>
                    <a:pt x="14406" y="9662"/>
                  </a:cubicBezTo>
                  <a:cubicBezTo>
                    <a:pt x="14321" y="10633"/>
                    <a:pt x="14279" y="12073"/>
                    <a:pt x="14279" y="13979"/>
                  </a:cubicBezTo>
                  <a:cubicBezTo>
                    <a:pt x="14279" y="15682"/>
                    <a:pt x="14321" y="17014"/>
                    <a:pt x="14406" y="17977"/>
                  </a:cubicBezTo>
                  <a:cubicBezTo>
                    <a:pt x="14490" y="18939"/>
                    <a:pt x="14606" y="19421"/>
                    <a:pt x="14754" y="19421"/>
                  </a:cubicBezTo>
                  <a:cubicBezTo>
                    <a:pt x="14949" y="19421"/>
                    <a:pt x="15091" y="18689"/>
                    <a:pt x="15181" y="17227"/>
                  </a:cubicBezTo>
                  <a:lnTo>
                    <a:pt x="15181" y="10328"/>
                  </a:lnTo>
                  <a:cubicBezTo>
                    <a:pt x="15089" y="8912"/>
                    <a:pt x="14948" y="8204"/>
                    <a:pt x="14758" y="8204"/>
                  </a:cubicBezTo>
                  <a:close/>
                  <a:moveTo>
                    <a:pt x="16644" y="8135"/>
                  </a:moveTo>
                  <a:cubicBezTo>
                    <a:pt x="16520" y="8135"/>
                    <a:pt x="16415" y="8512"/>
                    <a:pt x="16331" y="9266"/>
                  </a:cubicBezTo>
                  <a:cubicBezTo>
                    <a:pt x="16247" y="10020"/>
                    <a:pt x="16195" y="11078"/>
                    <a:pt x="16175" y="12438"/>
                  </a:cubicBezTo>
                  <a:lnTo>
                    <a:pt x="17075" y="12438"/>
                  </a:lnTo>
                  <a:lnTo>
                    <a:pt x="17075" y="12244"/>
                  </a:lnTo>
                  <a:cubicBezTo>
                    <a:pt x="17066" y="10939"/>
                    <a:pt x="17024" y="9928"/>
                    <a:pt x="16949" y="9211"/>
                  </a:cubicBezTo>
                  <a:cubicBezTo>
                    <a:pt x="16874" y="8493"/>
                    <a:pt x="16772" y="8135"/>
                    <a:pt x="16644" y="8135"/>
                  </a:cubicBezTo>
                  <a:close/>
                  <a:moveTo>
                    <a:pt x="18403" y="6302"/>
                  </a:moveTo>
                  <a:lnTo>
                    <a:pt x="18717" y="6302"/>
                  </a:lnTo>
                  <a:lnTo>
                    <a:pt x="19174" y="17838"/>
                  </a:lnTo>
                  <a:lnTo>
                    <a:pt x="19619" y="6302"/>
                  </a:lnTo>
                  <a:lnTo>
                    <a:pt x="19933" y="6302"/>
                  </a:lnTo>
                  <a:lnTo>
                    <a:pt x="19288" y="21322"/>
                  </a:lnTo>
                  <a:lnTo>
                    <a:pt x="19054" y="21322"/>
                  </a:lnTo>
                  <a:close/>
                  <a:moveTo>
                    <a:pt x="13223" y="6302"/>
                  </a:moveTo>
                  <a:lnTo>
                    <a:pt x="13531" y="6302"/>
                  </a:lnTo>
                  <a:lnTo>
                    <a:pt x="13531" y="21322"/>
                  </a:lnTo>
                  <a:lnTo>
                    <a:pt x="13223" y="21322"/>
                  </a:lnTo>
                  <a:close/>
                  <a:moveTo>
                    <a:pt x="5101" y="6302"/>
                  </a:moveTo>
                  <a:lnTo>
                    <a:pt x="5406" y="6302"/>
                  </a:lnTo>
                  <a:lnTo>
                    <a:pt x="5760" y="17547"/>
                  </a:lnTo>
                  <a:lnTo>
                    <a:pt x="6179" y="6302"/>
                  </a:lnTo>
                  <a:lnTo>
                    <a:pt x="6426" y="6302"/>
                  </a:lnTo>
                  <a:lnTo>
                    <a:pt x="6853" y="17783"/>
                  </a:lnTo>
                  <a:lnTo>
                    <a:pt x="7198" y="6302"/>
                  </a:lnTo>
                  <a:lnTo>
                    <a:pt x="7505" y="6302"/>
                  </a:lnTo>
                  <a:lnTo>
                    <a:pt x="6982" y="21322"/>
                  </a:lnTo>
                  <a:lnTo>
                    <a:pt x="6733" y="21322"/>
                  </a:lnTo>
                  <a:lnTo>
                    <a:pt x="6296" y="9939"/>
                  </a:lnTo>
                  <a:lnTo>
                    <a:pt x="5871" y="21322"/>
                  </a:lnTo>
                  <a:lnTo>
                    <a:pt x="5622" y="21322"/>
                  </a:lnTo>
                  <a:close/>
                  <a:moveTo>
                    <a:pt x="2550" y="6302"/>
                  </a:moveTo>
                  <a:lnTo>
                    <a:pt x="2856" y="6302"/>
                  </a:lnTo>
                  <a:lnTo>
                    <a:pt x="3210" y="17547"/>
                  </a:lnTo>
                  <a:lnTo>
                    <a:pt x="3628" y="6302"/>
                  </a:lnTo>
                  <a:lnTo>
                    <a:pt x="3876" y="6302"/>
                  </a:lnTo>
                  <a:lnTo>
                    <a:pt x="4302" y="17783"/>
                  </a:lnTo>
                  <a:lnTo>
                    <a:pt x="4648" y="6302"/>
                  </a:lnTo>
                  <a:lnTo>
                    <a:pt x="4955" y="6302"/>
                  </a:lnTo>
                  <a:lnTo>
                    <a:pt x="4432" y="21322"/>
                  </a:lnTo>
                  <a:lnTo>
                    <a:pt x="4183" y="21322"/>
                  </a:lnTo>
                  <a:lnTo>
                    <a:pt x="3746" y="9939"/>
                  </a:lnTo>
                  <a:lnTo>
                    <a:pt x="3321" y="21322"/>
                  </a:lnTo>
                  <a:lnTo>
                    <a:pt x="3072" y="21322"/>
                  </a:lnTo>
                  <a:close/>
                  <a:moveTo>
                    <a:pt x="0" y="6302"/>
                  </a:moveTo>
                  <a:lnTo>
                    <a:pt x="306" y="6302"/>
                  </a:lnTo>
                  <a:lnTo>
                    <a:pt x="659" y="17547"/>
                  </a:lnTo>
                  <a:lnTo>
                    <a:pt x="1078" y="6302"/>
                  </a:lnTo>
                  <a:lnTo>
                    <a:pt x="1325" y="6302"/>
                  </a:lnTo>
                  <a:lnTo>
                    <a:pt x="1752" y="17783"/>
                  </a:lnTo>
                  <a:lnTo>
                    <a:pt x="2097" y="6302"/>
                  </a:lnTo>
                  <a:lnTo>
                    <a:pt x="2404" y="6302"/>
                  </a:lnTo>
                  <a:lnTo>
                    <a:pt x="1881" y="21322"/>
                  </a:lnTo>
                  <a:lnTo>
                    <a:pt x="1632" y="21322"/>
                  </a:lnTo>
                  <a:lnTo>
                    <a:pt x="1196" y="9939"/>
                  </a:lnTo>
                  <a:lnTo>
                    <a:pt x="770" y="21322"/>
                  </a:lnTo>
                  <a:lnTo>
                    <a:pt x="521" y="21322"/>
                  </a:lnTo>
                  <a:close/>
                  <a:moveTo>
                    <a:pt x="21025" y="6025"/>
                  </a:moveTo>
                  <a:cubicBezTo>
                    <a:pt x="21405" y="6025"/>
                    <a:pt x="21597" y="7815"/>
                    <a:pt x="21600" y="11397"/>
                  </a:cubicBezTo>
                  <a:lnTo>
                    <a:pt x="21600" y="21322"/>
                  </a:lnTo>
                  <a:lnTo>
                    <a:pt x="21293" y="21322"/>
                  </a:lnTo>
                  <a:lnTo>
                    <a:pt x="21293" y="11383"/>
                  </a:lnTo>
                  <a:cubicBezTo>
                    <a:pt x="21292" y="10300"/>
                    <a:pt x="21262" y="9500"/>
                    <a:pt x="21204" y="8981"/>
                  </a:cubicBezTo>
                  <a:cubicBezTo>
                    <a:pt x="21146" y="8463"/>
                    <a:pt x="21055" y="8204"/>
                    <a:pt x="20932" y="8204"/>
                  </a:cubicBezTo>
                  <a:cubicBezTo>
                    <a:pt x="20833" y="8204"/>
                    <a:pt x="20745" y="8426"/>
                    <a:pt x="20670" y="8870"/>
                  </a:cubicBezTo>
                  <a:cubicBezTo>
                    <a:pt x="20595" y="9315"/>
                    <a:pt x="20536" y="9898"/>
                    <a:pt x="20494" y="10620"/>
                  </a:cubicBezTo>
                  <a:lnTo>
                    <a:pt x="20494" y="21322"/>
                  </a:lnTo>
                  <a:lnTo>
                    <a:pt x="20187" y="21322"/>
                  </a:lnTo>
                  <a:lnTo>
                    <a:pt x="20187" y="6302"/>
                  </a:lnTo>
                  <a:lnTo>
                    <a:pt x="20478" y="6302"/>
                  </a:lnTo>
                  <a:lnTo>
                    <a:pt x="20487" y="8190"/>
                  </a:lnTo>
                  <a:cubicBezTo>
                    <a:pt x="20625" y="6747"/>
                    <a:pt x="20804" y="6025"/>
                    <a:pt x="21025" y="6025"/>
                  </a:cubicBezTo>
                  <a:close/>
                  <a:moveTo>
                    <a:pt x="16644" y="6025"/>
                  </a:moveTo>
                  <a:cubicBezTo>
                    <a:pt x="16877" y="6025"/>
                    <a:pt x="17059" y="6668"/>
                    <a:pt x="17188" y="7954"/>
                  </a:cubicBezTo>
                  <a:cubicBezTo>
                    <a:pt x="17318" y="9241"/>
                    <a:pt x="17382" y="11082"/>
                    <a:pt x="17382" y="13479"/>
                  </a:cubicBezTo>
                  <a:lnTo>
                    <a:pt x="17382" y="14548"/>
                  </a:lnTo>
                  <a:lnTo>
                    <a:pt x="16165" y="14548"/>
                  </a:lnTo>
                  <a:cubicBezTo>
                    <a:pt x="16170" y="16029"/>
                    <a:pt x="16221" y="17225"/>
                    <a:pt x="16321" y="18136"/>
                  </a:cubicBezTo>
                  <a:cubicBezTo>
                    <a:pt x="16420" y="19048"/>
                    <a:pt x="16546" y="19504"/>
                    <a:pt x="16698" y="19504"/>
                  </a:cubicBezTo>
                  <a:cubicBezTo>
                    <a:pt x="16807" y="19504"/>
                    <a:pt x="16899" y="19319"/>
                    <a:pt x="16974" y="18949"/>
                  </a:cubicBezTo>
                  <a:cubicBezTo>
                    <a:pt x="17049" y="18578"/>
                    <a:pt x="17115" y="18088"/>
                    <a:pt x="17172" y="17477"/>
                  </a:cubicBezTo>
                  <a:lnTo>
                    <a:pt x="17359" y="18699"/>
                  </a:lnTo>
                  <a:cubicBezTo>
                    <a:pt x="17209" y="20633"/>
                    <a:pt x="16983" y="21600"/>
                    <a:pt x="16682" y="21600"/>
                  </a:cubicBezTo>
                  <a:cubicBezTo>
                    <a:pt x="16438" y="21600"/>
                    <a:pt x="16240" y="20931"/>
                    <a:pt x="16087" y="19594"/>
                  </a:cubicBezTo>
                  <a:cubicBezTo>
                    <a:pt x="15935" y="18257"/>
                    <a:pt x="15858" y="16468"/>
                    <a:pt x="15858" y="14229"/>
                  </a:cubicBezTo>
                  <a:lnTo>
                    <a:pt x="15858" y="13757"/>
                  </a:lnTo>
                  <a:cubicBezTo>
                    <a:pt x="15858" y="12267"/>
                    <a:pt x="15892" y="10936"/>
                    <a:pt x="15960" y="9766"/>
                  </a:cubicBezTo>
                  <a:cubicBezTo>
                    <a:pt x="16028" y="8595"/>
                    <a:pt x="16124" y="7679"/>
                    <a:pt x="16246" y="7017"/>
                  </a:cubicBezTo>
                  <a:cubicBezTo>
                    <a:pt x="16368" y="6356"/>
                    <a:pt x="16501" y="6025"/>
                    <a:pt x="16644" y="6025"/>
                  </a:cubicBezTo>
                  <a:close/>
                  <a:moveTo>
                    <a:pt x="11203" y="6025"/>
                  </a:moveTo>
                  <a:cubicBezTo>
                    <a:pt x="11406" y="6025"/>
                    <a:pt x="11572" y="6464"/>
                    <a:pt x="11698" y="7343"/>
                  </a:cubicBezTo>
                  <a:cubicBezTo>
                    <a:pt x="11825" y="8223"/>
                    <a:pt x="11889" y="9347"/>
                    <a:pt x="11889" y="10717"/>
                  </a:cubicBezTo>
                  <a:lnTo>
                    <a:pt x="11580" y="10717"/>
                  </a:lnTo>
                  <a:cubicBezTo>
                    <a:pt x="11580" y="10013"/>
                    <a:pt x="11544" y="9407"/>
                    <a:pt x="11473" y="8898"/>
                  </a:cubicBezTo>
                  <a:cubicBezTo>
                    <a:pt x="11401" y="8389"/>
                    <a:pt x="11311" y="8135"/>
                    <a:pt x="11203" y="8135"/>
                  </a:cubicBezTo>
                  <a:cubicBezTo>
                    <a:pt x="11091" y="8135"/>
                    <a:pt x="11003" y="8338"/>
                    <a:pt x="10940" y="8745"/>
                  </a:cubicBezTo>
                  <a:cubicBezTo>
                    <a:pt x="10877" y="9153"/>
                    <a:pt x="10846" y="9685"/>
                    <a:pt x="10846" y="10342"/>
                  </a:cubicBezTo>
                  <a:cubicBezTo>
                    <a:pt x="10846" y="10962"/>
                    <a:pt x="10875" y="11429"/>
                    <a:pt x="10934" y="11744"/>
                  </a:cubicBezTo>
                  <a:cubicBezTo>
                    <a:pt x="10992" y="12059"/>
                    <a:pt x="11098" y="12359"/>
                    <a:pt x="11252" y="12646"/>
                  </a:cubicBezTo>
                  <a:cubicBezTo>
                    <a:pt x="11405" y="12933"/>
                    <a:pt x="11529" y="13276"/>
                    <a:pt x="11625" y="13673"/>
                  </a:cubicBezTo>
                  <a:cubicBezTo>
                    <a:pt x="11720" y="14071"/>
                    <a:pt x="11790" y="14550"/>
                    <a:pt x="11836" y="15110"/>
                  </a:cubicBezTo>
                  <a:cubicBezTo>
                    <a:pt x="11882" y="15670"/>
                    <a:pt x="11905" y="16353"/>
                    <a:pt x="11905" y="17158"/>
                  </a:cubicBezTo>
                  <a:cubicBezTo>
                    <a:pt x="11905" y="18500"/>
                    <a:pt x="11841" y="19576"/>
                    <a:pt x="11713" y="20385"/>
                  </a:cubicBezTo>
                  <a:cubicBezTo>
                    <a:pt x="11584" y="21195"/>
                    <a:pt x="11418" y="21600"/>
                    <a:pt x="11213" y="21600"/>
                  </a:cubicBezTo>
                  <a:cubicBezTo>
                    <a:pt x="11069" y="21600"/>
                    <a:pt x="10942" y="21387"/>
                    <a:pt x="10831" y="20961"/>
                  </a:cubicBezTo>
                  <a:cubicBezTo>
                    <a:pt x="10720" y="20536"/>
                    <a:pt x="10633" y="19941"/>
                    <a:pt x="10571" y="19178"/>
                  </a:cubicBezTo>
                  <a:cubicBezTo>
                    <a:pt x="10508" y="18414"/>
                    <a:pt x="10477" y="17588"/>
                    <a:pt x="10477" y="16700"/>
                  </a:cubicBezTo>
                  <a:lnTo>
                    <a:pt x="10784" y="16700"/>
                  </a:lnTo>
                  <a:cubicBezTo>
                    <a:pt x="10790" y="17560"/>
                    <a:pt x="10831" y="18243"/>
                    <a:pt x="10908" y="18747"/>
                  </a:cubicBezTo>
                  <a:cubicBezTo>
                    <a:pt x="10985" y="19252"/>
                    <a:pt x="11087" y="19504"/>
                    <a:pt x="11213" y="19504"/>
                  </a:cubicBezTo>
                  <a:cubicBezTo>
                    <a:pt x="11329" y="19504"/>
                    <a:pt x="11422" y="19307"/>
                    <a:pt x="11493" y="18914"/>
                  </a:cubicBezTo>
                  <a:cubicBezTo>
                    <a:pt x="11563" y="18521"/>
                    <a:pt x="11598" y="17995"/>
                    <a:pt x="11598" y="17338"/>
                  </a:cubicBezTo>
                  <a:cubicBezTo>
                    <a:pt x="11598" y="16644"/>
                    <a:pt x="11567" y="16105"/>
                    <a:pt x="11504" y="15721"/>
                  </a:cubicBezTo>
                  <a:cubicBezTo>
                    <a:pt x="11442" y="15337"/>
                    <a:pt x="11333" y="15006"/>
                    <a:pt x="11177" y="14729"/>
                  </a:cubicBezTo>
                  <a:cubicBezTo>
                    <a:pt x="11021" y="14451"/>
                    <a:pt x="10898" y="14118"/>
                    <a:pt x="10807" y="13729"/>
                  </a:cubicBezTo>
                  <a:cubicBezTo>
                    <a:pt x="10715" y="13340"/>
                    <a:pt x="10648" y="12878"/>
                    <a:pt x="10604" y="12341"/>
                  </a:cubicBezTo>
                  <a:cubicBezTo>
                    <a:pt x="10560" y="11804"/>
                    <a:pt x="10539" y="11166"/>
                    <a:pt x="10539" y="10425"/>
                  </a:cubicBezTo>
                  <a:cubicBezTo>
                    <a:pt x="10539" y="9194"/>
                    <a:pt x="10601" y="8153"/>
                    <a:pt x="10725" y="7302"/>
                  </a:cubicBezTo>
                  <a:cubicBezTo>
                    <a:pt x="10850" y="6450"/>
                    <a:pt x="11009" y="6025"/>
                    <a:pt x="11203" y="6025"/>
                  </a:cubicBezTo>
                  <a:close/>
                  <a:moveTo>
                    <a:pt x="9347" y="2971"/>
                  </a:moveTo>
                  <a:cubicBezTo>
                    <a:pt x="9212" y="2971"/>
                    <a:pt x="9103" y="3403"/>
                    <a:pt x="9021" y="4269"/>
                  </a:cubicBezTo>
                  <a:cubicBezTo>
                    <a:pt x="8939" y="5134"/>
                    <a:pt x="8898" y="6275"/>
                    <a:pt x="8898" y="7690"/>
                  </a:cubicBezTo>
                  <a:cubicBezTo>
                    <a:pt x="8898" y="9069"/>
                    <a:pt x="8938" y="10205"/>
                    <a:pt x="9017" y="11098"/>
                  </a:cubicBezTo>
                  <a:cubicBezTo>
                    <a:pt x="9096" y="11991"/>
                    <a:pt x="9202" y="12438"/>
                    <a:pt x="9335" y="12438"/>
                  </a:cubicBezTo>
                  <a:cubicBezTo>
                    <a:pt x="9438" y="12438"/>
                    <a:pt x="9533" y="12174"/>
                    <a:pt x="9620" y="11647"/>
                  </a:cubicBezTo>
                  <a:cubicBezTo>
                    <a:pt x="9707" y="11119"/>
                    <a:pt x="9770" y="10467"/>
                    <a:pt x="9810" y="9689"/>
                  </a:cubicBezTo>
                  <a:lnTo>
                    <a:pt x="9810" y="8662"/>
                  </a:lnTo>
                  <a:cubicBezTo>
                    <a:pt x="9810" y="6978"/>
                    <a:pt x="9766" y="5608"/>
                    <a:pt x="9679" y="4553"/>
                  </a:cubicBezTo>
                  <a:cubicBezTo>
                    <a:pt x="9591" y="3498"/>
                    <a:pt x="9481" y="2971"/>
                    <a:pt x="9347" y="2971"/>
                  </a:cubicBezTo>
                  <a:close/>
                  <a:moveTo>
                    <a:pt x="13379" y="833"/>
                  </a:moveTo>
                  <a:cubicBezTo>
                    <a:pt x="13439" y="833"/>
                    <a:pt x="13485" y="976"/>
                    <a:pt x="13516" y="1263"/>
                  </a:cubicBezTo>
                  <a:cubicBezTo>
                    <a:pt x="13547" y="1550"/>
                    <a:pt x="13562" y="1902"/>
                    <a:pt x="13562" y="2318"/>
                  </a:cubicBezTo>
                  <a:cubicBezTo>
                    <a:pt x="13562" y="2735"/>
                    <a:pt x="13547" y="3082"/>
                    <a:pt x="13516" y="3359"/>
                  </a:cubicBezTo>
                  <a:cubicBezTo>
                    <a:pt x="13485" y="3637"/>
                    <a:pt x="13439" y="3776"/>
                    <a:pt x="13379" y="3776"/>
                  </a:cubicBezTo>
                  <a:cubicBezTo>
                    <a:pt x="13320" y="3776"/>
                    <a:pt x="13275" y="3637"/>
                    <a:pt x="13244" y="3359"/>
                  </a:cubicBezTo>
                  <a:cubicBezTo>
                    <a:pt x="13214" y="3082"/>
                    <a:pt x="13198" y="2735"/>
                    <a:pt x="13198" y="2318"/>
                  </a:cubicBezTo>
                  <a:cubicBezTo>
                    <a:pt x="13198" y="1902"/>
                    <a:pt x="13214" y="1550"/>
                    <a:pt x="13244" y="1263"/>
                  </a:cubicBezTo>
                  <a:cubicBezTo>
                    <a:pt x="13275" y="976"/>
                    <a:pt x="13320" y="833"/>
                    <a:pt x="13379" y="833"/>
                  </a:cubicBezTo>
                  <a:close/>
                  <a:moveTo>
                    <a:pt x="9345" y="833"/>
                  </a:moveTo>
                  <a:cubicBezTo>
                    <a:pt x="9584" y="833"/>
                    <a:pt x="9773" y="1580"/>
                    <a:pt x="9910" y="3075"/>
                  </a:cubicBezTo>
                  <a:cubicBezTo>
                    <a:pt x="10048" y="4569"/>
                    <a:pt x="10117" y="6608"/>
                    <a:pt x="10117" y="9190"/>
                  </a:cubicBezTo>
                  <a:lnTo>
                    <a:pt x="10117" y="9939"/>
                  </a:lnTo>
                  <a:cubicBezTo>
                    <a:pt x="10117" y="13872"/>
                    <a:pt x="10024" y="16744"/>
                    <a:pt x="9838" y="18553"/>
                  </a:cubicBezTo>
                  <a:cubicBezTo>
                    <a:pt x="9652" y="20362"/>
                    <a:pt x="9372" y="21290"/>
                    <a:pt x="8996" y="21336"/>
                  </a:cubicBezTo>
                  <a:lnTo>
                    <a:pt x="8937" y="21336"/>
                  </a:lnTo>
                  <a:lnTo>
                    <a:pt x="8937" y="19157"/>
                  </a:lnTo>
                  <a:lnTo>
                    <a:pt x="9001" y="19157"/>
                  </a:lnTo>
                  <a:cubicBezTo>
                    <a:pt x="9255" y="19120"/>
                    <a:pt x="9450" y="18568"/>
                    <a:pt x="9586" y="17501"/>
                  </a:cubicBezTo>
                  <a:cubicBezTo>
                    <a:pt x="9722" y="16435"/>
                    <a:pt x="9796" y="14747"/>
                    <a:pt x="9808" y="12438"/>
                  </a:cubicBezTo>
                  <a:cubicBezTo>
                    <a:pt x="9744" y="13077"/>
                    <a:pt x="9667" y="13590"/>
                    <a:pt x="9578" y="13979"/>
                  </a:cubicBezTo>
                  <a:cubicBezTo>
                    <a:pt x="9489" y="14368"/>
                    <a:pt x="9392" y="14562"/>
                    <a:pt x="9285" y="14562"/>
                  </a:cubicBezTo>
                  <a:cubicBezTo>
                    <a:pt x="9146" y="14562"/>
                    <a:pt x="9024" y="14275"/>
                    <a:pt x="8921" y="13701"/>
                  </a:cubicBezTo>
                  <a:cubicBezTo>
                    <a:pt x="8817" y="13128"/>
                    <a:pt x="8737" y="12320"/>
                    <a:pt x="8681" y="11279"/>
                  </a:cubicBezTo>
                  <a:cubicBezTo>
                    <a:pt x="8624" y="10238"/>
                    <a:pt x="8596" y="9088"/>
                    <a:pt x="8596" y="7829"/>
                  </a:cubicBezTo>
                  <a:cubicBezTo>
                    <a:pt x="8596" y="6478"/>
                    <a:pt x="8627" y="5261"/>
                    <a:pt x="8688" y="4178"/>
                  </a:cubicBezTo>
                  <a:cubicBezTo>
                    <a:pt x="8750" y="3096"/>
                    <a:pt x="8837" y="2267"/>
                    <a:pt x="8950" y="1694"/>
                  </a:cubicBezTo>
                  <a:cubicBezTo>
                    <a:pt x="9063" y="1120"/>
                    <a:pt x="9195" y="833"/>
                    <a:pt x="9345" y="833"/>
                  </a:cubicBezTo>
                  <a:close/>
                  <a:moveTo>
                    <a:pt x="15181" y="0"/>
                  </a:moveTo>
                  <a:lnTo>
                    <a:pt x="15488" y="0"/>
                  </a:lnTo>
                  <a:lnTo>
                    <a:pt x="15488" y="21322"/>
                  </a:lnTo>
                  <a:lnTo>
                    <a:pt x="15206" y="21322"/>
                  </a:lnTo>
                  <a:lnTo>
                    <a:pt x="15191" y="19712"/>
                  </a:lnTo>
                  <a:cubicBezTo>
                    <a:pt x="15068" y="20971"/>
                    <a:pt x="14897" y="21600"/>
                    <a:pt x="14678" y="21600"/>
                  </a:cubicBezTo>
                  <a:cubicBezTo>
                    <a:pt x="14470" y="21600"/>
                    <a:pt x="14300" y="20887"/>
                    <a:pt x="14169" y="19462"/>
                  </a:cubicBezTo>
                  <a:cubicBezTo>
                    <a:pt x="14038" y="18037"/>
                    <a:pt x="13972" y="16177"/>
                    <a:pt x="13972" y="13882"/>
                  </a:cubicBezTo>
                  <a:lnTo>
                    <a:pt x="13972" y="13687"/>
                  </a:lnTo>
                  <a:cubicBezTo>
                    <a:pt x="13972" y="11383"/>
                    <a:pt x="14038" y="9530"/>
                    <a:pt x="14168" y="8128"/>
                  </a:cubicBezTo>
                  <a:cubicBezTo>
                    <a:pt x="14299" y="6726"/>
                    <a:pt x="14470" y="6025"/>
                    <a:pt x="14681" y="6025"/>
                  </a:cubicBezTo>
                  <a:cubicBezTo>
                    <a:pt x="14892" y="6025"/>
                    <a:pt x="15058" y="6626"/>
                    <a:pt x="15181" y="7829"/>
                  </a:cubicBezTo>
                  <a:close/>
                  <a:moveTo>
                    <a:pt x="12373" y="0"/>
                  </a:moveTo>
                  <a:lnTo>
                    <a:pt x="12680" y="0"/>
                  </a:lnTo>
                  <a:lnTo>
                    <a:pt x="12680" y="21322"/>
                  </a:lnTo>
                  <a:lnTo>
                    <a:pt x="12373" y="21322"/>
                  </a:lnTo>
                  <a:close/>
                </a:path>
              </a:pathLst>
            </a:custGeom>
            <a:solidFill>
              <a:srgbClr val="BFBFB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700">
                  <a:solidFill>
                    <a:srgbClr val="BFBFBF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endParaRPr/>
            </a:p>
          </p:txBody>
        </p:sp>
      </p:grp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511062" y="6404292"/>
            <a:ext cx="273656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7" name="Title Text"/>
          <p:cNvSpPr txBox="1">
            <a:spLocks noGrp="1"/>
          </p:cNvSpPr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8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92D6C"/>
          </a:solidFill>
          <a:uFillTx/>
          <a:latin typeface="Roboto"/>
          <a:ea typeface="Roboto"/>
          <a:cs typeface="Roboto"/>
          <a:sym typeface="Roboto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92D6C"/>
          </a:solidFill>
          <a:uFillTx/>
          <a:latin typeface="Roboto"/>
          <a:ea typeface="Roboto"/>
          <a:cs typeface="Roboto"/>
          <a:sym typeface="Roboto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92D6C"/>
          </a:solidFill>
          <a:uFillTx/>
          <a:latin typeface="Roboto"/>
          <a:ea typeface="Roboto"/>
          <a:cs typeface="Roboto"/>
          <a:sym typeface="Roboto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92D6C"/>
          </a:solidFill>
          <a:uFillTx/>
          <a:latin typeface="Roboto"/>
          <a:ea typeface="Roboto"/>
          <a:cs typeface="Roboto"/>
          <a:sym typeface="Roboto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92D6C"/>
          </a:solidFill>
          <a:uFillTx/>
          <a:latin typeface="Roboto"/>
          <a:ea typeface="Roboto"/>
          <a:cs typeface="Roboto"/>
          <a:sym typeface="Roboto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92D6C"/>
          </a:solidFill>
          <a:uFillTx/>
          <a:latin typeface="Roboto"/>
          <a:ea typeface="Roboto"/>
          <a:cs typeface="Roboto"/>
          <a:sym typeface="Roboto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92D6C"/>
          </a:solidFill>
          <a:uFillTx/>
          <a:latin typeface="Roboto"/>
          <a:ea typeface="Roboto"/>
          <a:cs typeface="Roboto"/>
          <a:sym typeface="Roboto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92D6C"/>
          </a:solidFill>
          <a:uFillTx/>
          <a:latin typeface="Roboto"/>
          <a:ea typeface="Roboto"/>
          <a:cs typeface="Roboto"/>
          <a:sym typeface="Roboto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92D6C"/>
          </a:solidFill>
          <a:uFillTx/>
          <a:latin typeface="Roboto"/>
          <a:ea typeface="Roboto"/>
          <a:cs typeface="Roboto"/>
          <a:sym typeface="Roboto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808080"/>
          </a:solidFill>
          <a:uFillTx/>
          <a:latin typeface="Roboto"/>
          <a:ea typeface="Roboto"/>
          <a:cs typeface="Roboto"/>
          <a:sym typeface="Roboto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808080"/>
          </a:solidFill>
          <a:uFillTx/>
          <a:latin typeface="Roboto"/>
          <a:ea typeface="Roboto"/>
          <a:cs typeface="Roboto"/>
          <a:sym typeface="Roboto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808080"/>
          </a:solidFill>
          <a:uFillTx/>
          <a:latin typeface="Roboto"/>
          <a:ea typeface="Roboto"/>
          <a:cs typeface="Roboto"/>
          <a:sym typeface="Roboto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808080"/>
          </a:solidFill>
          <a:uFillTx/>
          <a:latin typeface="Roboto"/>
          <a:ea typeface="Roboto"/>
          <a:cs typeface="Roboto"/>
          <a:sym typeface="Roboto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808080"/>
          </a:solidFill>
          <a:uFillTx/>
          <a:latin typeface="Roboto"/>
          <a:ea typeface="Roboto"/>
          <a:cs typeface="Roboto"/>
          <a:sym typeface="Roboto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808080"/>
          </a:solidFill>
          <a:uFillTx/>
          <a:latin typeface="Roboto"/>
          <a:ea typeface="Roboto"/>
          <a:cs typeface="Roboto"/>
          <a:sym typeface="Roboto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808080"/>
          </a:solidFill>
          <a:uFillTx/>
          <a:latin typeface="Roboto"/>
          <a:ea typeface="Roboto"/>
          <a:cs typeface="Roboto"/>
          <a:sym typeface="Roboto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808080"/>
          </a:solidFill>
          <a:uFillTx/>
          <a:latin typeface="Roboto"/>
          <a:ea typeface="Roboto"/>
          <a:cs typeface="Roboto"/>
          <a:sym typeface="Roboto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808080"/>
          </a:solidFill>
          <a:uFillTx/>
          <a:latin typeface="Roboto"/>
          <a:ea typeface="Roboto"/>
          <a:cs typeface="Roboto"/>
          <a:sym typeface="Robot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oi.org/10.1038/nbt.3423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doi.org/10.3389/fmicb.2022.852596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doi.org/10.1515/ntrev-2022-0036?urlappend=?utm_source=researchgate.net&amp;utm_medium=article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3"/>
          <p:cNvSpPr txBox="1"/>
          <p:nvPr/>
        </p:nvSpPr>
        <p:spPr>
          <a:xfrm>
            <a:off x="567672" y="2203623"/>
            <a:ext cx="2305806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3200" b="1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Module 2.2</a:t>
            </a:r>
          </a:p>
        </p:txBody>
      </p:sp>
      <p:sp>
        <p:nvSpPr>
          <p:cNvPr id="113" name="Rectangle 3"/>
          <p:cNvSpPr txBox="1"/>
          <p:nvPr/>
        </p:nvSpPr>
        <p:spPr>
          <a:xfrm>
            <a:off x="666447" y="1107846"/>
            <a:ext cx="11430766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400" b="1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Beginner Course on Microbial Genomics: Applications &amp; Research (2026)</a:t>
            </a:r>
          </a:p>
        </p:txBody>
      </p:sp>
      <p:sp>
        <p:nvSpPr>
          <p:cNvPr id="114" name="Rectangle 3"/>
          <p:cNvSpPr txBox="1"/>
          <p:nvPr/>
        </p:nvSpPr>
        <p:spPr>
          <a:xfrm>
            <a:off x="3365875" y="5166006"/>
            <a:ext cx="330638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PhD Student: Quynh Nguyen</a:t>
            </a:r>
          </a:p>
        </p:txBody>
      </p:sp>
      <p:sp>
        <p:nvSpPr>
          <p:cNvPr id="115" name="Rectangle 3"/>
          <p:cNvSpPr txBox="1"/>
          <p:nvPr/>
        </p:nvSpPr>
        <p:spPr>
          <a:xfrm>
            <a:off x="666447" y="5140606"/>
            <a:ext cx="1201794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 b="1" spc="79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Lecturer</a:t>
            </a:r>
          </a:p>
        </p:txBody>
      </p:sp>
      <p:sp>
        <p:nvSpPr>
          <p:cNvPr id="116" name="TextBox 20"/>
          <p:cNvSpPr txBox="1"/>
          <p:nvPr/>
        </p:nvSpPr>
        <p:spPr>
          <a:xfrm>
            <a:off x="457041" y="2962706"/>
            <a:ext cx="11193177" cy="1197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 algn="ctr">
              <a:lnSpc>
                <a:spcPct val="91000"/>
              </a:lnSpc>
              <a:spcBef>
                <a:spcPts val="600"/>
              </a:spcBef>
              <a:defRPr sz="3600" spc="80">
                <a:latin typeface="Roboto Black"/>
                <a:ea typeface="Roboto Black"/>
                <a:cs typeface="Roboto Black"/>
                <a:sym typeface="Roboto Black"/>
              </a:defRPr>
            </a:pPr>
            <a:r>
              <a:t>Long-Read Sequencing</a:t>
            </a:r>
            <a:br/>
            <a:r>
              <a:rPr sz="4000" spc="79"/>
              <a:t>Oxford Nanopore Technology</a:t>
            </a:r>
          </a:p>
        </p:txBody>
      </p:sp>
      <p:sp>
        <p:nvSpPr>
          <p:cNvPr id="117" name="Straight Connector 21"/>
          <p:cNvSpPr/>
          <p:nvPr/>
        </p:nvSpPr>
        <p:spPr>
          <a:xfrm>
            <a:off x="637132" y="2750993"/>
            <a:ext cx="2080188" cy="1"/>
          </a:xfrm>
          <a:prstGeom prst="line">
            <a:avLst/>
          </a:prstGeom>
          <a:ln w="22225">
            <a:solidFill>
              <a:srgbClr val="00000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125" name="Group 38"/>
          <p:cNvGrpSpPr/>
          <p:nvPr/>
        </p:nvGrpSpPr>
        <p:grpSpPr>
          <a:xfrm>
            <a:off x="413022" y="309062"/>
            <a:ext cx="11291298" cy="625379"/>
            <a:chOff x="0" y="0"/>
            <a:chExt cx="11291297" cy="625378"/>
          </a:xfrm>
        </p:grpSpPr>
        <p:grpSp>
          <p:nvGrpSpPr>
            <p:cNvPr id="120" name="Group 15"/>
            <p:cNvGrpSpPr/>
            <p:nvPr/>
          </p:nvGrpSpPr>
          <p:grpSpPr>
            <a:xfrm>
              <a:off x="10216489" y="58094"/>
              <a:ext cx="1074809" cy="447185"/>
              <a:chOff x="0" y="0"/>
              <a:chExt cx="1074807" cy="447184"/>
            </a:xfrm>
          </p:grpSpPr>
          <p:sp>
            <p:nvSpPr>
              <p:cNvPr id="118" name="Picture 18"/>
              <p:cNvSpPr/>
              <p:nvPr/>
            </p:nvSpPr>
            <p:spPr>
              <a:xfrm>
                <a:off x="627622" y="0"/>
                <a:ext cx="447186" cy="4471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19" name="Picture 19"/>
              <p:cNvSpPr/>
              <p:nvPr/>
            </p:nvSpPr>
            <p:spPr>
              <a:xfrm>
                <a:off x="-1" y="0"/>
                <a:ext cx="447187" cy="44718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grpSp>
          <p:nvGrpSpPr>
            <p:cNvPr id="123" name="Group 22"/>
            <p:cNvGrpSpPr/>
            <p:nvPr/>
          </p:nvGrpSpPr>
          <p:grpSpPr>
            <a:xfrm>
              <a:off x="0" y="0"/>
              <a:ext cx="1667576" cy="625379"/>
              <a:chOff x="0" y="0"/>
              <a:chExt cx="1667574" cy="625378"/>
            </a:xfrm>
          </p:grpSpPr>
          <p:sp>
            <p:nvSpPr>
              <p:cNvPr id="121" name="Picture 23"/>
              <p:cNvSpPr/>
              <p:nvPr/>
            </p:nvSpPr>
            <p:spPr>
              <a:xfrm>
                <a:off x="-1" y="0"/>
                <a:ext cx="625379" cy="6253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122" name="Picture 25"/>
              <p:cNvSpPr/>
              <p:nvPr/>
            </p:nvSpPr>
            <p:spPr>
              <a:xfrm>
                <a:off x="741071" y="58094"/>
                <a:ext cx="926504" cy="49598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24" name="Picture 30"/>
            <p:cNvSpPr/>
            <p:nvPr/>
          </p:nvSpPr>
          <p:spPr>
            <a:xfrm>
              <a:off x="8496738" y="56824"/>
              <a:ext cx="1499991" cy="44226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126" name="Rectangle 3"/>
          <p:cNvSpPr txBox="1"/>
          <p:nvPr/>
        </p:nvSpPr>
        <p:spPr>
          <a:xfrm>
            <a:off x="649977" y="5669167"/>
            <a:ext cx="2555037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2000" b="1" spc="79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Teaching assistant</a:t>
            </a:r>
          </a:p>
        </p:txBody>
      </p:sp>
      <p:sp>
        <p:nvSpPr>
          <p:cNvPr id="127" name="Rectangle 3"/>
          <p:cNvSpPr txBox="1"/>
          <p:nvPr/>
        </p:nvSpPr>
        <p:spPr>
          <a:xfrm>
            <a:off x="3365875" y="5666867"/>
            <a:ext cx="286469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Mr: Ton Ngoc Minh Quan</a:t>
            </a:r>
          </a:p>
        </p:txBody>
      </p:sp>
      <p:grpSp>
        <p:nvGrpSpPr>
          <p:cNvPr id="2" name="Group 38">
            <a:extLst>
              <a:ext uri="{FF2B5EF4-FFF2-40B4-BE49-F238E27FC236}">
                <a16:creationId xmlns:a16="http://schemas.microsoft.com/office/drawing/2014/main" id="{A60BB9FC-3D86-726F-81DD-D855B7222678}"/>
              </a:ext>
            </a:extLst>
          </p:cNvPr>
          <p:cNvGrpSpPr/>
          <p:nvPr/>
        </p:nvGrpSpPr>
        <p:grpSpPr>
          <a:xfrm>
            <a:off x="565422" y="461462"/>
            <a:ext cx="11291298" cy="625379"/>
            <a:chOff x="0" y="0"/>
            <a:chExt cx="11291297" cy="625378"/>
          </a:xfrm>
        </p:grpSpPr>
        <p:grpSp>
          <p:nvGrpSpPr>
            <p:cNvPr id="3" name="Group 15">
              <a:extLst>
                <a:ext uri="{FF2B5EF4-FFF2-40B4-BE49-F238E27FC236}">
                  <a16:creationId xmlns:a16="http://schemas.microsoft.com/office/drawing/2014/main" id="{C77EC993-5467-E3B6-9B86-86FED8596122}"/>
                </a:ext>
              </a:extLst>
            </p:cNvPr>
            <p:cNvGrpSpPr/>
            <p:nvPr/>
          </p:nvGrpSpPr>
          <p:grpSpPr>
            <a:xfrm>
              <a:off x="10216489" y="58094"/>
              <a:ext cx="1074809" cy="447185"/>
              <a:chOff x="0" y="0"/>
              <a:chExt cx="1074807" cy="447184"/>
            </a:xfrm>
          </p:grpSpPr>
          <p:pic>
            <p:nvPicPr>
              <p:cNvPr id="8" name="Picture 18" descr="Picture 18">
                <a:extLst>
                  <a:ext uri="{FF2B5EF4-FFF2-40B4-BE49-F238E27FC236}">
                    <a16:creationId xmlns:a16="http://schemas.microsoft.com/office/drawing/2014/main" id="{937B7D0F-EF93-098A-EC73-091C495C60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7622" y="0"/>
                <a:ext cx="447186" cy="44718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9" name="Picture 19" descr="Picture 19">
                <a:extLst>
                  <a:ext uri="{FF2B5EF4-FFF2-40B4-BE49-F238E27FC236}">
                    <a16:creationId xmlns:a16="http://schemas.microsoft.com/office/drawing/2014/main" id="{036D5096-864C-EB67-BB69-CE434B1134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" y="0"/>
                <a:ext cx="447187" cy="44718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grpSp>
          <p:nvGrpSpPr>
            <p:cNvPr id="4" name="Group 22">
              <a:extLst>
                <a:ext uri="{FF2B5EF4-FFF2-40B4-BE49-F238E27FC236}">
                  <a16:creationId xmlns:a16="http://schemas.microsoft.com/office/drawing/2014/main" id="{6C1A0FFA-4409-6369-114D-4D4BD9C5F6CB}"/>
                </a:ext>
              </a:extLst>
            </p:cNvPr>
            <p:cNvGrpSpPr/>
            <p:nvPr/>
          </p:nvGrpSpPr>
          <p:grpSpPr>
            <a:xfrm>
              <a:off x="0" y="0"/>
              <a:ext cx="1667576" cy="625379"/>
              <a:chOff x="0" y="0"/>
              <a:chExt cx="1667574" cy="625378"/>
            </a:xfrm>
          </p:grpSpPr>
          <p:pic>
            <p:nvPicPr>
              <p:cNvPr id="6" name="Picture 23" descr="Picture 23">
                <a:extLst>
                  <a:ext uri="{FF2B5EF4-FFF2-40B4-BE49-F238E27FC236}">
                    <a16:creationId xmlns:a16="http://schemas.microsoft.com/office/drawing/2014/main" id="{0C01AC37-2870-840A-4CD5-BAB83CC9B5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" y="0"/>
                <a:ext cx="625379" cy="62537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pic>
            <p:nvPicPr>
              <p:cNvPr id="7" name="Picture 25" descr="Picture 25">
                <a:extLst>
                  <a:ext uri="{FF2B5EF4-FFF2-40B4-BE49-F238E27FC236}">
                    <a16:creationId xmlns:a16="http://schemas.microsoft.com/office/drawing/2014/main" id="{41DE4BB5-F089-C9DE-0A9D-689111FAB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1071" y="58094"/>
                <a:ext cx="926504" cy="495989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pic>
          <p:nvPicPr>
            <p:cNvPr id="5" name="Picture 30" descr="Picture 30">
              <a:extLst>
                <a:ext uri="{FF2B5EF4-FFF2-40B4-BE49-F238E27FC236}">
                  <a16:creationId xmlns:a16="http://schemas.microsoft.com/office/drawing/2014/main" id="{52BCC99D-29F2-AAEF-AB5E-A632BD5DE7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496738" y="56824"/>
              <a:ext cx="1499991" cy="4422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22"/>
          <p:cNvSpPr txBox="1"/>
          <p:nvPr/>
        </p:nvSpPr>
        <p:spPr>
          <a:xfrm>
            <a:off x="442343" y="289559"/>
            <a:ext cx="3387667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4000" b="1" spc="79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Our journeys</a:t>
            </a:r>
          </a:p>
        </p:txBody>
      </p:sp>
      <p:sp>
        <p:nvSpPr>
          <p:cNvPr id="180" name="Graphic 14"/>
          <p:cNvSpPr/>
          <p:nvPr/>
        </p:nvSpPr>
        <p:spPr>
          <a:xfrm>
            <a:off x="2937162" y="2792845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1" name="Graphic 15"/>
          <p:cNvSpPr/>
          <p:nvPr/>
        </p:nvSpPr>
        <p:spPr>
          <a:xfrm>
            <a:off x="886401" y="3790084"/>
            <a:ext cx="459511" cy="45835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2" name="Graphic 18"/>
          <p:cNvSpPr/>
          <p:nvPr/>
        </p:nvSpPr>
        <p:spPr>
          <a:xfrm>
            <a:off x="10717355" y="5250582"/>
            <a:ext cx="459511" cy="45835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3" name="Rectangle 3"/>
          <p:cNvSpPr txBox="1"/>
          <p:nvPr/>
        </p:nvSpPr>
        <p:spPr>
          <a:xfrm>
            <a:off x="441066" y="3400047"/>
            <a:ext cx="150130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Raw sequences</a:t>
            </a:r>
          </a:p>
        </p:txBody>
      </p:sp>
      <p:sp>
        <p:nvSpPr>
          <p:cNvPr id="184" name="Graphic 23"/>
          <p:cNvSpPr/>
          <p:nvPr/>
        </p:nvSpPr>
        <p:spPr>
          <a:xfrm>
            <a:off x="10238219" y="811355"/>
            <a:ext cx="459511" cy="45835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5" name="Rectangle 3"/>
          <p:cNvSpPr txBox="1"/>
          <p:nvPr/>
        </p:nvSpPr>
        <p:spPr>
          <a:xfrm>
            <a:off x="9570353" y="501207"/>
            <a:ext cx="186838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Annotated genomes</a:t>
            </a:r>
          </a:p>
        </p:txBody>
      </p:sp>
      <p:sp>
        <p:nvSpPr>
          <p:cNvPr id="186" name="Rectangle 3"/>
          <p:cNvSpPr txBox="1"/>
          <p:nvPr/>
        </p:nvSpPr>
        <p:spPr>
          <a:xfrm>
            <a:off x="10456964" y="4945252"/>
            <a:ext cx="1025893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Phylogeny</a:t>
            </a:r>
          </a:p>
        </p:txBody>
      </p:sp>
      <p:sp>
        <p:nvSpPr>
          <p:cNvPr id="187" name="Graphic 26"/>
          <p:cNvSpPr/>
          <p:nvPr/>
        </p:nvSpPr>
        <p:spPr>
          <a:xfrm>
            <a:off x="1610367" y="3763779"/>
            <a:ext cx="550720" cy="4987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8" name="Rectangle 3"/>
          <p:cNvSpPr txBox="1"/>
          <p:nvPr/>
        </p:nvSpPr>
        <p:spPr>
          <a:xfrm>
            <a:off x="1708832" y="4300777"/>
            <a:ext cx="391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QC</a:t>
            </a:r>
          </a:p>
        </p:txBody>
      </p:sp>
      <p:sp>
        <p:nvSpPr>
          <p:cNvPr id="189" name="Rectangle 3"/>
          <p:cNvSpPr txBox="1"/>
          <p:nvPr/>
        </p:nvSpPr>
        <p:spPr>
          <a:xfrm>
            <a:off x="2909931" y="3267523"/>
            <a:ext cx="1144836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pPr>
            <a:r>
              <a:t>Assembled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pPr>
            <a:r>
              <a:t>genome</a:t>
            </a:r>
          </a:p>
        </p:txBody>
      </p:sp>
      <p:sp>
        <p:nvSpPr>
          <p:cNvPr id="190" name="Graphic 33"/>
          <p:cNvSpPr/>
          <p:nvPr/>
        </p:nvSpPr>
        <p:spPr>
          <a:xfrm>
            <a:off x="8399094" y="1661202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1" name="Graphic 34"/>
          <p:cNvSpPr/>
          <p:nvPr/>
        </p:nvSpPr>
        <p:spPr>
          <a:xfrm>
            <a:off x="5415141" y="2033914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2" name="Graphic 1"/>
          <p:cNvSpPr/>
          <p:nvPr/>
        </p:nvSpPr>
        <p:spPr>
          <a:xfrm>
            <a:off x="9708573" y="5430982"/>
            <a:ext cx="914401" cy="9144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3" name="Graphic 2"/>
          <p:cNvSpPr/>
          <p:nvPr/>
        </p:nvSpPr>
        <p:spPr>
          <a:xfrm>
            <a:off x="10948265" y="5885582"/>
            <a:ext cx="360219" cy="41217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4" name="Graphic 3"/>
          <p:cNvSpPr/>
          <p:nvPr/>
        </p:nvSpPr>
        <p:spPr>
          <a:xfrm>
            <a:off x="10508095" y="5716732"/>
            <a:ext cx="648856" cy="55072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5" name="Graphic 4"/>
          <p:cNvSpPr/>
          <p:nvPr/>
        </p:nvSpPr>
        <p:spPr>
          <a:xfrm rot="660000" flipH="1">
            <a:off x="11101243" y="5692197"/>
            <a:ext cx="412175" cy="36022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6" name="Graphic 5"/>
          <p:cNvSpPr/>
          <p:nvPr/>
        </p:nvSpPr>
        <p:spPr>
          <a:xfrm>
            <a:off x="10118435" y="951346"/>
            <a:ext cx="579584" cy="63731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7" name="Graphic 6"/>
          <p:cNvSpPr/>
          <p:nvPr/>
        </p:nvSpPr>
        <p:spPr>
          <a:xfrm>
            <a:off x="3048891" y="5484983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8" name="Graphic 7"/>
          <p:cNvSpPr/>
          <p:nvPr/>
        </p:nvSpPr>
        <p:spPr>
          <a:xfrm>
            <a:off x="7226299" y="5026888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9" name="Straight Arrow Connector 8"/>
          <p:cNvSpPr/>
          <p:nvPr/>
        </p:nvSpPr>
        <p:spPr>
          <a:xfrm flipV="1">
            <a:off x="1499755" y="3257717"/>
            <a:ext cx="1543628" cy="608483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" name="Straight Arrow Connector 9"/>
          <p:cNvSpPr/>
          <p:nvPr/>
        </p:nvSpPr>
        <p:spPr>
          <a:xfrm>
            <a:off x="1141846" y="4259118"/>
            <a:ext cx="302490" cy="781629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Straight Arrow Connector 12"/>
          <p:cNvSpPr/>
          <p:nvPr/>
        </p:nvSpPr>
        <p:spPr>
          <a:xfrm>
            <a:off x="1464373" y="5042533"/>
            <a:ext cx="683490" cy="640291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2" name="Straight Arrow Connector 13"/>
          <p:cNvSpPr/>
          <p:nvPr/>
        </p:nvSpPr>
        <p:spPr>
          <a:xfrm>
            <a:off x="2177212" y="5687774"/>
            <a:ext cx="966165" cy="21627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" name="Straight Arrow Connector 16"/>
          <p:cNvSpPr/>
          <p:nvPr/>
        </p:nvSpPr>
        <p:spPr>
          <a:xfrm>
            <a:off x="3172727" y="5865984"/>
            <a:ext cx="363941" cy="296163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" name="Straight Arrow Connector 17"/>
          <p:cNvSpPr/>
          <p:nvPr/>
        </p:nvSpPr>
        <p:spPr>
          <a:xfrm flipV="1">
            <a:off x="3535291" y="6057678"/>
            <a:ext cx="425393" cy="84838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" name="Straight Arrow Connector 19"/>
          <p:cNvSpPr/>
          <p:nvPr/>
        </p:nvSpPr>
        <p:spPr>
          <a:xfrm flipV="1">
            <a:off x="3897856" y="5670534"/>
            <a:ext cx="996891" cy="404385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" name="Straight Arrow Connector 21"/>
          <p:cNvSpPr/>
          <p:nvPr/>
        </p:nvSpPr>
        <p:spPr>
          <a:xfrm>
            <a:off x="4899516" y="5675481"/>
            <a:ext cx="953876" cy="1197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" name="Straight Arrow Connector 27"/>
          <p:cNvSpPr/>
          <p:nvPr/>
        </p:nvSpPr>
        <p:spPr>
          <a:xfrm flipV="1">
            <a:off x="5870451" y="5418580"/>
            <a:ext cx="665054" cy="244611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Straight Arrow Connector 31"/>
          <p:cNvSpPr/>
          <p:nvPr/>
        </p:nvSpPr>
        <p:spPr>
          <a:xfrm flipV="1">
            <a:off x="6552562" y="5418580"/>
            <a:ext cx="775667" cy="17241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9" name="Straight Arrow Connector 35"/>
          <p:cNvSpPr/>
          <p:nvPr/>
        </p:nvSpPr>
        <p:spPr>
          <a:xfrm>
            <a:off x="7345287" y="5454254"/>
            <a:ext cx="652764" cy="240858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Straight Arrow Connector 36"/>
          <p:cNvSpPr/>
          <p:nvPr/>
        </p:nvSpPr>
        <p:spPr>
          <a:xfrm>
            <a:off x="8039690" y="5693916"/>
            <a:ext cx="204166" cy="351470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Straight Arrow Connector 37"/>
          <p:cNvSpPr/>
          <p:nvPr/>
        </p:nvSpPr>
        <p:spPr>
          <a:xfrm flipV="1">
            <a:off x="8273206" y="6014659"/>
            <a:ext cx="1341021" cy="1109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" name="Straight Arrow Connector 38"/>
          <p:cNvSpPr/>
          <p:nvPr/>
        </p:nvSpPr>
        <p:spPr>
          <a:xfrm flipV="1">
            <a:off x="1181693" y="3870002"/>
            <a:ext cx="320926" cy="35522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3" name="Straight Arrow Connector 39"/>
          <p:cNvSpPr/>
          <p:nvPr/>
        </p:nvSpPr>
        <p:spPr>
          <a:xfrm flipV="1">
            <a:off x="3066770" y="2519994"/>
            <a:ext cx="1001454" cy="751524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Straight Arrow Connector 41"/>
          <p:cNvSpPr/>
          <p:nvPr/>
        </p:nvSpPr>
        <p:spPr>
          <a:xfrm flipV="1">
            <a:off x="4099158" y="2421975"/>
            <a:ext cx="2238028" cy="11072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Straight Arrow Connector 42"/>
          <p:cNvSpPr/>
          <p:nvPr/>
        </p:nvSpPr>
        <p:spPr>
          <a:xfrm flipV="1">
            <a:off x="6333100" y="2101732"/>
            <a:ext cx="2164286" cy="325808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" name="Straight Arrow Connector 43"/>
          <p:cNvSpPr/>
          <p:nvPr/>
        </p:nvSpPr>
        <p:spPr>
          <a:xfrm flipV="1">
            <a:off x="8563337" y="1451597"/>
            <a:ext cx="1589436" cy="63250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7" name="Rectangle 3"/>
          <p:cNvSpPr txBox="1"/>
          <p:nvPr/>
        </p:nvSpPr>
        <p:spPr>
          <a:xfrm>
            <a:off x="2936206" y="5114583"/>
            <a:ext cx="90759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Mapping</a:t>
            </a:r>
          </a:p>
        </p:txBody>
      </p:sp>
      <p:sp>
        <p:nvSpPr>
          <p:cNvPr id="218" name="Rectangle 3"/>
          <p:cNvSpPr txBox="1"/>
          <p:nvPr/>
        </p:nvSpPr>
        <p:spPr>
          <a:xfrm>
            <a:off x="6409875" y="4683789"/>
            <a:ext cx="1942862" cy="501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Variant calling and filtering</a:t>
            </a:r>
          </a:p>
        </p:txBody>
      </p:sp>
      <p:sp>
        <p:nvSpPr>
          <p:cNvPr id="219" name="Graphic 10"/>
          <p:cNvSpPr/>
          <p:nvPr/>
        </p:nvSpPr>
        <p:spPr>
          <a:xfrm>
            <a:off x="4825250" y="2541129"/>
            <a:ext cx="550720" cy="4987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0" name="Rectangle 3"/>
          <p:cNvSpPr txBox="1"/>
          <p:nvPr/>
        </p:nvSpPr>
        <p:spPr>
          <a:xfrm>
            <a:off x="4205411" y="3092672"/>
            <a:ext cx="316641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QC &amp; Post-Assembly Profiling</a:t>
            </a:r>
          </a:p>
        </p:txBody>
      </p:sp>
      <p:sp>
        <p:nvSpPr>
          <p:cNvPr id="221" name="Rectangle 3"/>
          <p:cNvSpPr txBox="1"/>
          <p:nvPr/>
        </p:nvSpPr>
        <p:spPr>
          <a:xfrm>
            <a:off x="7826793" y="2692811"/>
            <a:ext cx="158066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Hybrid Assembly</a:t>
            </a:r>
          </a:p>
        </p:txBody>
      </p:sp>
      <p:sp>
        <p:nvSpPr>
          <p:cNvPr id="222" name="Graphic 48"/>
          <p:cNvSpPr/>
          <p:nvPr/>
        </p:nvSpPr>
        <p:spPr>
          <a:xfrm>
            <a:off x="5601077" y="2519127"/>
            <a:ext cx="672976" cy="57489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3" name="Graphic 49"/>
          <p:cNvSpPr/>
          <p:nvPr/>
        </p:nvSpPr>
        <p:spPr>
          <a:xfrm>
            <a:off x="8234125" y="2156986"/>
            <a:ext cx="627710" cy="5598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4" name="Rectangle 30"/>
          <p:cNvSpPr/>
          <p:nvPr/>
        </p:nvSpPr>
        <p:spPr>
          <a:xfrm>
            <a:off x="222738" y="4768605"/>
            <a:ext cx="3842572" cy="1894411"/>
          </a:xfrm>
          <a:prstGeom prst="rect">
            <a:avLst/>
          </a:prstGeom>
          <a:solidFill>
            <a:srgbClr val="FFFFFF">
              <a:alpha val="7882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5" name="Rectangle 32"/>
          <p:cNvSpPr/>
          <p:nvPr/>
        </p:nvSpPr>
        <p:spPr>
          <a:xfrm>
            <a:off x="6908821" y="253331"/>
            <a:ext cx="4564617" cy="3146681"/>
          </a:xfrm>
          <a:prstGeom prst="rect">
            <a:avLst/>
          </a:prstGeom>
          <a:solidFill>
            <a:srgbClr val="FFFFFF">
              <a:alpha val="7882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6" name="Rectangle 40"/>
          <p:cNvSpPr/>
          <p:nvPr/>
        </p:nvSpPr>
        <p:spPr>
          <a:xfrm rot="5400000">
            <a:off x="6306444" y="1501606"/>
            <a:ext cx="3015320" cy="7459790"/>
          </a:xfrm>
          <a:prstGeom prst="rect">
            <a:avLst/>
          </a:prstGeom>
          <a:solidFill>
            <a:srgbClr val="FFFFFF">
              <a:alpha val="7882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7" name="Rectangle 46"/>
          <p:cNvSpPr/>
          <p:nvPr/>
        </p:nvSpPr>
        <p:spPr>
          <a:xfrm>
            <a:off x="450062" y="4248439"/>
            <a:ext cx="1014313" cy="522405"/>
          </a:xfrm>
          <a:prstGeom prst="rect">
            <a:avLst/>
          </a:prstGeom>
          <a:solidFill>
            <a:srgbClr val="FFFFFF">
              <a:alpha val="7882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" name="Graphic 1" descr="Flag with solid fill">
            <a:extLst>
              <a:ext uri="{FF2B5EF4-FFF2-40B4-BE49-F238E27FC236}">
                <a16:creationId xmlns:a16="http://schemas.microsoft.com/office/drawing/2014/main" id="{4A5CE828-E905-81DB-5D96-1A08FC4D9C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083" y="3726424"/>
            <a:ext cx="574897" cy="574897"/>
          </a:xfrm>
          <a:prstGeom prst="rect">
            <a:avLst/>
          </a:prstGeom>
        </p:spPr>
      </p:pic>
      <p:pic>
        <p:nvPicPr>
          <p:cNvPr id="3" name="Graphic 2" descr="Flag with solid fill">
            <a:extLst>
              <a:ext uri="{FF2B5EF4-FFF2-40B4-BE49-F238E27FC236}">
                <a16:creationId xmlns:a16="http://schemas.microsoft.com/office/drawing/2014/main" id="{CC58A183-A1FE-5A35-D44E-1C9147ED7F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6206" y="2728781"/>
            <a:ext cx="574897" cy="574897"/>
          </a:xfrm>
          <a:prstGeom prst="rect">
            <a:avLst/>
          </a:prstGeom>
        </p:spPr>
      </p:pic>
      <p:pic>
        <p:nvPicPr>
          <p:cNvPr id="4" name="Graphic 3" descr="Flag with solid fill">
            <a:extLst>
              <a:ext uri="{FF2B5EF4-FFF2-40B4-BE49-F238E27FC236}">
                <a16:creationId xmlns:a16="http://schemas.microsoft.com/office/drawing/2014/main" id="{68FF99B8-A121-09C0-CD84-3ABCFFF6DB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1349" y="2006728"/>
            <a:ext cx="574897" cy="574897"/>
          </a:xfrm>
          <a:prstGeom prst="rect">
            <a:avLst/>
          </a:prstGeom>
        </p:spPr>
      </p:pic>
      <p:pic>
        <p:nvPicPr>
          <p:cNvPr id="5" name="Graphic 4" descr="Flag with solid fill">
            <a:extLst>
              <a:ext uri="{FF2B5EF4-FFF2-40B4-BE49-F238E27FC236}">
                <a16:creationId xmlns:a16="http://schemas.microsoft.com/office/drawing/2014/main" id="{076D6491-5B11-F1DE-20A5-EA461C9919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53332" y="1819433"/>
            <a:ext cx="574897" cy="574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ED66B-3339-D989-BF8B-AF3F7EDE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22">
            <a:extLst>
              <a:ext uri="{FF2B5EF4-FFF2-40B4-BE49-F238E27FC236}">
                <a16:creationId xmlns:a16="http://schemas.microsoft.com/office/drawing/2014/main" id="{13098995-AEC1-886B-27BE-FC906B1906F2}"/>
              </a:ext>
            </a:extLst>
          </p:cNvPr>
          <p:cNvSpPr txBox="1"/>
          <p:nvPr/>
        </p:nvSpPr>
        <p:spPr>
          <a:xfrm>
            <a:off x="442343" y="289559"/>
            <a:ext cx="3387667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4000" b="1" spc="79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Our journeys</a:t>
            </a:r>
          </a:p>
        </p:txBody>
      </p:sp>
      <p:sp>
        <p:nvSpPr>
          <p:cNvPr id="180" name="Graphic 14">
            <a:extLst>
              <a:ext uri="{FF2B5EF4-FFF2-40B4-BE49-F238E27FC236}">
                <a16:creationId xmlns:a16="http://schemas.microsoft.com/office/drawing/2014/main" id="{14D6B112-823E-612E-2392-0F1CD8A879C5}"/>
              </a:ext>
            </a:extLst>
          </p:cNvPr>
          <p:cNvSpPr/>
          <p:nvPr/>
        </p:nvSpPr>
        <p:spPr>
          <a:xfrm>
            <a:off x="2937162" y="2792845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1" name="Graphic 15">
            <a:extLst>
              <a:ext uri="{FF2B5EF4-FFF2-40B4-BE49-F238E27FC236}">
                <a16:creationId xmlns:a16="http://schemas.microsoft.com/office/drawing/2014/main" id="{F538A4A4-433C-13AE-E4FD-FE0CD8296182}"/>
              </a:ext>
            </a:extLst>
          </p:cNvPr>
          <p:cNvSpPr/>
          <p:nvPr/>
        </p:nvSpPr>
        <p:spPr>
          <a:xfrm>
            <a:off x="886401" y="3790084"/>
            <a:ext cx="459511" cy="45835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2" name="Graphic 18">
            <a:extLst>
              <a:ext uri="{FF2B5EF4-FFF2-40B4-BE49-F238E27FC236}">
                <a16:creationId xmlns:a16="http://schemas.microsoft.com/office/drawing/2014/main" id="{36BB5766-3800-E9AA-CC86-2EAE5F01026A}"/>
              </a:ext>
            </a:extLst>
          </p:cNvPr>
          <p:cNvSpPr/>
          <p:nvPr/>
        </p:nvSpPr>
        <p:spPr>
          <a:xfrm>
            <a:off x="10717355" y="5250582"/>
            <a:ext cx="459511" cy="45835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3" name="Rectangle 3">
            <a:extLst>
              <a:ext uri="{FF2B5EF4-FFF2-40B4-BE49-F238E27FC236}">
                <a16:creationId xmlns:a16="http://schemas.microsoft.com/office/drawing/2014/main" id="{599060E6-6EF6-FFEA-9730-703B49AB1FA1}"/>
              </a:ext>
            </a:extLst>
          </p:cNvPr>
          <p:cNvSpPr txBox="1"/>
          <p:nvPr/>
        </p:nvSpPr>
        <p:spPr>
          <a:xfrm>
            <a:off x="441066" y="3400047"/>
            <a:ext cx="150130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Raw sequences</a:t>
            </a:r>
          </a:p>
        </p:txBody>
      </p:sp>
      <p:sp>
        <p:nvSpPr>
          <p:cNvPr id="184" name="Graphic 23">
            <a:extLst>
              <a:ext uri="{FF2B5EF4-FFF2-40B4-BE49-F238E27FC236}">
                <a16:creationId xmlns:a16="http://schemas.microsoft.com/office/drawing/2014/main" id="{D8C89F59-0DB1-5DE8-9684-DC025C9AD907}"/>
              </a:ext>
            </a:extLst>
          </p:cNvPr>
          <p:cNvSpPr/>
          <p:nvPr/>
        </p:nvSpPr>
        <p:spPr>
          <a:xfrm>
            <a:off x="10238219" y="811355"/>
            <a:ext cx="459511" cy="45835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5" name="Rectangle 3">
            <a:extLst>
              <a:ext uri="{FF2B5EF4-FFF2-40B4-BE49-F238E27FC236}">
                <a16:creationId xmlns:a16="http://schemas.microsoft.com/office/drawing/2014/main" id="{3E379C67-0F96-3700-C87C-88C15AB81176}"/>
              </a:ext>
            </a:extLst>
          </p:cNvPr>
          <p:cNvSpPr txBox="1"/>
          <p:nvPr/>
        </p:nvSpPr>
        <p:spPr>
          <a:xfrm>
            <a:off x="9570353" y="501207"/>
            <a:ext cx="186838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Annotated genomes</a:t>
            </a:r>
          </a:p>
        </p:txBody>
      </p:sp>
      <p:sp>
        <p:nvSpPr>
          <p:cNvPr id="186" name="Rectangle 3">
            <a:extLst>
              <a:ext uri="{FF2B5EF4-FFF2-40B4-BE49-F238E27FC236}">
                <a16:creationId xmlns:a16="http://schemas.microsoft.com/office/drawing/2014/main" id="{41429A91-EA8B-82F4-5596-1A4FAD1D2921}"/>
              </a:ext>
            </a:extLst>
          </p:cNvPr>
          <p:cNvSpPr txBox="1"/>
          <p:nvPr/>
        </p:nvSpPr>
        <p:spPr>
          <a:xfrm>
            <a:off x="10456964" y="4945252"/>
            <a:ext cx="1025893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Phylogeny</a:t>
            </a:r>
          </a:p>
        </p:txBody>
      </p:sp>
      <p:sp>
        <p:nvSpPr>
          <p:cNvPr id="187" name="Graphic 26">
            <a:extLst>
              <a:ext uri="{FF2B5EF4-FFF2-40B4-BE49-F238E27FC236}">
                <a16:creationId xmlns:a16="http://schemas.microsoft.com/office/drawing/2014/main" id="{57804925-F776-4F8B-2C83-EFAA171207E8}"/>
              </a:ext>
            </a:extLst>
          </p:cNvPr>
          <p:cNvSpPr/>
          <p:nvPr/>
        </p:nvSpPr>
        <p:spPr>
          <a:xfrm>
            <a:off x="1610367" y="3763779"/>
            <a:ext cx="550720" cy="4987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88" name="Rectangle 3">
            <a:extLst>
              <a:ext uri="{FF2B5EF4-FFF2-40B4-BE49-F238E27FC236}">
                <a16:creationId xmlns:a16="http://schemas.microsoft.com/office/drawing/2014/main" id="{12EC8B0F-7404-7910-9545-9057BFE35920}"/>
              </a:ext>
            </a:extLst>
          </p:cNvPr>
          <p:cNvSpPr txBox="1"/>
          <p:nvPr/>
        </p:nvSpPr>
        <p:spPr>
          <a:xfrm>
            <a:off x="1708832" y="4300777"/>
            <a:ext cx="39116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QC</a:t>
            </a:r>
          </a:p>
        </p:txBody>
      </p:sp>
      <p:sp>
        <p:nvSpPr>
          <p:cNvPr id="189" name="Rectangle 3">
            <a:extLst>
              <a:ext uri="{FF2B5EF4-FFF2-40B4-BE49-F238E27FC236}">
                <a16:creationId xmlns:a16="http://schemas.microsoft.com/office/drawing/2014/main" id="{26539C2C-39F8-5ADF-2830-FABF23EA3654}"/>
              </a:ext>
            </a:extLst>
          </p:cNvPr>
          <p:cNvSpPr txBox="1"/>
          <p:nvPr/>
        </p:nvSpPr>
        <p:spPr>
          <a:xfrm>
            <a:off x="2909931" y="3267523"/>
            <a:ext cx="1144836" cy="577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b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pPr>
            <a:r>
              <a:t>Assembled 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pPr>
            <a:r>
              <a:t>genome</a:t>
            </a:r>
          </a:p>
        </p:txBody>
      </p:sp>
      <p:sp>
        <p:nvSpPr>
          <p:cNvPr id="190" name="Graphic 33">
            <a:extLst>
              <a:ext uri="{FF2B5EF4-FFF2-40B4-BE49-F238E27FC236}">
                <a16:creationId xmlns:a16="http://schemas.microsoft.com/office/drawing/2014/main" id="{6AA5E654-CD68-066C-E3B7-836DA64678B2}"/>
              </a:ext>
            </a:extLst>
          </p:cNvPr>
          <p:cNvSpPr/>
          <p:nvPr/>
        </p:nvSpPr>
        <p:spPr>
          <a:xfrm>
            <a:off x="8399094" y="1661202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1" name="Graphic 34">
            <a:extLst>
              <a:ext uri="{FF2B5EF4-FFF2-40B4-BE49-F238E27FC236}">
                <a16:creationId xmlns:a16="http://schemas.microsoft.com/office/drawing/2014/main" id="{80E97E41-929C-A3D5-98E8-304F4F362DD5}"/>
              </a:ext>
            </a:extLst>
          </p:cNvPr>
          <p:cNvSpPr/>
          <p:nvPr/>
        </p:nvSpPr>
        <p:spPr>
          <a:xfrm>
            <a:off x="5415141" y="2033914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2" name="Graphic 1">
            <a:extLst>
              <a:ext uri="{FF2B5EF4-FFF2-40B4-BE49-F238E27FC236}">
                <a16:creationId xmlns:a16="http://schemas.microsoft.com/office/drawing/2014/main" id="{943B2930-8EE8-21AA-80B7-A6A091727ED6}"/>
              </a:ext>
            </a:extLst>
          </p:cNvPr>
          <p:cNvSpPr/>
          <p:nvPr/>
        </p:nvSpPr>
        <p:spPr>
          <a:xfrm>
            <a:off x="9708573" y="5430982"/>
            <a:ext cx="914401" cy="91440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3" name="Graphic 2">
            <a:extLst>
              <a:ext uri="{FF2B5EF4-FFF2-40B4-BE49-F238E27FC236}">
                <a16:creationId xmlns:a16="http://schemas.microsoft.com/office/drawing/2014/main" id="{24FAE58B-2AD4-B800-BA19-F62F2942CFF9}"/>
              </a:ext>
            </a:extLst>
          </p:cNvPr>
          <p:cNvSpPr/>
          <p:nvPr/>
        </p:nvSpPr>
        <p:spPr>
          <a:xfrm>
            <a:off x="10948265" y="5885582"/>
            <a:ext cx="360219" cy="41217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4" name="Graphic 3">
            <a:extLst>
              <a:ext uri="{FF2B5EF4-FFF2-40B4-BE49-F238E27FC236}">
                <a16:creationId xmlns:a16="http://schemas.microsoft.com/office/drawing/2014/main" id="{DACBE805-B4C6-51E4-3C4C-BB534014179E}"/>
              </a:ext>
            </a:extLst>
          </p:cNvPr>
          <p:cNvSpPr/>
          <p:nvPr/>
        </p:nvSpPr>
        <p:spPr>
          <a:xfrm>
            <a:off x="10508095" y="5716732"/>
            <a:ext cx="648856" cy="55072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5" name="Graphic 4">
            <a:extLst>
              <a:ext uri="{FF2B5EF4-FFF2-40B4-BE49-F238E27FC236}">
                <a16:creationId xmlns:a16="http://schemas.microsoft.com/office/drawing/2014/main" id="{180DC64C-0756-7072-4130-E696DBB243BC}"/>
              </a:ext>
            </a:extLst>
          </p:cNvPr>
          <p:cNvSpPr/>
          <p:nvPr/>
        </p:nvSpPr>
        <p:spPr>
          <a:xfrm rot="660000" flipH="1">
            <a:off x="11101243" y="5692197"/>
            <a:ext cx="412175" cy="36022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6" name="Graphic 5">
            <a:extLst>
              <a:ext uri="{FF2B5EF4-FFF2-40B4-BE49-F238E27FC236}">
                <a16:creationId xmlns:a16="http://schemas.microsoft.com/office/drawing/2014/main" id="{DD3B5F00-66FD-F1D1-772C-98274C7BB34B}"/>
              </a:ext>
            </a:extLst>
          </p:cNvPr>
          <p:cNvSpPr/>
          <p:nvPr/>
        </p:nvSpPr>
        <p:spPr>
          <a:xfrm>
            <a:off x="10118435" y="951346"/>
            <a:ext cx="579584" cy="63731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7" name="Graphic 6">
            <a:extLst>
              <a:ext uri="{FF2B5EF4-FFF2-40B4-BE49-F238E27FC236}">
                <a16:creationId xmlns:a16="http://schemas.microsoft.com/office/drawing/2014/main" id="{F974FBED-6B85-4EA3-0EB6-382316934D40}"/>
              </a:ext>
            </a:extLst>
          </p:cNvPr>
          <p:cNvSpPr/>
          <p:nvPr/>
        </p:nvSpPr>
        <p:spPr>
          <a:xfrm>
            <a:off x="3048891" y="5484983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8" name="Graphic 7">
            <a:extLst>
              <a:ext uri="{FF2B5EF4-FFF2-40B4-BE49-F238E27FC236}">
                <a16:creationId xmlns:a16="http://schemas.microsoft.com/office/drawing/2014/main" id="{EEA23A55-6E76-AD25-EF04-EA1D8B29D4B7}"/>
              </a:ext>
            </a:extLst>
          </p:cNvPr>
          <p:cNvSpPr/>
          <p:nvPr/>
        </p:nvSpPr>
        <p:spPr>
          <a:xfrm>
            <a:off x="7226299" y="5026888"/>
            <a:ext cx="446811" cy="45258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99" name="Straight Arrow Connector 8">
            <a:extLst>
              <a:ext uri="{FF2B5EF4-FFF2-40B4-BE49-F238E27FC236}">
                <a16:creationId xmlns:a16="http://schemas.microsoft.com/office/drawing/2014/main" id="{4C63EAB2-DB77-514B-0219-F18832451898}"/>
              </a:ext>
            </a:extLst>
          </p:cNvPr>
          <p:cNvSpPr/>
          <p:nvPr/>
        </p:nvSpPr>
        <p:spPr>
          <a:xfrm flipV="1">
            <a:off x="1499755" y="3257717"/>
            <a:ext cx="1543628" cy="608483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" name="Straight Arrow Connector 9">
            <a:extLst>
              <a:ext uri="{FF2B5EF4-FFF2-40B4-BE49-F238E27FC236}">
                <a16:creationId xmlns:a16="http://schemas.microsoft.com/office/drawing/2014/main" id="{CAC1AF39-ACE2-F22F-DE9F-C457C742718C}"/>
              </a:ext>
            </a:extLst>
          </p:cNvPr>
          <p:cNvSpPr/>
          <p:nvPr/>
        </p:nvSpPr>
        <p:spPr>
          <a:xfrm>
            <a:off x="1141846" y="4259118"/>
            <a:ext cx="302490" cy="781629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" name="Straight Arrow Connector 12">
            <a:extLst>
              <a:ext uri="{FF2B5EF4-FFF2-40B4-BE49-F238E27FC236}">
                <a16:creationId xmlns:a16="http://schemas.microsoft.com/office/drawing/2014/main" id="{E9C4DD52-9916-356A-FA7E-0B24A4D04F18}"/>
              </a:ext>
            </a:extLst>
          </p:cNvPr>
          <p:cNvSpPr/>
          <p:nvPr/>
        </p:nvSpPr>
        <p:spPr>
          <a:xfrm>
            <a:off x="1464373" y="5042533"/>
            <a:ext cx="683490" cy="640291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2" name="Straight Arrow Connector 13">
            <a:extLst>
              <a:ext uri="{FF2B5EF4-FFF2-40B4-BE49-F238E27FC236}">
                <a16:creationId xmlns:a16="http://schemas.microsoft.com/office/drawing/2014/main" id="{7573FC1D-FC23-90E7-A6D5-CFE9DB167263}"/>
              </a:ext>
            </a:extLst>
          </p:cNvPr>
          <p:cNvSpPr/>
          <p:nvPr/>
        </p:nvSpPr>
        <p:spPr>
          <a:xfrm>
            <a:off x="2177212" y="5687774"/>
            <a:ext cx="966165" cy="21627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" name="Straight Arrow Connector 16">
            <a:extLst>
              <a:ext uri="{FF2B5EF4-FFF2-40B4-BE49-F238E27FC236}">
                <a16:creationId xmlns:a16="http://schemas.microsoft.com/office/drawing/2014/main" id="{77D94334-5984-EE84-E3A0-61EAADE07271}"/>
              </a:ext>
            </a:extLst>
          </p:cNvPr>
          <p:cNvSpPr/>
          <p:nvPr/>
        </p:nvSpPr>
        <p:spPr>
          <a:xfrm>
            <a:off x="3172727" y="5865984"/>
            <a:ext cx="363941" cy="296163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" name="Straight Arrow Connector 17">
            <a:extLst>
              <a:ext uri="{FF2B5EF4-FFF2-40B4-BE49-F238E27FC236}">
                <a16:creationId xmlns:a16="http://schemas.microsoft.com/office/drawing/2014/main" id="{3FC1A892-CF0F-7E47-2B8F-4C733FEF9BBC}"/>
              </a:ext>
            </a:extLst>
          </p:cNvPr>
          <p:cNvSpPr/>
          <p:nvPr/>
        </p:nvSpPr>
        <p:spPr>
          <a:xfrm flipV="1">
            <a:off x="3535291" y="6057678"/>
            <a:ext cx="425393" cy="84838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" name="Straight Arrow Connector 19">
            <a:extLst>
              <a:ext uri="{FF2B5EF4-FFF2-40B4-BE49-F238E27FC236}">
                <a16:creationId xmlns:a16="http://schemas.microsoft.com/office/drawing/2014/main" id="{D9BB6B6B-8FB3-A502-C43B-B82DFA884E7B}"/>
              </a:ext>
            </a:extLst>
          </p:cNvPr>
          <p:cNvSpPr/>
          <p:nvPr/>
        </p:nvSpPr>
        <p:spPr>
          <a:xfrm flipV="1">
            <a:off x="3897856" y="5670534"/>
            <a:ext cx="996891" cy="404385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" name="Straight Arrow Connector 21">
            <a:extLst>
              <a:ext uri="{FF2B5EF4-FFF2-40B4-BE49-F238E27FC236}">
                <a16:creationId xmlns:a16="http://schemas.microsoft.com/office/drawing/2014/main" id="{A9660CC1-C338-5D44-AEEE-70FFD89C892E}"/>
              </a:ext>
            </a:extLst>
          </p:cNvPr>
          <p:cNvSpPr/>
          <p:nvPr/>
        </p:nvSpPr>
        <p:spPr>
          <a:xfrm>
            <a:off x="4899516" y="5675481"/>
            <a:ext cx="953876" cy="1197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" name="Straight Arrow Connector 27">
            <a:extLst>
              <a:ext uri="{FF2B5EF4-FFF2-40B4-BE49-F238E27FC236}">
                <a16:creationId xmlns:a16="http://schemas.microsoft.com/office/drawing/2014/main" id="{727CFA0F-E9B9-A016-B20C-F3E6F8D664CB}"/>
              </a:ext>
            </a:extLst>
          </p:cNvPr>
          <p:cNvSpPr/>
          <p:nvPr/>
        </p:nvSpPr>
        <p:spPr>
          <a:xfrm flipV="1">
            <a:off x="5870451" y="5418580"/>
            <a:ext cx="665054" cy="244611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" name="Straight Arrow Connector 31">
            <a:extLst>
              <a:ext uri="{FF2B5EF4-FFF2-40B4-BE49-F238E27FC236}">
                <a16:creationId xmlns:a16="http://schemas.microsoft.com/office/drawing/2014/main" id="{666333AF-64CB-86BF-B250-9FD8B836B68C}"/>
              </a:ext>
            </a:extLst>
          </p:cNvPr>
          <p:cNvSpPr/>
          <p:nvPr/>
        </p:nvSpPr>
        <p:spPr>
          <a:xfrm flipV="1">
            <a:off x="6552562" y="5418580"/>
            <a:ext cx="775667" cy="17241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9" name="Straight Arrow Connector 35">
            <a:extLst>
              <a:ext uri="{FF2B5EF4-FFF2-40B4-BE49-F238E27FC236}">
                <a16:creationId xmlns:a16="http://schemas.microsoft.com/office/drawing/2014/main" id="{C2E73D5E-DE98-BA61-5B34-BAF5AB7A2F3F}"/>
              </a:ext>
            </a:extLst>
          </p:cNvPr>
          <p:cNvSpPr/>
          <p:nvPr/>
        </p:nvSpPr>
        <p:spPr>
          <a:xfrm>
            <a:off x="7345287" y="5454254"/>
            <a:ext cx="652764" cy="240858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Straight Arrow Connector 36">
            <a:extLst>
              <a:ext uri="{FF2B5EF4-FFF2-40B4-BE49-F238E27FC236}">
                <a16:creationId xmlns:a16="http://schemas.microsoft.com/office/drawing/2014/main" id="{B9DB2FA3-83FA-FDE9-C4F9-82FB763BEE47}"/>
              </a:ext>
            </a:extLst>
          </p:cNvPr>
          <p:cNvSpPr/>
          <p:nvPr/>
        </p:nvSpPr>
        <p:spPr>
          <a:xfrm>
            <a:off x="8039690" y="5693916"/>
            <a:ext cx="204166" cy="351470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" name="Straight Arrow Connector 37">
            <a:extLst>
              <a:ext uri="{FF2B5EF4-FFF2-40B4-BE49-F238E27FC236}">
                <a16:creationId xmlns:a16="http://schemas.microsoft.com/office/drawing/2014/main" id="{7C749D47-A1CD-D2B1-ADF8-9442CDF6D184}"/>
              </a:ext>
            </a:extLst>
          </p:cNvPr>
          <p:cNvSpPr/>
          <p:nvPr/>
        </p:nvSpPr>
        <p:spPr>
          <a:xfrm flipV="1">
            <a:off x="8273206" y="6014659"/>
            <a:ext cx="1341021" cy="1109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" name="Straight Arrow Connector 38">
            <a:extLst>
              <a:ext uri="{FF2B5EF4-FFF2-40B4-BE49-F238E27FC236}">
                <a16:creationId xmlns:a16="http://schemas.microsoft.com/office/drawing/2014/main" id="{6A5A7865-0D06-A768-9C4B-9DF7F006CB06}"/>
              </a:ext>
            </a:extLst>
          </p:cNvPr>
          <p:cNvSpPr/>
          <p:nvPr/>
        </p:nvSpPr>
        <p:spPr>
          <a:xfrm flipV="1">
            <a:off x="1181693" y="3870002"/>
            <a:ext cx="320926" cy="35522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3" name="Straight Arrow Connector 39">
            <a:extLst>
              <a:ext uri="{FF2B5EF4-FFF2-40B4-BE49-F238E27FC236}">
                <a16:creationId xmlns:a16="http://schemas.microsoft.com/office/drawing/2014/main" id="{34D8A7A1-5205-D4EB-BA59-63DDA3E7DFCF}"/>
              </a:ext>
            </a:extLst>
          </p:cNvPr>
          <p:cNvSpPr/>
          <p:nvPr/>
        </p:nvSpPr>
        <p:spPr>
          <a:xfrm flipV="1">
            <a:off x="3066770" y="2519994"/>
            <a:ext cx="1001454" cy="751524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" name="Straight Arrow Connector 41">
            <a:extLst>
              <a:ext uri="{FF2B5EF4-FFF2-40B4-BE49-F238E27FC236}">
                <a16:creationId xmlns:a16="http://schemas.microsoft.com/office/drawing/2014/main" id="{41248873-CB09-F73E-BFF2-83A72B85421C}"/>
              </a:ext>
            </a:extLst>
          </p:cNvPr>
          <p:cNvSpPr/>
          <p:nvPr/>
        </p:nvSpPr>
        <p:spPr>
          <a:xfrm flipV="1">
            <a:off x="4099158" y="2421975"/>
            <a:ext cx="2238028" cy="11072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" name="Straight Arrow Connector 42">
            <a:extLst>
              <a:ext uri="{FF2B5EF4-FFF2-40B4-BE49-F238E27FC236}">
                <a16:creationId xmlns:a16="http://schemas.microsoft.com/office/drawing/2014/main" id="{17CFB091-8297-E075-7114-1719F03BDCBD}"/>
              </a:ext>
            </a:extLst>
          </p:cNvPr>
          <p:cNvSpPr/>
          <p:nvPr/>
        </p:nvSpPr>
        <p:spPr>
          <a:xfrm flipV="1">
            <a:off x="6333100" y="2101732"/>
            <a:ext cx="2164286" cy="325808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" name="Straight Arrow Connector 43">
            <a:extLst>
              <a:ext uri="{FF2B5EF4-FFF2-40B4-BE49-F238E27FC236}">
                <a16:creationId xmlns:a16="http://schemas.microsoft.com/office/drawing/2014/main" id="{B3D85C57-7286-094B-E95F-E934333AC6BD}"/>
              </a:ext>
            </a:extLst>
          </p:cNvPr>
          <p:cNvSpPr/>
          <p:nvPr/>
        </p:nvSpPr>
        <p:spPr>
          <a:xfrm flipV="1">
            <a:off x="8563337" y="1451597"/>
            <a:ext cx="1589436" cy="632506"/>
          </a:xfrm>
          <a:prstGeom prst="line">
            <a:avLst/>
          </a:prstGeom>
          <a:ln w="12700">
            <a:solidFill>
              <a:srgbClr val="000000"/>
            </a:solidFill>
            <a:prstDash val="dash"/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7" name="Rectangle 3">
            <a:extLst>
              <a:ext uri="{FF2B5EF4-FFF2-40B4-BE49-F238E27FC236}">
                <a16:creationId xmlns:a16="http://schemas.microsoft.com/office/drawing/2014/main" id="{D0DBDFD2-74CC-CC0C-0C89-E9DD7619836D}"/>
              </a:ext>
            </a:extLst>
          </p:cNvPr>
          <p:cNvSpPr txBox="1"/>
          <p:nvPr/>
        </p:nvSpPr>
        <p:spPr>
          <a:xfrm>
            <a:off x="2936206" y="5114583"/>
            <a:ext cx="90759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Mapping</a:t>
            </a:r>
          </a:p>
        </p:txBody>
      </p:sp>
      <p:sp>
        <p:nvSpPr>
          <p:cNvPr id="218" name="Rectangle 3">
            <a:extLst>
              <a:ext uri="{FF2B5EF4-FFF2-40B4-BE49-F238E27FC236}">
                <a16:creationId xmlns:a16="http://schemas.microsoft.com/office/drawing/2014/main" id="{E28866BC-26EC-17E6-AC2C-12B099A7D933}"/>
              </a:ext>
            </a:extLst>
          </p:cNvPr>
          <p:cNvSpPr txBox="1"/>
          <p:nvPr/>
        </p:nvSpPr>
        <p:spPr>
          <a:xfrm>
            <a:off x="6409875" y="4683789"/>
            <a:ext cx="1942862" cy="501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Variant calling and filtering</a:t>
            </a:r>
          </a:p>
        </p:txBody>
      </p:sp>
      <p:sp>
        <p:nvSpPr>
          <p:cNvPr id="219" name="Graphic 10">
            <a:extLst>
              <a:ext uri="{FF2B5EF4-FFF2-40B4-BE49-F238E27FC236}">
                <a16:creationId xmlns:a16="http://schemas.microsoft.com/office/drawing/2014/main" id="{77E6951C-0006-F3F7-1C84-928D851EC1D5}"/>
              </a:ext>
            </a:extLst>
          </p:cNvPr>
          <p:cNvSpPr/>
          <p:nvPr/>
        </p:nvSpPr>
        <p:spPr>
          <a:xfrm>
            <a:off x="4825250" y="2541129"/>
            <a:ext cx="550720" cy="4987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0" name="Rectangle 3">
            <a:extLst>
              <a:ext uri="{FF2B5EF4-FFF2-40B4-BE49-F238E27FC236}">
                <a16:creationId xmlns:a16="http://schemas.microsoft.com/office/drawing/2014/main" id="{6D1DEF18-536D-9244-68AD-0CBD39FF7CE9}"/>
              </a:ext>
            </a:extLst>
          </p:cNvPr>
          <p:cNvSpPr txBox="1"/>
          <p:nvPr/>
        </p:nvSpPr>
        <p:spPr>
          <a:xfrm>
            <a:off x="4205411" y="3092672"/>
            <a:ext cx="3166417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>
            <a:lvl1pPr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QC &amp; Post-Assembly Profiling</a:t>
            </a:r>
          </a:p>
        </p:txBody>
      </p:sp>
      <p:sp>
        <p:nvSpPr>
          <p:cNvPr id="221" name="Rectangle 3">
            <a:extLst>
              <a:ext uri="{FF2B5EF4-FFF2-40B4-BE49-F238E27FC236}">
                <a16:creationId xmlns:a16="http://schemas.microsoft.com/office/drawing/2014/main" id="{9C941D8A-D312-FF4B-4E77-1BAC2CFC0AE6}"/>
              </a:ext>
            </a:extLst>
          </p:cNvPr>
          <p:cNvSpPr txBox="1"/>
          <p:nvPr/>
        </p:nvSpPr>
        <p:spPr>
          <a:xfrm>
            <a:off x="7826793" y="2692811"/>
            <a:ext cx="1580665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1400" spc="80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Hybrid Assembly</a:t>
            </a:r>
          </a:p>
        </p:txBody>
      </p:sp>
      <p:sp>
        <p:nvSpPr>
          <p:cNvPr id="222" name="Graphic 48">
            <a:extLst>
              <a:ext uri="{FF2B5EF4-FFF2-40B4-BE49-F238E27FC236}">
                <a16:creationId xmlns:a16="http://schemas.microsoft.com/office/drawing/2014/main" id="{65082C99-75FC-7912-23B5-6A5C6686A7F1}"/>
              </a:ext>
            </a:extLst>
          </p:cNvPr>
          <p:cNvSpPr/>
          <p:nvPr/>
        </p:nvSpPr>
        <p:spPr>
          <a:xfrm>
            <a:off x="5601077" y="2519127"/>
            <a:ext cx="672976" cy="57489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3" name="Graphic 49">
            <a:extLst>
              <a:ext uri="{FF2B5EF4-FFF2-40B4-BE49-F238E27FC236}">
                <a16:creationId xmlns:a16="http://schemas.microsoft.com/office/drawing/2014/main" id="{BC0F560F-846A-81BD-E146-E5B9618DF817}"/>
              </a:ext>
            </a:extLst>
          </p:cNvPr>
          <p:cNvSpPr/>
          <p:nvPr/>
        </p:nvSpPr>
        <p:spPr>
          <a:xfrm>
            <a:off x="8234125" y="2156986"/>
            <a:ext cx="627710" cy="5598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24" name="Rectangle 30">
            <a:extLst>
              <a:ext uri="{FF2B5EF4-FFF2-40B4-BE49-F238E27FC236}">
                <a16:creationId xmlns:a16="http://schemas.microsoft.com/office/drawing/2014/main" id="{C7842066-8227-1711-D8B9-F33307BF7191}"/>
              </a:ext>
            </a:extLst>
          </p:cNvPr>
          <p:cNvSpPr/>
          <p:nvPr/>
        </p:nvSpPr>
        <p:spPr>
          <a:xfrm>
            <a:off x="222738" y="4768605"/>
            <a:ext cx="3842572" cy="1894411"/>
          </a:xfrm>
          <a:prstGeom prst="rect">
            <a:avLst/>
          </a:prstGeom>
          <a:solidFill>
            <a:srgbClr val="FFFFFF">
              <a:alpha val="7882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5" name="Rectangle 32">
            <a:extLst>
              <a:ext uri="{FF2B5EF4-FFF2-40B4-BE49-F238E27FC236}">
                <a16:creationId xmlns:a16="http://schemas.microsoft.com/office/drawing/2014/main" id="{55CA2596-CE5F-A8A7-474C-4644548898C3}"/>
              </a:ext>
            </a:extLst>
          </p:cNvPr>
          <p:cNvSpPr/>
          <p:nvPr/>
        </p:nvSpPr>
        <p:spPr>
          <a:xfrm>
            <a:off x="9570353" y="253332"/>
            <a:ext cx="1903085" cy="1566102"/>
          </a:xfrm>
          <a:prstGeom prst="rect">
            <a:avLst/>
          </a:prstGeom>
          <a:solidFill>
            <a:srgbClr val="FFFFFF">
              <a:alpha val="7882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6" name="Rectangle 40">
            <a:extLst>
              <a:ext uri="{FF2B5EF4-FFF2-40B4-BE49-F238E27FC236}">
                <a16:creationId xmlns:a16="http://schemas.microsoft.com/office/drawing/2014/main" id="{7564A8ED-4E63-2287-A811-9880606AE63F}"/>
              </a:ext>
            </a:extLst>
          </p:cNvPr>
          <p:cNvSpPr/>
          <p:nvPr/>
        </p:nvSpPr>
        <p:spPr>
          <a:xfrm rot="5400000">
            <a:off x="6306444" y="1501606"/>
            <a:ext cx="3015320" cy="7459790"/>
          </a:xfrm>
          <a:prstGeom prst="rect">
            <a:avLst/>
          </a:prstGeom>
          <a:solidFill>
            <a:srgbClr val="FFFFFF">
              <a:alpha val="7882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7" name="Rectangle 46">
            <a:extLst>
              <a:ext uri="{FF2B5EF4-FFF2-40B4-BE49-F238E27FC236}">
                <a16:creationId xmlns:a16="http://schemas.microsoft.com/office/drawing/2014/main" id="{29183DB0-8FFC-AD18-BEDF-6AA68886DE47}"/>
              </a:ext>
            </a:extLst>
          </p:cNvPr>
          <p:cNvSpPr/>
          <p:nvPr/>
        </p:nvSpPr>
        <p:spPr>
          <a:xfrm>
            <a:off x="450062" y="4248439"/>
            <a:ext cx="1014313" cy="522405"/>
          </a:xfrm>
          <a:prstGeom prst="rect">
            <a:avLst/>
          </a:prstGeom>
          <a:solidFill>
            <a:srgbClr val="FFFFFF">
              <a:alpha val="78824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" name="Graphic 1" descr="Flag with solid fill">
            <a:extLst>
              <a:ext uri="{FF2B5EF4-FFF2-40B4-BE49-F238E27FC236}">
                <a16:creationId xmlns:a16="http://schemas.microsoft.com/office/drawing/2014/main" id="{219BB54E-D49E-26C3-2C8F-3C637EB6CA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2083" y="3726424"/>
            <a:ext cx="574897" cy="574897"/>
          </a:xfrm>
          <a:prstGeom prst="rect">
            <a:avLst/>
          </a:prstGeom>
        </p:spPr>
      </p:pic>
      <p:pic>
        <p:nvPicPr>
          <p:cNvPr id="3" name="Graphic 2" descr="Flag with solid fill">
            <a:extLst>
              <a:ext uri="{FF2B5EF4-FFF2-40B4-BE49-F238E27FC236}">
                <a16:creationId xmlns:a16="http://schemas.microsoft.com/office/drawing/2014/main" id="{33B209A8-4D0B-5129-0031-9971EF6F99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36206" y="2728781"/>
            <a:ext cx="574897" cy="574897"/>
          </a:xfrm>
          <a:prstGeom prst="rect">
            <a:avLst/>
          </a:prstGeom>
        </p:spPr>
      </p:pic>
      <p:pic>
        <p:nvPicPr>
          <p:cNvPr id="4" name="Graphic 3" descr="Flag with solid fill">
            <a:extLst>
              <a:ext uri="{FF2B5EF4-FFF2-40B4-BE49-F238E27FC236}">
                <a16:creationId xmlns:a16="http://schemas.microsoft.com/office/drawing/2014/main" id="{6ABC966F-0D50-43C3-E6E2-708234C599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1349" y="2006728"/>
            <a:ext cx="574897" cy="574897"/>
          </a:xfrm>
          <a:prstGeom prst="rect">
            <a:avLst/>
          </a:prstGeom>
        </p:spPr>
      </p:pic>
      <p:pic>
        <p:nvPicPr>
          <p:cNvPr id="5" name="Graphic 4" descr="Flag with solid fill">
            <a:extLst>
              <a:ext uri="{FF2B5EF4-FFF2-40B4-BE49-F238E27FC236}">
                <a16:creationId xmlns:a16="http://schemas.microsoft.com/office/drawing/2014/main" id="{22BF0B36-17B8-FE29-130C-1CA05D818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53332" y="1819433"/>
            <a:ext cx="574897" cy="574897"/>
          </a:xfrm>
          <a:prstGeom prst="rect">
            <a:avLst/>
          </a:prstGeom>
        </p:spPr>
      </p:pic>
      <p:pic>
        <p:nvPicPr>
          <p:cNvPr id="6" name="Graphic 5" descr="Flag with solid fill">
            <a:extLst>
              <a:ext uri="{FF2B5EF4-FFF2-40B4-BE49-F238E27FC236}">
                <a16:creationId xmlns:a16="http://schemas.microsoft.com/office/drawing/2014/main" id="{F0864D2B-48F4-145F-E6B0-9DFBCB0F7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7394" y="1164148"/>
            <a:ext cx="574897" cy="57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20538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230" name="TextBox 22"/>
          <p:cNvSpPr txBox="1"/>
          <p:nvPr/>
        </p:nvSpPr>
        <p:spPr>
          <a:xfrm>
            <a:off x="567065" y="263680"/>
            <a:ext cx="2027933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4000" b="1" spc="79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Agenda</a:t>
            </a:r>
          </a:p>
        </p:txBody>
      </p:sp>
      <p:sp>
        <p:nvSpPr>
          <p:cNvPr id="231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95820" y="6540817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/>
            </a:lvl1pPr>
          </a:lstStyle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232" name="TextBox 3"/>
          <p:cNvSpPr txBox="1"/>
          <p:nvPr/>
        </p:nvSpPr>
        <p:spPr>
          <a:xfrm>
            <a:off x="580208" y="1628244"/>
            <a:ext cx="5762153" cy="2882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514350" indent="-514350" algn="just">
              <a:lnSpc>
                <a:spcPct val="150000"/>
              </a:lnSpc>
              <a:spcBef>
                <a:spcPts val="600"/>
              </a:spcBef>
              <a:buSzPct val="100000"/>
              <a:buAutoNum type="romanUcPeriod"/>
              <a:defRPr sz="2200" b="1">
                <a:latin typeface="Roboto"/>
                <a:ea typeface="Roboto"/>
                <a:cs typeface="Roboto"/>
                <a:sym typeface="Roboto"/>
              </a:defRPr>
            </a:pPr>
            <a:r>
              <a:rPr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Theory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SzPct val="100000"/>
              <a:buAutoNum type="arabicPeriod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rPr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Long-Read Introduction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SzPct val="100000"/>
              <a:buAutoNum type="arabicPeriod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rPr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Techniques and Platforms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SzPct val="100000"/>
              <a:buAutoNum type="arabicPeriod"/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rPr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Wet and Dry lab workflows</a:t>
            </a:r>
          </a:p>
          <a:p>
            <a:pPr marL="971550" lvl="1" indent="-514350" algn="just">
              <a:lnSpc>
                <a:spcPct val="150000"/>
              </a:lnSpc>
              <a:spcBef>
                <a:spcPts val="600"/>
              </a:spcBef>
              <a:buSzPct val="100000"/>
              <a:buAutoNum type="arabicPeriod"/>
              <a:defRPr sz="2200"/>
            </a:pPr>
            <a:r>
              <a:rPr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Long-Read vs Short-Read Sequencing</a:t>
            </a:r>
          </a:p>
        </p:txBody>
      </p:sp>
      <p:sp>
        <p:nvSpPr>
          <p:cNvPr id="233" name="TextBox 4"/>
          <p:cNvSpPr txBox="1"/>
          <p:nvPr/>
        </p:nvSpPr>
        <p:spPr>
          <a:xfrm>
            <a:off x="6305841" y="1628244"/>
            <a:ext cx="5209867" cy="2059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514350" indent="-514350" algn="just">
              <a:lnSpc>
                <a:spcPct val="150000"/>
              </a:lnSpc>
              <a:spcBef>
                <a:spcPts val="600"/>
              </a:spcBef>
              <a:buSzPct val="100000"/>
              <a:buAutoNum type="romanUcPeriod" startAt="2"/>
              <a:defRPr sz="2200" b="1">
                <a:latin typeface="Roboto"/>
                <a:ea typeface="Roboto"/>
                <a:cs typeface="Roboto"/>
                <a:sym typeface="Roboto"/>
              </a:defRPr>
            </a:pPr>
            <a:r>
              <a:t>Practical Command-line (CLI)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defRPr sz="2200">
                <a:latin typeface="Roboto"/>
                <a:ea typeface="Roboto"/>
                <a:cs typeface="Roboto"/>
                <a:sym typeface="Roboto"/>
              </a:defRPr>
            </a:pPr>
            <a:r>
              <a:t>Unicycler </a:t>
            </a:r>
            <a:endParaRPr b="1"/>
          </a:p>
          <a:p>
            <a:pPr marL="514350" indent="-514350" algn="just">
              <a:lnSpc>
                <a:spcPct val="150000"/>
              </a:lnSpc>
              <a:spcBef>
                <a:spcPts val="600"/>
              </a:spcBef>
              <a:buSzPct val="100000"/>
              <a:buAutoNum type="romanUcPeriod" startAt="2"/>
              <a:defRPr sz="2200" b="1">
                <a:latin typeface="Roboto"/>
                <a:ea typeface="Roboto"/>
                <a:cs typeface="Roboto"/>
                <a:sym typeface="Roboto"/>
              </a:defRPr>
            </a:pPr>
            <a:r>
              <a:t>Data Visualization and Manipulation with Bandage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236" name="TextBox 22"/>
          <p:cNvSpPr txBox="1"/>
          <p:nvPr/>
        </p:nvSpPr>
        <p:spPr>
          <a:xfrm>
            <a:off x="4777083" y="2960434"/>
            <a:ext cx="2716015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 marL="857250" indent="-857250">
              <a:lnSpc>
                <a:spcPct val="105999"/>
              </a:lnSpc>
              <a:spcBef>
                <a:spcPts val="600"/>
              </a:spcBef>
              <a:buSzPct val="100000"/>
              <a:buAutoNum type="romanUcPeriod"/>
              <a:defRPr sz="4000" b="1" spc="79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Theory</a:t>
            </a:r>
          </a:p>
        </p:txBody>
      </p:sp>
      <p:sp>
        <p:nvSpPr>
          <p:cNvPr id="237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95820" y="6540817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/>
            </a:lvl1pPr>
          </a:lstStyle>
          <a:p>
            <a:fld id="{86CB4B4D-7CA3-9044-876B-883B54F8677D}" type="slidenum">
              <a:rPr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240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95820" y="6540817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41" name="TextBox 14"/>
          <p:cNvSpPr txBox="1"/>
          <p:nvPr/>
        </p:nvSpPr>
        <p:spPr>
          <a:xfrm>
            <a:off x="424995" y="234672"/>
            <a:ext cx="10477384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2200" b="1" spc="79">
                <a:solidFill>
                  <a:srgbClr val="5F8FB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Theory</a:t>
            </a:r>
          </a:p>
        </p:txBody>
      </p:sp>
      <p:sp>
        <p:nvSpPr>
          <p:cNvPr id="242" name="TextBox 15"/>
          <p:cNvSpPr txBox="1"/>
          <p:nvPr/>
        </p:nvSpPr>
        <p:spPr>
          <a:xfrm>
            <a:off x="420988" y="566323"/>
            <a:ext cx="9728945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81000"/>
              </a:lnSpc>
              <a:spcBef>
                <a:spcPts val="600"/>
              </a:spcBef>
              <a:defRPr sz="4000" b="1" spc="79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Long-Read Introduction</a:t>
            </a:r>
          </a:p>
        </p:txBody>
      </p:sp>
      <p:sp>
        <p:nvSpPr>
          <p:cNvPr id="243" name="Picture 2"/>
          <p:cNvSpPr/>
          <p:nvPr/>
        </p:nvSpPr>
        <p:spPr>
          <a:xfrm>
            <a:off x="6736163" y="4404850"/>
            <a:ext cx="4832429" cy="178947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44" name="Picture 5"/>
          <p:cNvSpPr/>
          <p:nvPr/>
        </p:nvSpPr>
        <p:spPr>
          <a:xfrm>
            <a:off x="6736164" y="740434"/>
            <a:ext cx="4746720" cy="330084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pSp>
        <p:nvGrpSpPr>
          <p:cNvPr id="250" name="Group 26"/>
          <p:cNvGrpSpPr/>
          <p:nvPr/>
        </p:nvGrpSpPr>
        <p:grpSpPr>
          <a:xfrm>
            <a:off x="1098852" y="1896409"/>
            <a:ext cx="4564836" cy="2335105"/>
            <a:chOff x="0" y="0"/>
            <a:chExt cx="4564834" cy="2335104"/>
          </a:xfrm>
        </p:grpSpPr>
        <p:grpSp>
          <p:nvGrpSpPr>
            <p:cNvPr id="247" name="Group 19"/>
            <p:cNvGrpSpPr/>
            <p:nvPr/>
          </p:nvGrpSpPr>
          <p:grpSpPr>
            <a:xfrm>
              <a:off x="0" y="0"/>
              <a:ext cx="4564835" cy="2335105"/>
              <a:chOff x="0" y="0"/>
              <a:chExt cx="4564834" cy="2335104"/>
            </a:xfrm>
          </p:grpSpPr>
          <p:sp>
            <p:nvSpPr>
              <p:cNvPr id="245" name="Picture 17"/>
              <p:cNvSpPr/>
              <p:nvPr/>
            </p:nvSpPr>
            <p:spPr>
              <a:xfrm>
                <a:off x="0" y="0"/>
                <a:ext cx="4564835" cy="2335105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  <p:sp>
            <p:nvSpPr>
              <p:cNvPr id="246" name="Picture 18"/>
              <p:cNvSpPr/>
              <p:nvPr/>
            </p:nvSpPr>
            <p:spPr>
              <a:xfrm>
                <a:off x="3645923" y="623052"/>
                <a:ext cx="268688" cy="4729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248" name="Picture 21"/>
            <p:cNvSpPr/>
            <p:nvPr/>
          </p:nvSpPr>
          <p:spPr>
            <a:xfrm>
              <a:off x="2426707" y="1546148"/>
              <a:ext cx="969695" cy="3319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49" name="Picture 24"/>
            <p:cNvSpPr/>
            <p:nvPr/>
          </p:nvSpPr>
          <p:spPr>
            <a:xfrm>
              <a:off x="1896738" y="1878090"/>
              <a:ext cx="926100" cy="3407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</p:grpSp>
      <p:sp>
        <p:nvSpPr>
          <p:cNvPr id="252" name="TextBox 30"/>
          <p:cNvSpPr txBox="1"/>
          <p:nvPr/>
        </p:nvSpPr>
        <p:spPr>
          <a:xfrm>
            <a:off x="8500948" y="6215876"/>
            <a:ext cx="1496591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 i="1" u="sng">
                <a:solidFill>
                  <a:srgbClr val="5D9CEC"/>
                </a:solidFill>
                <a:uFill>
                  <a:solidFill>
                    <a:srgbClr val="5D9CEC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5D9CEC"/>
                </a:solidFill>
                <a:uFill>
                  <a:solidFill>
                    <a:srgbClr val="5D9CEC"/>
                  </a:solidFill>
                </a:uFill>
                <a:hlinkClick r:id="rId2"/>
              </a:rPr>
              <a:t>10.1038/nbt.3423</a:t>
            </a:r>
          </a:p>
        </p:txBody>
      </p:sp>
      <p:sp>
        <p:nvSpPr>
          <p:cNvPr id="253" name="TextBox 32"/>
          <p:cNvSpPr txBox="1"/>
          <p:nvPr/>
        </p:nvSpPr>
        <p:spPr>
          <a:xfrm>
            <a:off x="7163190" y="476892"/>
            <a:ext cx="8209879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David Deamer’s original notebook sketch, 1989 </a:t>
            </a:r>
          </a:p>
        </p:txBody>
      </p:sp>
      <p:sp>
        <p:nvSpPr>
          <p:cNvPr id="254" name="TextBox 33"/>
          <p:cNvSpPr txBox="1"/>
          <p:nvPr/>
        </p:nvSpPr>
        <p:spPr>
          <a:xfrm>
            <a:off x="1458364" y="4669148"/>
            <a:ext cx="3420757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History of DNA sequencing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D012B2-4140-E902-0502-53F5FD80E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38"/>
          <a:stretch>
            <a:fillRect/>
          </a:stretch>
        </p:blipFill>
        <p:spPr>
          <a:xfrm>
            <a:off x="709116" y="1943802"/>
            <a:ext cx="4388048" cy="25559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492815-C52E-C289-F640-6643AB5906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07" b="15429"/>
          <a:stretch>
            <a:fillRect/>
          </a:stretch>
        </p:blipFill>
        <p:spPr>
          <a:xfrm>
            <a:off x="6682355" y="4482664"/>
            <a:ext cx="4842149" cy="20581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E13A65-40AD-C49A-8A3D-D816333E1F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294" y="795824"/>
            <a:ext cx="4842149" cy="3499062"/>
          </a:xfrm>
          <a:prstGeom prst="rect">
            <a:avLst/>
          </a:prstGeom>
        </p:spPr>
      </p:pic>
      <p:sp>
        <p:nvSpPr>
          <p:cNvPr id="6" name="Straight Arrow Connector 28">
            <a:extLst>
              <a:ext uri="{FF2B5EF4-FFF2-40B4-BE49-F238E27FC236}">
                <a16:creationId xmlns:a16="http://schemas.microsoft.com/office/drawing/2014/main" id="{DE9DC378-9CC3-BC11-9315-CEBEDDB6539B}"/>
              </a:ext>
            </a:extLst>
          </p:cNvPr>
          <p:cNvSpPr/>
          <p:nvPr/>
        </p:nvSpPr>
        <p:spPr>
          <a:xfrm>
            <a:off x="9133049" y="4244397"/>
            <a:ext cx="1012" cy="255339"/>
          </a:xfrm>
          <a:prstGeom prst="line">
            <a:avLst/>
          </a:prstGeom>
          <a:ln w="28575">
            <a:solidFill>
              <a:srgbClr val="092D6C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257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95820" y="6540817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  <p:sp>
        <p:nvSpPr>
          <p:cNvPr id="258" name="TextBox 14"/>
          <p:cNvSpPr txBox="1"/>
          <p:nvPr/>
        </p:nvSpPr>
        <p:spPr>
          <a:xfrm>
            <a:off x="424995" y="241022"/>
            <a:ext cx="10477384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2200" b="1" spc="79">
                <a:solidFill>
                  <a:srgbClr val="5F8FB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Theory</a:t>
            </a:r>
          </a:p>
        </p:txBody>
      </p:sp>
      <p:sp>
        <p:nvSpPr>
          <p:cNvPr id="259" name="TextBox 15"/>
          <p:cNvSpPr txBox="1"/>
          <p:nvPr/>
        </p:nvSpPr>
        <p:spPr>
          <a:xfrm>
            <a:off x="420988" y="572673"/>
            <a:ext cx="9728945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50000"/>
              </a:lnSpc>
              <a:spcBef>
                <a:spcPts val="600"/>
              </a:spcBef>
              <a:defRPr sz="4000" b="1" spc="79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Techniques and Platforms</a:t>
            </a:r>
          </a:p>
        </p:txBody>
      </p:sp>
      <p:sp>
        <p:nvSpPr>
          <p:cNvPr id="260" name="Picture 6"/>
          <p:cNvSpPr/>
          <p:nvPr/>
        </p:nvSpPr>
        <p:spPr>
          <a:xfrm>
            <a:off x="385899" y="1589976"/>
            <a:ext cx="6179698" cy="387840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61" name="Picture 7"/>
          <p:cNvSpPr/>
          <p:nvPr/>
        </p:nvSpPr>
        <p:spPr>
          <a:xfrm>
            <a:off x="7005688" y="662662"/>
            <a:ext cx="4144300" cy="257310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62" name="TextBox 5"/>
          <p:cNvSpPr txBox="1"/>
          <p:nvPr/>
        </p:nvSpPr>
        <p:spPr>
          <a:xfrm>
            <a:off x="-394374" y="5638877"/>
            <a:ext cx="6914248" cy="492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 b="1">
                <a:latin typeface="Arial"/>
                <a:ea typeface="Arial"/>
                <a:cs typeface="Arial"/>
                <a:sym typeface="Arial"/>
              </a:defRPr>
            </a:pPr>
            <a:r>
              <a:t> Illustration of nanopore</a:t>
            </a:r>
          </a:p>
          <a:p>
            <a:pPr algn="ctr">
              <a:defRPr sz="1400" i="1">
                <a:latin typeface="Arial"/>
                <a:ea typeface="Arial"/>
                <a:cs typeface="Arial"/>
                <a:sym typeface="Arial"/>
              </a:defRPr>
            </a:pPr>
            <a:r>
              <a:t>(https://www.goldengooseaward.org/)  </a:t>
            </a:r>
          </a:p>
        </p:txBody>
      </p:sp>
      <p:sp>
        <p:nvSpPr>
          <p:cNvPr id="263" name="Picture 8"/>
          <p:cNvSpPr/>
          <p:nvPr/>
        </p:nvSpPr>
        <p:spPr>
          <a:xfrm>
            <a:off x="7005688" y="3784338"/>
            <a:ext cx="1042013" cy="196038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64" name="Picture 9"/>
          <p:cNvSpPr/>
          <p:nvPr/>
        </p:nvSpPr>
        <p:spPr>
          <a:xfrm>
            <a:off x="8557066" y="3171618"/>
            <a:ext cx="2689212" cy="2573105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776FC0-4BE3-545F-397B-72F5FDAEA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" y="1348414"/>
            <a:ext cx="6179696" cy="38784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B5E60E-FC55-5DF3-3B71-D34FAB3DD9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689" r="41668"/>
          <a:stretch>
            <a:fillRect/>
          </a:stretch>
        </p:blipFill>
        <p:spPr>
          <a:xfrm>
            <a:off x="6707326" y="800508"/>
            <a:ext cx="4982943" cy="30219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ED9F56-873F-34FD-6D75-7C5906CB3A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523" t="23953" r="29217" b="8464"/>
          <a:stretch>
            <a:fillRect/>
          </a:stretch>
        </p:blipFill>
        <p:spPr>
          <a:xfrm>
            <a:off x="6854750" y="4497291"/>
            <a:ext cx="1447633" cy="2042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DCF422-A144-C276-B760-E163FC6B1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008"/>
          <a:stretch>
            <a:fillRect/>
          </a:stretch>
        </p:blipFill>
        <p:spPr>
          <a:xfrm>
            <a:off x="8557066" y="3726384"/>
            <a:ext cx="3165152" cy="30219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267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95820" y="6540817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268" name="TextBox 14"/>
          <p:cNvSpPr txBox="1"/>
          <p:nvPr/>
        </p:nvSpPr>
        <p:spPr>
          <a:xfrm>
            <a:off x="424995" y="234672"/>
            <a:ext cx="10477384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2200" b="1" spc="79">
                <a:solidFill>
                  <a:srgbClr val="5F8FB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Theory</a:t>
            </a:r>
          </a:p>
        </p:txBody>
      </p:sp>
      <p:sp>
        <p:nvSpPr>
          <p:cNvPr id="269" name="TextBox 15"/>
          <p:cNvSpPr txBox="1"/>
          <p:nvPr/>
        </p:nvSpPr>
        <p:spPr>
          <a:xfrm>
            <a:off x="424995" y="548861"/>
            <a:ext cx="9728946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81000"/>
              </a:lnSpc>
              <a:spcBef>
                <a:spcPts val="600"/>
              </a:spcBef>
              <a:defRPr sz="4000" b="1" spc="79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Why do we need Long-Read?</a:t>
            </a:r>
          </a:p>
        </p:txBody>
      </p:sp>
      <p:sp>
        <p:nvSpPr>
          <p:cNvPr id="270" name="Content Placeholder 2"/>
          <p:cNvSpPr txBox="1"/>
          <p:nvPr/>
        </p:nvSpPr>
        <p:spPr>
          <a:xfrm>
            <a:off x="616527" y="2304463"/>
            <a:ext cx="6703753" cy="2861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marL="219455" indent="-219455" defTabSz="877823">
              <a:lnSpc>
                <a:spcPct val="72000"/>
              </a:lnSpc>
              <a:spcBef>
                <a:spcPts val="900"/>
              </a:spcBef>
              <a:buSzPct val="100000"/>
              <a:buFont typeface="Arial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pPr>
            <a:r>
              <a:t>Faster and simpler workflows (Outbreak response – Ebola, COVID, Hantavirus,…)</a:t>
            </a:r>
            <a:endParaRPr>
              <a:solidFill>
                <a:srgbClr val="808080"/>
              </a:solidFill>
            </a:endParaRPr>
          </a:p>
          <a:p>
            <a:pPr marL="219455" indent="-219455" defTabSz="877823">
              <a:lnSpc>
                <a:spcPct val="72000"/>
              </a:lnSpc>
              <a:spcBef>
                <a:spcPts val="900"/>
              </a:spcBef>
              <a:buSzPct val="100000"/>
              <a:buFont typeface="Arial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pPr>
            <a:endParaRPr>
              <a:solidFill>
                <a:srgbClr val="808080"/>
              </a:solidFill>
            </a:endParaRPr>
          </a:p>
          <a:p>
            <a:pPr marL="219455" indent="-219455" defTabSz="877823">
              <a:lnSpc>
                <a:spcPct val="72000"/>
              </a:lnSpc>
              <a:spcBef>
                <a:spcPts val="900"/>
              </a:spcBef>
              <a:buSzPct val="100000"/>
              <a:buFont typeface="Arial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pPr>
            <a:endParaRPr>
              <a:solidFill>
                <a:srgbClr val="808080"/>
              </a:solidFill>
            </a:endParaRPr>
          </a:p>
          <a:p>
            <a:pPr marL="219455" indent="-219455" defTabSz="877823">
              <a:lnSpc>
                <a:spcPct val="72000"/>
              </a:lnSpc>
              <a:spcBef>
                <a:spcPts val="900"/>
              </a:spcBef>
              <a:buSzPct val="100000"/>
              <a:buFont typeface="Arial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pPr>
            <a:endParaRPr>
              <a:solidFill>
                <a:srgbClr val="808080"/>
              </a:solidFill>
            </a:endParaRPr>
          </a:p>
          <a:p>
            <a:pPr marL="219455" indent="-219455" defTabSz="877823">
              <a:lnSpc>
                <a:spcPct val="72000"/>
              </a:lnSpc>
              <a:spcBef>
                <a:spcPts val="900"/>
              </a:spcBef>
              <a:buSzPct val="100000"/>
              <a:buFont typeface="Arial"/>
              <a:buChar char="•"/>
              <a:defRPr sz="2400">
                <a:latin typeface="Roboto"/>
                <a:ea typeface="Roboto"/>
                <a:cs typeface="Roboto"/>
                <a:sym typeface="Roboto"/>
              </a:defRPr>
            </a:pPr>
            <a:r>
              <a:t>Complete bacterial genome (AMR-carrying plasmid, VF-carrying plasmid,…), plasmid population diversity</a:t>
            </a:r>
          </a:p>
        </p:txBody>
      </p:sp>
      <p:sp>
        <p:nvSpPr>
          <p:cNvPr id="271" name="Picture 7"/>
          <p:cNvSpPr/>
          <p:nvPr/>
        </p:nvSpPr>
        <p:spPr>
          <a:xfrm>
            <a:off x="7620000" y="1249901"/>
            <a:ext cx="3872856" cy="446487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72" name="TextBox 9"/>
          <p:cNvSpPr txBox="1"/>
          <p:nvPr/>
        </p:nvSpPr>
        <p:spPr>
          <a:xfrm>
            <a:off x="8625565" y="5826823"/>
            <a:ext cx="2089849" cy="2642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 i="1" u="sng">
                <a:solidFill>
                  <a:srgbClr val="5D9CEC"/>
                </a:solidFill>
                <a:uFill>
                  <a:solidFill>
                    <a:srgbClr val="5D9CEC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5D9CEC"/>
                </a:solidFill>
                <a:uFill>
                  <a:solidFill>
                    <a:srgbClr val="5D9CEC"/>
                  </a:solidFill>
                </a:uFill>
                <a:hlinkClick r:id="rId2"/>
              </a:rPr>
              <a:t>10.3389/fmicb.2022.852596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7083DF-CD51-3418-D7E2-2E9B83EC0A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393" t="3650"/>
          <a:stretch>
            <a:fillRect/>
          </a:stretch>
        </p:blipFill>
        <p:spPr>
          <a:xfrm>
            <a:off x="7721318" y="946800"/>
            <a:ext cx="4063400" cy="46845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275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95820" y="6540817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276" name="TextBox 14"/>
          <p:cNvSpPr txBox="1"/>
          <p:nvPr/>
        </p:nvSpPr>
        <p:spPr>
          <a:xfrm>
            <a:off x="424995" y="241022"/>
            <a:ext cx="10477384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2200" b="1" spc="79">
                <a:solidFill>
                  <a:srgbClr val="5F8FB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Theory</a:t>
            </a:r>
          </a:p>
        </p:txBody>
      </p:sp>
      <p:sp>
        <p:nvSpPr>
          <p:cNvPr id="277" name="TextBox 15"/>
          <p:cNvSpPr txBox="1"/>
          <p:nvPr/>
        </p:nvSpPr>
        <p:spPr>
          <a:xfrm>
            <a:off x="420989" y="572673"/>
            <a:ext cx="13164625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50000"/>
              </a:lnSpc>
              <a:spcBef>
                <a:spcPts val="600"/>
              </a:spcBef>
              <a:defRPr sz="4000" b="1" spc="79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Long-Read vs Short-Read Sequencing</a:t>
            </a:r>
          </a:p>
        </p:txBody>
      </p:sp>
      <p:sp>
        <p:nvSpPr>
          <p:cNvPr id="278" name="Picture 6"/>
          <p:cNvSpPr/>
          <p:nvPr/>
        </p:nvSpPr>
        <p:spPr>
          <a:xfrm>
            <a:off x="1372798" y="1606200"/>
            <a:ext cx="9719049" cy="413940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E42D7C-1D47-425B-E71B-0C8AEEE27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41" y="1605365"/>
            <a:ext cx="10613518" cy="45203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281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11062" y="6540817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282" name="TextBox 14"/>
          <p:cNvSpPr txBox="1"/>
          <p:nvPr/>
        </p:nvSpPr>
        <p:spPr>
          <a:xfrm>
            <a:off x="424995" y="241022"/>
            <a:ext cx="10477384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2200" b="1" spc="79">
                <a:solidFill>
                  <a:srgbClr val="5F8FB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Theory</a:t>
            </a:r>
          </a:p>
        </p:txBody>
      </p:sp>
      <p:sp>
        <p:nvSpPr>
          <p:cNvPr id="283" name="TextBox 15"/>
          <p:cNvSpPr txBox="1"/>
          <p:nvPr/>
        </p:nvSpPr>
        <p:spPr>
          <a:xfrm>
            <a:off x="420989" y="572673"/>
            <a:ext cx="13164625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50000"/>
              </a:lnSpc>
              <a:spcBef>
                <a:spcPts val="600"/>
              </a:spcBef>
              <a:defRPr sz="4000" b="1" spc="79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Long-Read vs Short-Read Sequencing</a:t>
            </a:r>
          </a:p>
        </p:txBody>
      </p:sp>
      <p:sp>
        <p:nvSpPr>
          <p:cNvPr id="284" name="TextBox 5"/>
          <p:cNvSpPr txBox="1"/>
          <p:nvPr/>
        </p:nvSpPr>
        <p:spPr>
          <a:xfrm>
            <a:off x="766919" y="5148865"/>
            <a:ext cx="5087424" cy="54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 b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  <a:r>
              <a:rPr b="0" i="1" dirty="0"/>
              <a:t>10.1038/s41598-022-07557-x</a:t>
            </a:r>
          </a:p>
          <a:p>
            <a:pPr algn="ctr">
              <a:defRPr sz="1600" i="1">
                <a:latin typeface="Arial"/>
                <a:ea typeface="Arial"/>
                <a:cs typeface="Arial"/>
                <a:sym typeface="Arial"/>
              </a:defRPr>
            </a:pPr>
            <a:r>
              <a:rPr dirty="0"/>
              <a:t> </a:t>
            </a:r>
          </a:p>
        </p:txBody>
      </p:sp>
      <p:sp>
        <p:nvSpPr>
          <p:cNvPr id="285" name="Picture 2"/>
          <p:cNvSpPr/>
          <p:nvPr/>
        </p:nvSpPr>
        <p:spPr>
          <a:xfrm>
            <a:off x="661223" y="1508554"/>
            <a:ext cx="6436325" cy="357938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graphicFrame>
        <p:nvGraphicFramePr>
          <p:cNvPr id="286" name="Table 7"/>
          <p:cNvGraphicFramePr/>
          <p:nvPr/>
        </p:nvGraphicFramePr>
        <p:xfrm>
          <a:off x="7200094" y="1522056"/>
          <a:ext cx="4521201" cy="3539826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507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7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0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Feature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>
                          <a:sym typeface="#9Slide02 Noi dung dai"/>
                        </a:rPr>
                        <a:t>Short-Read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>
                          <a:sym typeface="#9Slide02 Noi dung dai"/>
                        </a:rPr>
                        <a:t>Long-Read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Read length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100–300 bp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0000"/>
                          </a:solidFill>
                          <a:sym typeface="#9Slide02 Noi dung dai"/>
                        </a:rPr>
                        <a:t>5 kb → Mb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0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Raw accuracy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olidFill>
                            <a:srgbClr val="FF0000"/>
                          </a:solidFill>
                          <a:sym typeface="#9Slide02 Noi dung dai"/>
                        </a:rPr>
                        <a:t>~99.9%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~95–98%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0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Cost per Gb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low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low–medium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Throughput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very high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scalable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69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Flexibility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low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high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65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Real-time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no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#9Slide02 Noi dung dai"/>
                        </a:rPr>
                        <a:t>yes</a:t>
                      </a:r>
                    </a:p>
                  </a:txBody>
                  <a:tcPr marL="45720" marR="45720" anchor="ctr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7" name="Straight Arrow Connector 8"/>
          <p:cNvSpPr/>
          <p:nvPr/>
        </p:nvSpPr>
        <p:spPr>
          <a:xfrm flipH="1">
            <a:off x="9436231" y="5208825"/>
            <a:ext cx="9427" cy="541993"/>
          </a:xfrm>
          <a:prstGeom prst="line">
            <a:avLst/>
          </a:prstGeom>
          <a:ln w="38100">
            <a:solidFill>
              <a:srgbClr val="000000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8" name="Title 1"/>
          <p:cNvSpPr txBox="1"/>
          <p:nvPr/>
        </p:nvSpPr>
        <p:spPr>
          <a:xfrm>
            <a:off x="8114154" y="5360758"/>
            <a:ext cx="3310927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>
              <a:lnSpc>
                <a:spcPct val="90000"/>
              </a:lnSpc>
              <a:defRPr sz="2800">
                <a:latin typeface="#9Slide02 Tieu de dai"/>
                <a:ea typeface="#9Slide02 Tieu de dai"/>
                <a:cs typeface="#9Slide02 Tieu de dai"/>
                <a:sym typeface="#9Slide02 Tieu de dai"/>
              </a:defRPr>
            </a:lvl1pPr>
          </a:lstStyle>
          <a:p>
            <a:r>
              <a:t>Hybrid assembly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EDA399-34E2-BE37-C323-22D4A9237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97" y="1478008"/>
            <a:ext cx="6538872" cy="36364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291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22299" y="6540817"/>
            <a:ext cx="262419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292" name="TextBox 14"/>
          <p:cNvSpPr txBox="1"/>
          <p:nvPr/>
        </p:nvSpPr>
        <p:spPr>
          <a:xfrm>
            <a:off x="424995" y="241022"/>
            <a:ext cx="10477384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2200" b="1" spc="79">
                <a:solidFill>
                  <a:srgbClr val="5F8FB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Theory</a:t>
            </a:r>
          </a:p>
        </p:txBody>
      </p:sp>
      <p:sp>
        <p:nvSpPr>
          <p:cNvPr id="293" name="TextBox 15"/>
          <p:cNvSpPr txBox="1"/>
          <p:nvPr/>
        </p:nvSpPr>
        <p:spPr>
          <a:xfrm>
            <a:off x="420988" y="572673"/>
            <a:ext cx="9728945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50000"/>
              </a:lnSpc>
              <a:spcBef>
                <a:spcPts val="600"/>
              </a:spcBef>
              <a:defRPr sz="4000" b="1" spc="79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Wet and Dry lab workflows</a:t>
            </a:r>
          </a:p>
        </p:txBody>
      </p:sp>
      <p:sp>
        <p:nvSpPr>
          <p:cNvPr id="294" name="TextBox 5"/>
          <p:cNvSpPr txBox="1"/>
          <p:nvPr/>
        </p:nvSpPr>
        <p:spPr>
          <a:xfrm>
            <a:off x="3216373" y="5258568"/>
            <a:ext cx="5779425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600" b="1">
                <a:latin typeface="Arial"/>
                <a:ea typeface="Arial"/>
                <a:cs typeface="Arial"/>
                <a:sym typeface="Arial"/>
              </a:defRPr>
            </a:pPr>
            <a:r>
              <a:t> N50 value </a:t>
            </a:r>
            <a:r>
              <a:rPr b="0" i="1"/>
              <a:t>(10.1371/journal.pcbi.1010752)  </a:t>
            </a:r>
          </a:p>
        </p:txBody>
      </p:sp>
      <p:sp>
        <p:nvSpPr>
          <p:cNvPr id="295" name="Picture 2"/>
          <p:cNvSpPr/>
          <p:nvPr/>
        </p:nvSpPr>
        <p:spPr>
          <a:xfrm>
            <a:off x="3403363" y="1253183"/>
            <a:ext cx="6014379" cy="482919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296" name="TextBox 9"/>
          <p:cNvSpPr txBox="1"/>
          <p:nvPr/>
        </p:nvSpPr>
        <p:spPr>
          <a:xfrm>
            <a:off x="5127926" y="6082374"/>
            <a:ext cx="2565250" cy="313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i="1" u="sng">
                <a:solidFill>
                  <a:srgbClr val="5D9CEC"/>
                </a:solidFill>
                <a:uFill>
                  <a:solidFill>
                    <a:srgbClr val="5D9CEC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defRPr>
            </a:lvl1pPr>
          </a:lstStyle>
          <a:p>
            <a:pPr>
              <a:defRPr u="none">
                <a:solidFill>
                  <a:srgbClr val="000000"/>
                </a:solidFill>
                <a:uFillTx/>
              </a:defRPr>
            </a:pPr>
            <a:r>
              <a:rPr u="sng">
                <a:solidFill>
                  <a:srgbClr val="5D9CEC"/>
                </a:solidFill>
                <a:uFill>
                  <a:solidFill>
                    <a:srgbClr val="5D9CEC"/>
                  </a:solidFill>
                </a:uFill>
                <a:hlinkClick r:id="rId2"/>
              </a:rPr>
              <a:t>10.1515/ntrev-2022-0036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97FA4B0-5FC3-5F0C-5A03-3B38A59D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03"/>
          <a:stretch>
            <a:fillRect/>
          </a:stretch>
        </p:blipFill>
        <p:spPr>
          <a:xfrm>
            <a:off x="2774258" y="1253183"/>
            <a:ext cx="6681916" cy="4887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299" name="TextBox 22"/>
          <p:cNvSpPr txBox="1"/>
          <p:nvPr/>
        </p:nvSpPr>
        <p:spPr>
          <a:xfrm>
            <a:off x="2059352" y="3082929"/>
            <a:ext cx="8330833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 marL="857250" indent="-857250">
              <a:lnSpc>
                <a:spcPct val="105999"/>
              </a:lnSpc>
              <a:spcBef>
                <a:spcPts val="600"/>
              </a:spcBef>
              <a:buSzPct val="100000"/>
              <a:buAutoNum type="romanUcPeriod" startAt="2"/>
              <a:defRPr sz="4000" b="1" spc="79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Practical Command-line (CLI)</a:t>
            </a:r>
          </a:p>
        </p:txBody>
      </p:sp>
      <p:sp>
        <p:nvSpPr>
          <p:cNvPr id="300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11062" y="6540817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/>
            </a:lvl1pPr>
          </a:lstStyle>
          <a:p>
            <a:fld id="{86CB4B4D-7CA3-9044-876B-883B54F8677D}" type="slidenum">
              <a:rPr/>
              <a:t>12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303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11062" y="6540817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304" name="TextBox 14"/>
          <p:cNvSpPr txBox="1"/>
          <p:nvPr/>
        </p:nvSpPr>
        <p:spPr>
          <a:xfrm>
            <a:off x="424995" y="241022"/>
            <a:ext cx="10477384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105999"/>
              </a:lnSpc>
              <a:spcBef>
                <a:spcPts val="600"/>
              </a:spcBef>
              <a:defRPr sz="2200" b="1" spc="79">
                <a:solidFill>
                  <a:srgbClr val="5F8FB3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Practical Command-line (CLI)</a:t>
            </a:r>
          </a:p>
        </p:txBody>
      </p:sp>
      <p:sp>
        <p:nvSpPr>
          <p:cNvPr id="305" name="TextBox 15"/>
          <p:cNvSpPr txBox="1"/>
          <p:nvPr/>
        </p:nvSpPr>
        <p:spPr>
          <a:xfrm>
            <a:off x="420988" y="759674"/>
            <a:ext cx="12165560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defRPr sz="4000" b="1" spc="79">
                <a:latin typeface="Roboto"/>
                <a:ea typeface="Roboto"/>
                <a:cs typeface="Roboto"/>
                <a:sym typeface="Roboto"/>
              </a:defRPr>
            </a:pPr>
            <a:r>
              <a:t>Hybrid Assembly – </a:t>
            </a:r>
            <a:r>
              <a:rPr>
                <a:solidFill>
                  <a:srgbClr val="116B8B"/>
                </a:solidFill>
              </a:rPr>
              <a:t>unicycler</a:t>
            </a:r>
          </a:p>
        </p:txBody>
      </p:sp>
      <p:sp>
        <p:nvSpPr>
          <p:cNvPr id="306" name="TextBox 9"/>
          <p:cNvSpPr txBox="1"/>
          <p:nvPr/>
        </p:nvSpPr>
        <p:spPr>
          <a:xfrm>
            <a:off x="793469" y="3598131"/>
            <a:ext cx="8202329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u="sng"/>
            </a:pPr>
            <a:r>
              <a:t>https://</a:t>
            </a:r>
            <a:r>
              <a:rPr>
                <a:solidFill>
                  <a:srgbClr val="FF0000"/>
                </a:solidFill>
              </a:rPr>
              <a:t>github.com</a:t>
            </a:r>
            <a:r>
              <a:t>/rrwick/unicycler</a:t>
            </a:r>
          </a:p>
        </p:txBody>
      </p:sp>
      <p:sp>
        <p:nvSpPr>
          <p:cNvPr id="307" name="Picture 6"/>
          <p:cNvSpPr/>
          <p:nvPr/>
        </p:nvSpPr>
        <p:spPr>
          <a:xfrm>
            <a:off x="5663686" y="2772088"/>
            <a:ext cx="5507630" cy="202141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11710-C4C3-72A6-DD7D-2BFC3C903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4751" y="2772088"/>
            <a:ext cx="5507628" cy="20214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Footer Placeholder 65"/>
          <p:cNvSpPr txBox="1"/>
          <p:nvPr/>
        </p:nvSpPr>
        <p:spPr>
          <a:xfrm>
            <a:off x="379428" y="6515417"/>
            <a:ext cx="406148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/>
          <a:p>
            <a:pPr>
              <a:defRPr sz="12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Assembly</a:t>
            </a:r>
          </a:p>
        </p:txBody>
      </p:sp>
      <p:sp>
        <p:nvSpPr>
          <p:cNvPr id="310" name="TextBox 22"/>
          <p:cNvSpPr txBox="1"/>
          <p:nvPr/>
        </p:nvSpPr>
        <p:spPr>
          <a:xfrm>
            <a:off x="1307218" y="2580120"/>
            <a:ext cx="1083906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marL="571500" indent="-571500" algn="just">
              <a:lnSpc>
                <a:spcPct val="150000"/>
              </a:lnSpc>
              <a:spcBef>
                <a:spcPts val="600"/>
              </a:spcBef>
              <a:buSzPct val="100000"/>
              <a:buAutoNum type="romanUcPeriod" startAt="3"/>
              <a:defRPr sz="4000" b="1" spc="79"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   Data Visualization and Manipulation</a:t>
            </a:r>
          </a:p>
        </p:txBody>
      </p:sp>
      <p:sp>
        <p:nvSpPr>
          <p:cNvPr id="311" name="Slide Number Placeholder 1"/>
          <p:cNvSpPr txBox="1">
            <a:spLocks noGrp="1"/>
          </p:cNvSpPr>
          <p:nvPr>
            <p:ph type="sldNum" sz="quarter" idx="2"/>
          </p:nvPr>
        </p:nvSpPr>
        <p:spPr>
          <a:xfrm>
            <a:off x="11511062" y="6540817"/>
            <a:ext cx="273656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 b="1"/>
            </a:lvl1pPr>
          </a:lstStyle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312" name="TextBox 5"/>
          <p:cNvSpPr txBox="1"/>
          <p:nvPr/>
        </p:nvSpPr>
        <p:spPr>
          <a:xfrm>
            <a:off x="3454306" y="3641029"/>
            <a:ext cx="6095707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just">
              <a:lnSpc>
                <a:spcPct val="150000"/>
              </a:lnSpc>
              <a:spcBef>
                <a:spcPts val="600"/>
              </a:spcBef>
              <a:defRPr sz="4000" b="1">
                <a:solidFill>
                  <a:srgbClr val="A26900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Bandage / BandageNG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1E7">
            <a:alpha val="8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traight Connector 6"/>
          <p:cNvSpPr/>
          <p:nvPr/>
        </p:nvSpPr>
        <p:spPr>
          <a:xfrm>
            <a:off x="4170983" y="5786306"/>
            <a:ext cx="4043916" cy="1"/>
          </a:xfrm>
          <a:prstGeom prst="line">
            <a:avLst/>
          </a:prstGeom>
          <a:ln w="22225">
            <a:solidFill>
              <a:srgbClr val="081D3E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5" name="Rectangle 3"/>
          <p:cNvSpPr txBox="1"/>
          <p:nvPr/>
        </p:nvSpPr>
        <p:spPr>
          <a:xfrm>
            <a:off x="4905821" y="700263"/>
            <a:ext cx="2556253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4000" b="1" spc="79">
                <a:solidFill>
                  <a:srgbClr val="081D3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THE END.</a:t>
            </a:r>
          </a:p>
        </p:txBody>
      </p:sp>
      <p:sp>
        <p:nvSpPr>
          <p:cNvPr id="316" name="Rectangle 3"/>
          <p:cNvSpPr txBox="1"/>
          <p:nvPr/>
        </p:nvSpPr>
        <p:spPr>
          <a:xfrm>
            <a:off x="2271909" y="5874119"/>
            <a:ext cx="8018821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 anchor="b">
            <a:spAutoFit/>
          </a:bodyPr>
          <a:lstStyle/>
          <a:p>
            <a:pPr>
              <a:defRPr sz="2400" b="1">
                <a:solidFill>
                  <a:srgbClr val="06193E"/>
                </a:solidFill>
                <a:latin typeface="Roboto"/>
                <a:ea typeface="Roboto"/>
                <a:cs typeface="Roboto"/>
                <a:sym typeface="Roboto"/>
              </a:defRPr>
            </a:pPr>
            <a:r>
              <a:t>Module 2.2: </a:t>
            </a:r>
            <a:r>
              <a:rPr>
                <a:solidFill>
                  <a:srgbClr val="000000"/>
                </a:solidFill>
              </a:rPr>
              <a:t>Long-Read Sequencing - Hybrid </a:t>
            </a:r>
            <a:r>
              <a:rPr>
                <a:solidFill>
                  <a:srgbClr val="000000"/>
                </a:solidFill>
                <a:latin typeface="#9Slide02 Noi dung dai"/>
                <a:ea typeface="#9Slide02 Noi dung dai"/>
                <a:cs typeface="#9Slide02 Noi dung dai"/>
                <a:sym typeface="#9Slide02 Noi dung dai"/>
              </a:rPr>
              <a:t>Assembly</a:t>
            </a:r>
          </a:p>
        </p:txBody>
      </p:sp>
      <p:sp>
        <p:nvSpPr>
          <p:cNvPr id="317" name="TextBox 38"/>
          <p:cNvSpPr txBox="1"/>
          <p:nvPr/>
        </p:nvSpPr>
        <p:spPr>
          <a:xfrm>
            <a:off x="3710409" y="1397053"/>
            <a:ext cx="488755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800" i="1" spc="100">
                <a:solidFill>
                  <a:srgbClr val="081D3E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Thank you for your attention</a:t>
            </a:r>
          </a:p>
        </p:txBody>
      </p:sp>
      <p:sp>
        <p:nvSpPr>
          <p:cNvPr id="318" name="Picture 6"/>
          <p:cNvSpPr/>
          <p:nvPr/>
        </p:nvSpPr>
        <p:spPr>
          <a:xfrm>
            <a:off x="4744215" y="2028267"/>
            <a:ext cx="4435312" cy="249486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19" name="Google Shape;337;g252bd68d1d4_1_421"/>
          <p:cNvSpPr/>
          <p:nvPr/>
        </p:nvSpPr>
        <p:spPr>
          <a:xfrm flipH="1">
            <a:off x="3388326" y="4037698"/>
            <a:ext cx="5028699" cy="1300767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20" name="Picture 2"/>
          <p:cNvSpPr/>
          <p:nvPr/>
        </p:nvSpPr>
        <p:spPr>
          <a:xfrm>
            <a:off x="823400" y="480962"/>
            <a:ext cx="1711255" cy="91609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21" name="Picture 3"/>
          <p:cNvSpPr/>
          <p:nvPr/>
        </p:nvSpPr>
        <p:spPr>
          <a:xfrm>
            <a:off x="10383421" y="286281"/>
            <a:ext cx="1305450" cy="130545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02C205CD-5686-59CD-2021-EC9B9C7C5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615" y="2180667"/>
            <a:ext cx="4435312" cy="2494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Google Shape;337;g252bd68d1d4_1_421" descr="Google Shape;337;g252bd68d1d4_1_421">
            <a:extLst>
              <a:ext uri="{FF2B5EF4-FFF2-40B4-BE49-F238E27FC236}">
                <a16:creationId xmlns:a16="http://schemas.microsoft.com/office/drawing/2014/main" id="{24809770-E2D5-BB9B-7C83-B40A520779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133"/>
          <a:stretch>
            <a:fillRect/>
          </a:stretch>
        </p:blipFill>
        <p:spPr>
          <a:xfrm flipH="1">
            <a:off x="3540726" y="4190099"/>
            <a:ext cx="5028699" cy="1300766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Picture 2" descr="Picture 2">
            <a:extLst>
              <a:ext uri="{FF2B5EF4-FFF2-40B4-BE49-F238E27FC236}">
                <a16:creationId xmlns:a16="http://schemas.microsoft.com/office/drawing/2014/main" id="{241A4266-ED88-0672-7E9B-938C79A616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800" y="633362"/>
            <a:ext cx="1711255" cy="916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3" descr="Picture 3">
            <a:extLst>
              <a:ext uri="{FF2B5EF4-FFF2-40B4-BE49-F238E27FC236}">
                <a16:creationId xmlns:a16="http://schemas.microsoft.com/office/drawing/2014/main" id="{8DF547F3-A89E-6B94-2967-95A82F78F6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5821" y="438681"/>
            <a:ext cx="1305450" cy="130545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 xmlns:m="http://schemas.openxmlformats.org/officeDocument/2006/math" xmlns:a14="http://schemas.microsoft.com/office/drawing/2010/main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icture 5"/>
          <p:cNvSpPr/>
          <p:nvPr/>
        </p:nvSpPr>
        <p:spPr>
          <a:xfrm>
            <a:off x="495992" y="582882"/>
            <a:ext cx="10886543" cy="583454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23484-7BD6-ABB6-B66D-6607FD6D9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89" y="440575"/>
            <a:ext cx="11337221" cy="604651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icture 2"/>
          <p:cNvSpPr/>
          <p:nvPr/>
        </p:nvSpPr>
        <p:spPr>
          <a:xfrm>
            <a:off x="616525" y="651133"/>
            <a:ext cx="11294976" cy="6023988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20EB9C-A095-7DBA-A83C-F5AF88567A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98" y="350938"/>
            <a:ext cx="11486575" cy="615612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4_Office Theme">
  <a:themeElements>
    <a:clrScheme name="4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0000FF"/>
      </a:hlink>
      <a:folHlink>
        <a:srgbClr val="FF00FF"/>
      </a:folHlink>
    </a:clrScheme>
    <a:fontScheme name="4_Office Theme">
      <a:majorFont>
        <a:latin typeface="Helvetica"/>
        <a:ea typeface="Helvetica"/>
        <a:cs typeface="Helvetica"/>
      </a:majorFont>
      <a:minorFont>
        <a:latin typeface="Aptos Display"/>
        <a:ea typeface="Aptos Display"/>
        <a:cs typeface="Aptos Display"/>
      </a:minorFont>
    </a:fontScheme>
    <a:fmtScheme name="4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#9Slide02 Noi dung dai"/>
            <a:ea typeface="#9Slide02 Noi dung dai"/>
            <a:cs typeface="#9Slide02 Noi dung dai"/>
            <a:sym typeface="#9Slide02 Noi dung da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#9Slide02 Noi dung dai"/>
            <a:ea typeface="#9Slide02 Noi dung dai"/>
            <a:cs typeface="#9Slide02 Noi dung dai"/>
            <a:sym typeface="#9Slide02 Noi dung da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4_Office Theme">
  <a:themeElements>
    <a:clrScheme name="4_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0000FF"/>
      </a:hlink>
      <a:folHlink>
        <a:srgbClr val="FF00FF"/>
      </a:folHlink>
    </a:clrScheme>
    <a:fontScheme name="4_Office Theme">
      <a:majorFont>
        <a:latin typeface="Helvetica"/>
        <a:ea typeface="Helvetica"/>
        <a:cs typeface="Helvetica"/>
      </a:majorFont>
      <a:minorFont>
        <a:latin typeface="Aptos Display"/>
        <a:ea typeface="Aptos Display"/>
        <a:cs typeface="Aptos Display"/>
      </a:minorFont>
    </a:fontScheme>
    <a:fmtScheme name="4_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#9Slide02 Noi dung dai"/>
            <a:ea typeface="#9Slide02 Noi dung dai"/>
            <a:cs typeface="#9Slide02 Noi dung dai"/>
            <a:sym typeface="#9Slide02 Noi dung da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#9Slide02 Noi dung dai"/>
            <a:ea typeface="#9Slide02 Noi dung dai"/>
            <a:cs typeface="#9Slide02 Noi dung dai"/>
            <a:sym typeface="#9Slide02 Noi dung da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Macintosh PowerPoint</Application>
  <PresentationFormat>Widescreen</PresentationFormat>
  <Paragraphs>121</Paragraphs>
  <Slides>17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#9Slide02 Noi dung dai</vt:lpstr>
      <vt:lpstr>Aptos Display</vt:lpstr>
      <vt:lpstr>Arial</vt:lpstr>
      <vt:lpstr>Roboto</vt:lpstr>
      <vt:lpstr>4_Office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Quynh Nguyen</cp:lastModifiedBy>
  <cp:revision>2</cp:revision>
  <dcterms:modified xsi:type="dcterms:W3CDTF">2026-05-18T09:27:53Z</dcterms:modified>
</cp:coreProperties>
</file>